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36"/>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12192000" cy="6858000"/>
  <p:notesSz cx="6858000" cy="9144000"/>
  <p:embeddedFontLst>
    <p:embeddedFont>
      <p:font typeface="Lato" panose="020B0604020202020204" charset="0"/>
      <p:regular r:id="rId37"/>
      <p:bold r:id="rId38"/>
      <p:italic r:id="rId39"/>
      <p:boldItalic r:id="rId40"/>
    </p:embeddedFont>
    <p:embeddedFont>
      <p:font typeface="Urbanist" panose="020B0604020202020204" charset="0"/>
      <p:regular r:id="rId41"/>
      <p:bold r:id="rId42"/>
      <p:italic r:id="rId43"/>
      <p:boldItalic r:id="rId44"/>
    </p:embeddedFont>
    <p:embeddedFont>
      <p:font typeface="Urbanist SemiBold" panose="020B060402020202020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F4D5070-D421-4122-9760-A1DB0ECE04A5}">
  <a:tblStyle styleId="{EF4D5070-D421-4122-9760-A1DB0ECE04A5}"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3" d="100"/>
          <a:sy n="93" d="100"/>
        </p:scale>
        <p:origin x="274" y="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3.fntdata"/><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8.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a:t>Good morning everyone, and thank you all for being here today.</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en-US"/>
              <a:t>We are excited to present our cybersecurity capstone project titled “Behavior-Based Telemetry Analytics: Heatmap-Driven Detection in ICS Environment.”</a:t>
            </a:r>
            <a:endParaRPr/>
          </a:p>
          <a:p>
            <a:pPr marL="0" lvl="0" indent="0" algn="l" rtl="0">
              <a:lnSpc>
                <a:spcPct val="115000"/>
              </a:lnSpc>
              <a:spcBef>
                <a:spcPts val="0"/>
              </a:spcBef>
              <a:spcAft>
                <a:spcPts val="0"/>
              </a:spcAft>
              <a:buNone/>
            </a:pPr>
            <a:r>
              <a:rPr lang="en-US"/>
              <a:t>My name is Joe/Jyothi, and alongside my teammates — Jeytha Sahana Venkatesh Babu and Akash Pabshetwar — we developed this project as part of the Cybersecurity Capstone Project for CYB-691 at Pace University under the guidance of Professor Joe Acampora.</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None/>
            </a:pPr>
            <a:r>
              <a:rPr lang="en-US"/>
              <a:t>Today, I’ll walk you through how we designed a behavior-based monitoring and analytics framework specifically for Industrial Control System environments, also known as ICS environments.</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None/>
            </a:pPr>
            <a:r>
              <a:rPr lang="en-US"/>
              <a:t>Industrial Control Systems are the backbone of critical infrastructure. They are used in sectors such as power grids, manufacturing plants, water treatment facilities, oil and gas pipelines, transportation systems, and smart industrial environments. These systems rely on devices such as PLCs, RTUs, sensors, actuators, and industrial protocols like Modbus TCP to maintain continuous operations.</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None/>
            </a:pPr>
            <a:r>
              <a:rPr lang="en-US"/>
              <a:t>Traditionally, ICS networks were isolated from the internet. However, modern industrial environments are becoming increasingly connected due to cloud integration, remote access, IoT adoption, and centralized monitoring. While this connectivity improves operational efficiency, it also introduces major cybersecurity risks.</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None/>
            </a:pPr>
            <a:r>
              <a:rPr lang="en-US"/>
              <a:t>One of the biggest challenges in ICS security is that many attacks are stealthy and slow-moving. Traditional security tools like signature-based IDS systems often detect only known attack patterns. But advanced threats — especially nation-state attacks or insider threats — may behave gradually and blend into normal traffic patterns, making them difficult to identify.</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en-US"/>
              <a:t>The core idea is simple:</a:t>
            </a:r>
            <a:endParaRPr/>
          </a:p>
          <a:p>
            <a:pPr marL="0" lvl="0" indent="0" algn="l" rtl="0">
              <a:lnSpc>
                <a:spcPct val="115000"/>
              </a:lnSpc>
              <a:spcBef>
                <a:spcPts val="0"/>
              </a:spcBef>
              <a:spcAft>
                <a:spcPts val="0"/>
              </a:spcAft>
              <a:buNone/>
            </a:pPr>
            <a:r>
              <a:rPr lang="en-US"/>
              <a:t>If device communication patterns suddenly change, spike unexpectedly, or behave abnormally over time, those deviations may indicate malicious activity, unauthorized writes, reconnaissance, or operational issues.</a:t>
            </a:r>
            <a:endParaRPr/>
          </a:p>
          <a:p>
            <a:pPr marL="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en-US"/>
              <a:t>now let’s move into the project abstract and scope.</a:t>
            </a:r>
            <a:endParaRPr/>
          </a:p>
          <a:p>
            <a:pPr marL="0" lvl="0" indent="0" algn="l" rtl="0">
              <a:spcBef>
                <a:spcPts val="0"/>
              </a:spcBef>
              <a:spcAft>
                <a:spcPts val="0"/>
              </a:spcAft>
              <a:buNone/>
            </a:pPr>
            <a:endParaRPr/>
          </a:p>
        </p:txBody>
      </p:sp>
      <p:sp>
        <p:nvSpPr>
          <p:cNvPr id="157" name="Google Shape;1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700" lvl="0" indent="0" algn="l" rtl="0">
              <a:lnSpc>
                <a:spcPct val="115000"/>
              </a:lnSpc>
              <a:spcBef>
                <a:spcPts val="0"/>
              </a:spcBef>
              <a:spcAft>
                <a:spcPts val="0"/>
              </a:spcAft>
              <a:buClr>
                <a:schemeClr val="dk1"/>
              </a:buClr>
              <a:buSzPts val="1100"/>
              <a:buFont typeface="Arial"/>
              <a:buNone/>
            </a:pPr>
            <a:r>
              <a:rPr lang="en-US"/>
              <a:t>●In this slide, I will explain the project scope and objectives.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●The main goal of our project is to improve cybersecurity visibility in ICS environments.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●Industrial systems are very sensitive.</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●Even a small communication problem can affect operations and safety.</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●Many industrial protocols like Modbus TCP were designed for functionality, not security.</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●They do not have encryption or authentication.</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●Because of this, attackers may misuse these protocols.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●Our project solves this problem using telemetry analytics and behavioral monitoring.</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●Instead of checking single packets, we study communication behavior over time.</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●For example:</a:t>
            </a:r>
            <a:endParaRPr/>
          </a:p>
          <a:p>
            <a:pPr marL="12700" lvl="0" indent="0" algn="l" rtl="0">
              <a:lnSpc>
                <a:spcPct val="115000"/>
              </a:lnSpc>
              <a:spcBef>
                <a:spcPts val="0"/>
              </a:spcBef>
              <a:spcAft>
                <a:spcPts val="0"/>
              </a:spcAft>
              <a:buClr>
                <a:schemeClr val="dk1"/>
              </a:buClr>
              <a:buSzPts val="1100"/>
              <a:buFont typeface="Arial"/>
              <a:buNone/>
            </a:pPr>
            <a:r>
              <a:rPr lang="en-US"/>
              <a:t>●Which PLC communicates the most</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●Sudden device activity</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●Unusual write requests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●Communication outside normal hours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●We continuously collect telemetry data and analyze it using dashboards and heatmaps.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●The main focus areas of our project are:</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●First, Modbus TCP security.</a:t>
            </a:r>
            <a:endParaRPr/>
          </a:p>
          <a:p>
            <a:pPr marL="12700" lvl="0" indent="0" algn="l" rtl="0">
              <a:lnSpc>
                <a:spcPct val="115000"/>
              </a:lnSpc>
              <a:spcBef>
                <a:spcPts val="0"/>
              </a:spcBef>
              <a:spcAft>
                <a:spcPts val="0"/>
              </a:spcAft>
              <a:buClr>
                <a:schemeClr val="dk1"/>
              </a:buClr>
              <a:buSzPts val="1100"/>
              <a:buFont typeface="Arial"/>
              <a:buNone/>
            </a:pPr>
            <a:r>
              <a:rPr lang="en-US"/>
              <a:t>●We monitor Modbus communication and detect suspicious behavior.</a:t>
            </a:r>
            <a:endParaRPr/>
          </a:p>
          <a:p>
            <a:pPr marL="12700" lvl="0" indent="0" algn="l" rtl="0">
              <a:lnSpc>
                <a:spcPct val="115000"/>
              </a:lnSpc>
              <a:spcBef>
                <a:spcPts val="0"/>
              </a:spcBef>
              <a:spcAft>
                <a:spcPts val="0"/>
              </a:spcAft>
              <a:buClr>
                <a:schemeClr val="dk1"/>
              </a:buClr>
              <a:buSzPts val="1100"/>
              <a:buFont typeface="Arial"/>
              <a:buNone/>
            </a:pPr>
            <a:endParaRPr/>
          </a:p>
          <a:p>
            <a:pPr marL="0" lvl="0" indent="0" algn="l" rtl="0">
              <a:lnSpc>
                <a:spcPct val="115000"/>
              </a:lnSpc>
              <a:spcBef>
                <a:spcPts val="0"/>
              </a:spcBef>
              <a:spcAft>
                <a:spcPts val="0"/>
              </a:spcAft>
              <a:buClr>
                <a:schemeClr val="dk1"/>
              </a:buClr>
              <a:buSzPts val="1100"/>
              <a:buFont typeface="Arial"/>
              <a:buNone/>
            </a:pPr>
            <a:r>
              <a:rPr lang="en-US"/>
              <a:t>●Second, behavioral baselining.</a:t>
            </a:r>
            <a:endParaRPr/>
          </a:p>
          <a:p>
            <a:pPr marL="12700" lvl="0" indent="0" algn="l" rtl="0">
              <a:lnSpc>
                <a:spcPct val="115000"/>
              </a:lnSpc>
              <a:spcBef>
                <a:spcPts val="0"/>
              </a:spcBef>
              <a:spcAft>
                <a:spcPts val="0"/>
              </a:spcAft>
              <a:buClr>
                <a:schemeClr val="dk1"/>
              </a:buClr>
              <a:buSzPts val="1100"/>
              <a:buFont typeface="Arial"/>
              <a:buNone/>
            </a:pPr>
            <a:r>
              <a:rPr lang="en-US"/>
              <a:t>●We study normal communication patterns and detect deviations.</a:t>
            </a:r>
            <a:endParaRPr/>
          </a:p>
          <a:p>
            <a:pPr marL="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●Third, heatmap analytics.</a:t>
            </a:r>
            <a:endParaRPr/>
          </a:p>
          <a:p>
            <a:pPr marL="12700" lvl="0" indent="0" algn="l" rtl="0">
              <a:lnSpc>
                <a:spcPct val="115000"/>
              </a:lnSpc>
              <a:spcBef>
                <a:spcPts val="0"/>
              </a:spcBef>
              <a:spcAft>
                <a:spcPts val="0"/>
              </a:spcAft>
              <a:buClr>
                <a:schemeClr val="dk1"/>
              </a:buClr>
              <a:buSzPts val="1100"/>
              <a:buFont typeface="Arial"/>
              <a:buNone/>
            </a:pPr>
            <a:r>
              <a:rPr lang="en-US"/>
              <a:t>●Heatmaps help visualize traffic intensity and suspicious activity.</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●Fourth, Wazuh and Snort integration.</a:t>
            </a:r>
            <a:endParaRPr/>
          </a:p>
          <a:p>
            <a:pPr marL="12700" lvl="0" indent="0" algn="l" rtl="0">
              <a:lnSpc>
                <a:spcPct val="115000"/>
              </a:lnSpc>
              <a:spcBef>
                <a:spcPts val="0"/>
              </a:spcBef>
              <a:spcAft>
                <a:spcPts val="0"/>
              </a:spcAft>
              <a:buClr>
                <a:schemeClr val="dk1"/>
              </a:buClr>
              <a:buSzPts val="1100"/>
              <a:buFont typeface="Arial"/>
              <a:buNone/>
            </a:pPr>
            <a:r>
              <a:rPr lang="en-US"/>
              <a:t>●Wazuh helps with log monitoring and SIEM analysis.</a:t>
            </a:r>
            <a:endParaRPr/>
          </a:p>
          <a:p>
            <a:pPr marL="12700" lvl="0" indent="0" algn="l" rtl="0">
              <a:lnSpc>
                <a:spcPct val="115000"/>
              </a:lnSpc>
              <a:spcBef>
                <a:spcPts val="0"/>
              </a:spcBef>
              <a:spcAft>
                <a:spcPts val="0"/>
              </a:spcAft>
              <a:buClr>
                <a:schemeClr val="dk1"/>
              </a:buClr>
              <a:buSzPts val="1100"/>
              <a:buFont typeface="Arial"/>
              <a:buNone/>
            </a:pPr>
            <a:r>
              <a:rPr lang="en-US"/>
              <a:t>●Snort helps detect suspicious packets and network attacks.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●By combining all these technologies, we improve threat detection in industrial environments.</a:t>
            </a:r>
            <a:endParaRPr/>
          </a:p>
          <a:p>
            <a:pPr marL="0" lvl="0" indent="0" algn="l" rtl="0">
              <a:spcBef>
                <a:spcPts val="0"/>
              </a:spcBef>
              <a:spcAft>
                <a:spcPts val="0"/>
              </a:spcAft>
              <a:buNone/>
            </a:pPr>
            <a:endParaRPr/>
          </a:p>
        </p:txBody>
      </p:sp>
      <p:sp>
        <p:nvSpPr>
          <p:cNvPr id="168" name="Google Shape;168;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700" lvl="0" indent="0" algn="l" rtl="0">
              <a:lnSpc>
                <a:spcPct val="115000"/>
              </a:lnSpc>
              <a:spcBef>
                <a:spcPts val="0"/>
              </a:spcBef>
              <a:spcAft>
                <a:spcPts val="0"/>
              </a:spcAft>
              <a:buClr>
                <a:schemeClr val="dk1"/>
              </a:buClr>
              <a:buSzPts val="1100"/>
              <a:buFont typeface="Arial"/>
              <a:buNone/>
            </a:pPr>
            <a:r>
              <a:rPr lang="en-US"/>
              <a:t>●Now let’s discuss the main challenges in ICS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●ICS environments are very different from normal IT environments.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●Industrial systems focus mainly on operational continuity and availability.</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●Because of this, many devices still use old protocols and legacy systems.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●This creates security risks.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●The first challenge is protocol insecurity.</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●Protocols like Modbus TCP do not have built-in security features.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●They usually lack:</a:t>
            </a:r>
            <a:endParaRPr/>
          </a:p>
          <a:p>
            <a:pPr marL="12700" lvl="0" indent="0" algn="l" rtl="0">
              <a:lnSpc>
                <a:spcPct val="115000"/>
              </a:lnSpc>
              <a:spcBef>
                <a:spcPts val="0"/>
              </a:spcBef>
              <a:spcAft>
                <a:spcPts val="0"/>
              </a:spcAft>
              <a:buClr>
                <a:schemeClr val="dk1"/>
              </a:buClr>
              <a:buSzPts val="1100"/>
              <a:buFont typeface="Arial"/>
              <a:buNone/>
            </a:pPr>
            <a:r>
              <a:rPr lang="en-US"/>
              <a:t>●Encryption</a:t>
            </a:r>
            <a:endParaRPr/>
          </a:p>
          <a:p>
            <a:pPr marL="12700" lvl="0" indent="0" algn="l" rtl="0">
              <a:lnSpc>
                <a:spcPct val="115000"/>
              </a:lnSpc>
              <a:spcBef>
                <a:spcPts val="0"/>
              </a:spcBef>
              <a:spcAft>
                <a:spcPts val="0"/>
              </a:spcAft>
              <a:buClr>
                <a:schemeClr val="dk1"/>
              </a:buClr>
              <a:buSzPts val="1100"/>
              <a:buFont typeface="Arial"/>
              <a:buNone/>
            </a:pPr>
            <a:r>
              <a:rPr lang="en-US"/>
              <a:t>●Authentication</a:t>
            </a:r>
            <a:endParaRPr/>
          </a:p>
          <a:p>
            <a:pPr marL="12700" lvl="0" indent="0" algn="l" rtl="0">
              <a:lnSpc>
                <a:spcPct val="115000"/>
              </a:lnSpc>
              <a:spcBef>
                <a:spcPts val="0"/>
              </a:spcBef>
              <a:spcAft>
                <a:spcPts val="0"/>
              </a:spcAft>
              <a:buClr>
                <a:schemeClr val="dk1"/>
              </a:buClr>
              <a:buSzPts val="1100"/>
              <a:buFont typeface="Arial"/>
              <a:buNone/>
            </a:pPr>
            <a:r>
              <a:rPr lang="en-US"/>
              <a:t>●Integrity checking</a:t>
            </a:r>
            <a:endParaRPr/>
          </a:p>
          <a:p>
            <a:pPr marL="12700" lvl="0" indent="0" algn="l" rtl="0">
              <a:lnSpc>
                <a:spcPct val="115000"/>
              </a:lnSpc>
              <a:spcBef>
                <a:spcPts val="0"/>
              </a:spcBef>
              <a:spcAft>
                <a:spcPts val="0"/>
              </a:spcAft>
              <a:buClr>
                <a:schemeClr val="dk1"/>
              </a:buClr>
              <a:buSzPts val="1100"/>
              <a:buFont typeface="Arial"/>
              <a:buNone/>
            </a:pPr>
            <a:r>
              <a:rPr lang="en-US"/>
              <a:t>●This means attackers may send unauthorized commands if they gain network access.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●The second challenge is low-and-slow attacks.</a:t>
            </a:r>
            <a:endParaRPr/>
          </a:p>
          <a:p>
            <a:pPr marL="12700" lvl="0" indent="0" algn="l" rtl="0">
              <a:lnSpc>
                <a:spcPct val="115000"/>
              </a:lnSpc>
              <a:spcBef>
                <a:spcPts val="0"/>
              </a:spcBef>
              <a:spcAft>
                <a:spcPts val="0"/>
              </a:spcAft>
              <a:buClr>
                <a:schemeClr val="dk1"/>
              </a:buClr>
              <a:buSzPts val="1100"/>
              <a:buFont typeface="Arial"/>
              <a:buNone/>
            </a:pPr>
            <a:r>
              <a:rPr lang="en-US"/>
              <a:t>●Advanced attackers work slowly and carefully.</a:t>
            </a:r>
            <a:endParaRPr/>
          </a:p>
          <a:p>
            <a:pPr marL="12700" lvl="0" indent="0" algn="l" rtl="0">
              <a:lnSpc>
                <a:spcPct val="115000"/>
              </a:lnSpc>
              <a:spcBef>
                <a:spcPts val="0"/>
              </a:spcBef>
              <a:spcAft>
                <a:spcPts val="0"/>
              </a:spcAft>
              <a:buClr>
                <a:schemeClr val="dk1"/>
              </a:buClr>
              <a:buSzPts val="1100"/>
              <a:buFont typeface="Arial"/>
              <a:buNone/>
            </a:pPr>
            <a:r>
              <a:rPr lang="en-US"/>
              <a:t>●For example:</a:t>
            </a:r>
            <a:endParaRPr/>
          </a:p>
          <a:p>
            <a:pPr marL="12700" lvl="0" indent="0" algn="l" rtl="0">
              <a:lnSpc>
                <a:spcPct val="115000"/>
              </a:lnSpc>
              <a:spcBef>
                <a:spcPts val="0"/>
              </a:spcBef>
              <a:spcAft>
                <a:spcPts val="0"/>
              </a:spcAft>
              <a:buClr>
                <a:schemeClr val="dk1"/>
              </a:buClr>
              <a:buSzPts val="1100"/>
              <a:buFont typeface="Arial"/>
              <a:buNone/>
            </a:pPr>
            <a:r>
              <a:rPr lang="en-US"/>
              <a:t>●Slow reconnaissance</a:t>
            </a:r>
            <a:endParaRPr/>
          </a:p>
          <a:p>
            <a:pPr marL="12700" lvl="0" indent="0" algn="l" rtl="0">
              <a:lnSpc>
                <a:spcPct val="115000"/>
              </a:lnSpc>
              <a:spcBef>
                <a:spcPts val="0"/>
              </a:spcBef>
              <a:spcAft>
                <a:spcPts val="0"/>
              </a:spcAft>
              <a:buClr>
                <a:schemeClr val="dk1"/>
              </a:buClr>
              <a:buSzPts val="1100"/>
              <a:buFont typeface="Arial"/>
              <a:buNone/>
            </a:pPr>
            <a:r>
              <a:rPr lang="en-US"/>
              <a:t>●Gradual PLC changes</a:t>
            </a:r>
            <a:endParaRPr/>
          </a:p>
          <a:p>
            <a:pPr marL="12700" lvl="0" indent="0" algn="l" rtl="0">
              <a:lnSpc>
                <a:spcPct val="115000"/>
              </a:lnSpc>
              <a:spcBef>
                <a:spcPts val="0"/>
              </a:spcBef>
              <a:spcAft>
                <a:spcPts val="0"/>
              </a:spcAft>
              <a:buClr>
                <a:schemeClr val="dk1"/>
              </a:buClr>
              <a:buSzPts val="1100"/>
              <a:buFont typeface="Arial"/>
              <a:buNone/>
            </a:pPr>
            <a:r>
              <a:rPr lang="en-US"/>
              <a:t>●Low-frequency commands</a:t>
            </a:r>
            <a:endParaRPr/>
          </a:p>
          <a:p>
            <a:pPr marL="12700" lvl="0" indent="0" algn="l" rtl="0">
              <a:lnSpc>
                <a:spcPct val="115000"/>
              </a:lnSpc>
              <a:spcBef>
                <a:spcPts val="0"/>
              </a:spcBef>
              <a:spcAft>
                <a:spcPts val="0"/>
              </a:spcAft>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●The third challenge is the visibility gap.</a:t>
            </a:r>
            <a:endParaRPr/>
          </a:p>
          <a:p>
            <a:pPr marL="12700" lvl="0" indent="0" algn="l" rtl="0">
              <a:lnSpc>
                <a:spcPct val="115000"/>
              </a:lnSpc>
              <a:spcBef>
                <a:spcPts val="0"/>
              </a:spcBef>
              <a:spcAft>
                <a:spcPts val="0"/>
              </a:spcAft>
              <a:buClr>
                <a:schemeClr val="dk1"/>
              </a:buClr>
              <a:buSzPts val="1100"/>
              <a:buFont typeface="Arial"/>
              <a:buNone/>
            </a:pPr>
            <a:r>
              <a:rPr lang="en-US"/>
              <a:t>●many industrial attacks happen slowly over days or weeks.</a:t>
            </a:r>
            <a:endParaRPr/>
          </a:p>
          <a:p>
            <a:pPr marL="12700" lvl="0" indent="0" algn="l" rtl="0">
              <a:lnSpc>
                <a:spcPct val="115000"/>
              </a:lnSpc>
              <a:spcBef>
                <a:spcPts val="0"/>
              </a:spcBef>
              <a:spcAft>
                <a:spcPts val="0"/>
              </a:spcAft>
              <a:buClr>
                <a:schemeClr val="dk1"/>
              </a:buClr>
              <a:buSzPts val="1100"/>
              <a:buFont typeface="Arial"/>
              <a:buNone/>
            </a:pPr>
            <a:r>
              <a:rPr lang="en-US"/>
              <a:t>●Without long-term telemetry analysis, these threats may remain hidden.</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●Our project solves this by collecting continuous telemetry data and analyzing behavioral changes over time.</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●We use heatmaps and dashboards to improve visibility and detect anomalies.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●Overall, our project helps identify stealthy attacks that traditional tools may miss.</a:t>
            </a:r>
            <a:endParaRPr/>
          </a:p>
          <a:p>
            <a:pPr marL="0" lvl="0" indent="0" algn="l" rtl="0">
              <a:spcBef>
                <a:spcPts val="0"/>
              </a:spcBef>
              <a:spcAft>
                <a:spcPts val="0"/>
              </a:spcAft>
              <a:buNone/>
            </a:pPr>
            <a:endParaRPr/>
          </a:p>
        </p:txBody>
      </p:sp>
      <p:sp>
        <p:nvSpPr>
          <p:cNvPr id="187" name="Google Shape;18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3ddd1f35e3c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8" name="Google Shape;218;g3ddd1f35e3c_0_18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ddd1f35e3c_0_3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7" name="Google Shape;237;g3ddd1f35e3c_0_37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Google Shape;270;g3ddd1f35e3c_0_6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700" lvl="0" indent="0" algn="l" rtl="0">
              <a:lnSpc>
                <a:spcPct val="115000"/>
              </a:lnSpc>
              <a:spcBef>
                <a:spcPts val="0"/>
              </a:spcBef>
              <a:spcAft>
                <a:spcPts val="0"/>
              </a:spcAft>
              <a:buClr>
                <a:schemeClr val="dk1"/>
              </a:buClr>
              <a:buSzPts val="1100"/>
              <a:buFont typeface="Arial"/>
              <a:buNone/>
            </a:pPr>
            <a:r>
              <a:rPr lang="en-US"/>
              <a:t>●In this slide, I will explain how our historian system works.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●Our historian system has four stages:</a:t>
            </a:r>
            <a:endParaRPr/>
          </a:p>
          <a:p>
            <a:pPr marL="12700" lvl="0" indent="0" algn="l" rtl="0">
              <a:lnSpc>
                <a:spcPct val="115000"/>
              </a:lnSpc>
              <a:spcBef>
                <a:spcPts val="0"/>
              </a:spcBef>
              <a:spcAft>
                <a:spcPts val="0"/>
              </a:spcAft>
              <a:buClr>
                <a:schemeClr val="dk1"/>
              </a:buClr>
              <a:buSzPts val="1100"/>
              <a:buFont typeface="Arial"/>
              <a:buNone/>
            </a:pPr>
            <a:r>
              <a:rPr lang="en-US"/>
              <a:t>●Generation</a:t>
            </a:r>
            <a:endParaRPr/>
          </a:p>
          <a:p>
            <a:pPr marL="12700" lvl="0" indent="0" algn="l" rtl="0">
              <a:lnSpc>
                <a:spcPct val="115000"/>
              </a:lnSpc>
              <a:spcBef>
                <a:spcPts val="0"/>
              </a:spcBef>
              <a:spcAft>
                <a:spcPts val="0"/>
              </a:spcAft>
              <a:buClr>
                <a:schemeClr val="dk1"/>
              </a:buClr>
              <a:buSzPts val="1100"/>
              <a:buFont typeface="Arial"/>
              <a:buNone/>
            </a:pPr>
            <a:r>
              <a:rPr lang="en-US"/>
              <a:t>●Collection</a:t>
            </a:r>
            <a:endParaRPr/>
          </a:p>
          <a:p>
            <a:pPr marL="12700" lvl="0" indent="0" algn="l" rtl="0">
              <a:lnSpc>
                <a:spcPct val="115000"/>
              </a:lnSpc>
              <a:spcBef>
                <a:spcPts val="0"/>
              </a:spcBef>
              <a:spcAft>
                <a:spcPts val="0"/>
              </a:spcAft>
              <a:buClr>
                <a:schemeClr val="dk1"/>
              </a:buClr>
              <a:buSzPts val="1100"/>
              <a:buFont typeface="Arial"/>
              <a:buNone/>
            </a:pPr>
            <a:r>
              <a:rPr lang="en-US"/>
              <a:t>●Ingestion</a:t>
            </a:r>
            <a:endParaRPr/>
          </a:p>
          <a:p>
            <a:pPr marL="12700" lvl="0" indent="0" algn="l" rtl="0">
              <a:lnSpc>
                <a:spcPct val="115000"/>
              </a:lnSpc>
              <a:spcBef>
                <a:spcPts val="0"/>
              </a:spcBef>
              <a:spcAft>
                <a:spcPts val="0"/>
              </a:spcAft>
              <a:buClr>
                <a:schemeClr val="dk1"/>
              </a:buClr>
              <a:buSzPts val="1100"/>
              <a:buFont typeface="Arial"/>
              <a:buNone/>
            </a:pPr>
            <a:r>
              <a:rPr lang="en-US"/>
              <a:t>●Analysis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●First is generation.</a:t>
            </a:r>
            <a:endParaRPr/>
          </a:p>
          <a:p>
            <a:pPr marL="12700" lvl="0" indent="0" algn="l" rtl="0">
              <a:lnSpc>
                <a:spcPct val="115000"/>
              </a:lnSpc>
              <a:spcBef>
                <a:spcPts val="0"/>
              </a:spcBef>
              <a:spcAft>
                <a:spcPts val="0"/>
              </a:spcAft>
              <a:buClr>
                <a:schemeClr val="dk1"/>
              </a:buClr>
              <a:buSzPts val="1100"/>
              <a:buFont typeface="Arial"/>
              <a:buNone/>
            </a:pPr>
            <a:r>
              <a:rPr lang="en-US"/>
              <a:t>●The PLC generates industrial process data.</a:t>
            </a:r>
            <a:endParaRPr/>
          </a:p>
          <a:p>
            <a:pPr marL="12700" lvl="0" indent="0" algn="l" rtl="0">
              <a:lnSpc>
                <a:spcPct val="115000"/>
              </a:lnSpc>
              <a:spcBef>
                <a:spcPts val="0"/>
              </a:spcBef>
              <a:spcAft>
                <a:spcPts val="0"/>
              </a:spcAft>
              <a:buClr>
                <a:schemeClr val="dk1"/>
              </a:buClr>
              <a:buSzPts val="1100"/>
              <a:buFont typeface="Arial"/>
              <a:buNone/>
            </a:pPr>
            <a:r>
              <a:rPr lang="en-US"/>
              <a:t>●This includes:</a:t>
            </a:r>
            <a:endParaRPr/>
          </a:p>
          <a:p>
            <a:pPr marL="12700" lvl="0" indent="0" algn="l" rtl="0">
              <a:lnSpc>
                <a:spcPct val="115000"/>
              </a:lnSpc>
              <a:spcBef>
                <a:spcPts val="0"/>
              </a:spcBef>
              <a:spcAft>
                <a:spcPts val="0"/>
              </a:spcAft>
              <a:buClr>
                <a:schemeClr val="dk1"/>
              </a:buClr>
              <a:buSzPts val="1100"/>
              <a:buFont typeface="Arial"/>
              <a:buNone/>
            </a:pPr>
            <a:r>
              <a:rPr lang="en-US"/>
              <a:t>●Temperature</a:t>
            </a:r>
            <a:endParaRPr/>
          </a:p>
          <a:p>
            <a:pPr marL="12700" lvl="0" indent="0" algn="l" rtl="0">
              <a:lnSpc>
                <a:spcPct val="115000"/>
              </a:lnSpc>
              <a:spcBef>
                <a:spcPts val="0"/>
              </a:spcBef>
              <a:spcAft>
                <a:spcPts val="0"/>
              </a:spcAft>
              <a:buClr>
                <a:schemeClr val="dk1"/>
              </a:buClr>
              <a:buSzPts val="1100"/>
              <a:buFont typeface="Arial"/>
              <a:buNone/>
            </a:pPr>
            <a:r>
              <a:rPr lang="en-US"/>
              <a:t>●Pressure</a:t>
            </a:r>
            <a:endParaRPr/>
          </a:p>
          <a:p>
            <a:pPr marL="12700" lvl="0" indent="0" algn="l" rtl="0">
              <a:lnSpc>
                <a:spcPct val="115000"/>
              </a:lnSpc>
              <a:spcBef>
                <a:spcPts val="0"/>
              </a:spcBef>
              <a:spcAft>
                <a:spcPts val="0"/>
              </a:spcAft>
              <a:buClr>
                <a:schemeClr val="dk1"/>
              </a:buClr>
              <a:buSzPts val="1100"/>
              <a:buFont typeface="Arial"/>
              <a:buNone/>
            </a:pPr>
            <a:r>
              <a:rPr lang="en-US"/>
              <a:t>●Motor speed</a:t>
            </a:r>
            <a:endParaRPr/>
          </a:p>
          <a:p>
            <a:pPr marL="12700" lvl="0" indent="0" algn="l" rtl="0">
              <a:lnSpc>
                <a:spcPct val="115000"/>
              </a:lnSpc>
              <a:spcBef>
                <a:spcPts val="0"/>
              </a:spcBef>
              <a:spcAft>
                <a:spcPts val="0"/>
              </a:spcAft>
              <a:buClr>
                <a:schemeClr val="dk1"/>
              </a:buClr>
              <a:buSzPts val="1100"/>
              <a:buFont typeface="Arial"/>
              <a:buNone/>
            </a:pPr>
            <a:r>
              <a:rPr lang="en-US"/>
              <a:t>●Sensor values</a:t>
            </a:r>
            <a:endParaRPr/>
          </a:p>
          <a:p>
            <a:pPr marL="12700" lvl="0" indent="0" algn="l" rtl="0">
              <a:lnSpc>
                <a:spcPct val="115000"/>
              </a:lnSpc>
              <a:spcBef>
                <a:spcPts val="0"/>
              </a:spcBef>
              <a:spcAft>
                <a:spcPts val="0"/>
              </a:spcAft>
              <a:buClr>
                <a:schemeClr val="dk1"/>
              </a:buClr>
              <a:buSzPts val="1100"/>
              <a:buFont typeface="Arial"/>
              <a:buNone/>
            </a:pPr>
            <a:r>
              <a:rPr lang="en-US"/>
              <a:t>●Valve operations</a:t>
            </a:r>
            <a:endParaRPr/>
          </a:p>
          <a:p>
            <a:pPr marL="12700" lvl="0" indent="0" algn="l" rtl="0">
              <a:lnSpc>
                <a:spcPct val="115000"/>
              </a:lnSpc>
              <a:spcBef>
                <a:spcPts val="0"/>
              </a:spcBef>
              <a:spcAft>
                <a:spcPts val="0"/>
              </a:spcAft>
              <a:buClr>
                <a:schemeClr val="dk1"/>
              </a:buClr>
              <a:buSzPts val="1100"/>
              <a:buFont typeface="Arial"/>
              <a:buNone/>
            </a:pPr>
            <a:r>
              <a:rPr lang="en-US"/>
              <a:t>●These values are stored in Modbus registers.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●Second is collection.</a:t>
            </a:r>
            <a:endParaRPr/>
          </a:p>
          <a:p>
            <a:pPr marL="12700" lvl="0" indent="0" algn="l" rtl="0">
              <a:lnSpc>
                <a:spcPct val="115000"/>
              </a:lnSpc>
              <a:spcBef>
                <a:spcPts val="0"/>
              </a:spcBef>
              <a:spcAft>
                <a:spcPts val="0"/>
              </a:spcAft>
              <a:buClr>
                <a:schemeClr val="dk1"/>
              </a:buClr>
              <a:buSzPts val="1100"/>
              <a:buFont typeface="Arial"/>
              <a:buNone/>
            </a:pPr>
            <a:r>
              <a:rPr lang="en-US"/>
              <a:t>●We use Telegraf to collect telemetry data from the PLC.</a:t>
            </a:r>
            <a:endParaRPr/>
          </a:p>
          <a:p>
            <a:pPr marL="12700" lvl="0" indent="0" algn="l" rtl="0">
              <a:lnSpc>
                <a:spcPct val="115000"/>
              </a:lnSpc>
              <a:spcBef>
                <a:spcPts val="0"/>
              </a:spcBef>
              <a:spcAft>
                <a:spcPts val="0"/>
              </a:spcAft>
              <a:buClr>
                <a:schemeClr val="dk1"/>
              </a:buClr>
              <a:buSzPts val="1100"/>
              <a:buFont typeface="Arial"/>
              <a:buNone/>
            </a:pPr>
            <a:r>
              <a:rPr lang="en-US"/>
              <a:t>●Telegraf continuously polls Modbus registers and gathers operational information.</a:t>
            </a:r>
            <a:endParaRPr/>
          </a:p>
          <a:p>
            <a:pPr marL="12700" lvl="0" indent="0" algn="l" rtl="0">
              <a:lnSpc>
                <a:spcPct val="115000"/>
              </a:lnSpc>
              <a:spcBef>
                <a:spcPts val="0"/>
              </a:spcBef>
              <a:spcAft>
                <a:spcPts val="0"/>
              </a:spcAft>
              <a:buClr>
                <a:schemeClr val="dk1"/>
              </a:buClr>
              <a:buSzPts val="1100"/>
              <a:buFont typeface="Arial"/>
              <a:buNone/>
            </a:pPr>
            <a:r>
              <a:rPr lang="en-US"/>
              <a:t>●It also timestamps the data and sends it to the database.</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●Third is ingestion.</a:t>
            </a:r>
            <a:endParaRPr/>
          </a:p>
          <a:p>
            <a:pPr marL="12700" lvl="0" indent="0" algn="l" rtl="0">
              <a:lnSpc>
                <a:spcPct val="115000"/>
              </a:lnSpc>
              <a:spcBef>
                <a:spcPts val="0"/>
              </a:spcBef>
              <a:spcAft>
                <a:spcPts val="0"/>
              </a:spcAft>
              <a:buClr>
                <a:schemeClr val="dk1"/>
              </a:buClr>
              <a:buSzPts val="1100"/>
              <a:buFont typeface="Arial"/>
              <a:buNone/>
            </a:pPr>
            <a:r>
              <a:rPr lang="en-US"/>
              <a:t>●The collected data is stored in InfluxDB.</a:t>
            </a:r>
            <a:endParaRPr/>
          </a:p>
          <a:p>
            <a:pPr marL="12700" lvl="0" indent="0" algn="l" rtl="0">
              <a:lnSpc>
                <a:spcPct val="115000"/>
              </a:lnSpc>
              <a:spcBef>
                <a:spcPts val="0"/>
              </a:spcBef>
              <a:spcAft>
                <a:spcPts val="0"/>
              </a:spcAft>
              <a:buClr>
                <a:schemeClr val="dk1"/>
              </a:buClr>
              <a:buSzPts val="1100"/>
              <a:buFont typeface="Arial"/>
              <a:buNone/>
            </a:pPr>
            <a:r>
              <a:rPr lang="en-US"/>
              <a:t>●InfluxDB is a time-series database designed for telemetry data.</a:t>
            </a:r>
            <a:endParaRPr/>
          </a:p>
          <a:p>
            <a:pPr marL="12700" lvl="0" indent="0" algn="l" rtl="0">
              <a:lnSpc>
                <a:spcPct val="115000"/>
              </a:lnSpc>
              <a:spcBef>
                <a:spcPts val="0"/>
              </a:spcBef>
              <a:spcAft>
                <a:spcPts val="0"/>
              </a:spcAft>
              <a:buClr>
                <a:schemeClr val="dk1"/>
              </a:buClr>
              <a:buSzPts val="1100"/>
              <a:buFont typeface="Arial"/>
              <a:buNone/>
            </a:pPr>
            <a:r>
              <a:rPr lang="en-US"/>
              <a:t>●It stores:</a:t>
            </a:r>
            <a:endParaRPr/>
          </a:p>
          <a:p>
            <a:pPr marL="12700" lvl="0" indent="0" algn="l" rtl="0">
              <a:lnSpc>
                <a:spcPct val="115000"/>
              </a:lnSpc>
              <a:spcBef>
                <a:spcPts val="0"/>
              </a:spcBef>
              <a:spcAft>
                <a:spcPts val="0"/>
              </a:spcAft>
              <a:buClr>
                <a:schemeClr val="dk1"/>
              </a:buClr>
              <a:buSzPts val="1100"/>
              <a:buFont typeface="Arial"/>
              <a:buNone/>
            </a:pPr>
            <a:r>
              <a:rPr lang="en-US"/>
              <a:t>●Register values</a:t>
            </a:r>
            <a:endParaRPr/>
          </a:p>
          <a:p>
            <a:pPr marL="12700" lvl="0" indent="0" algn="l" rtl="0">
              <a:lnSpc>
                <a:spcPct val="115000"/>
              </a:lnSpc>
              <a:spcBef>
                <a:spcPts val="0"/>
              </a:spcBef>
              <a:spcAft>
                <a:spcPts val="0"/>
              </a:spcAft>
              <a:buClr>
                <a:schemeClr val="dk1"/>
              </a:buClr>
              <a:buSzPts val="1100"/>
              <a:buFont typeface="Arial"/>
              <a:buNone/>
            </a:pPr>
            <a:r>
              <a:rPr lang="en-US"/>
              <a:t>●Timestamps</a:t>
            </a:r>
            <a:endParaRPr/>
          </a:p>
          <a:p>
            <a:pPr marL="12700" lvl="0" indent="0" algn="l" rtl="0">
              <a:lnSpc>
                <a:spcPct val="115000"/>
              </a:lnSpc>
              <a:spcBef>
                <a:spcPts val="0"/>
              </a:spcBef>
              <a:spcAft>
                <a:spcPts val="0"/>
              </a:spcAft>
              <a:buClr>
                <a:schemeClr val="dk1"/>
              </a:buClr>
              <a:buSzPts val="1100"/>
              <a:buFont typeface="Arial"/>
              <a:buNone/>
            </a:pPr>
            <a:r>
              <a:rPr lang="en-US"/>
              <a:t>●Device information</a:t>
            </a:r>
            <a:endParaRPr/>
          </a:p>
          <a:p>
            <a:pPr marL="12700" lvl="0" indent="0" algn="l" rtl="0">
              <a:lnSpc>
                <a:spcPct val="115000"/>
              </a:lnSpc>
              <a:spcBef>
                <a:spcPts val="0"/>
              </a:spcBef>
              <a:spcAft>
                <a:spcPts val="0"/>
              </a:spcAft>
              <a:buClr>
                <a:schemeClr val="dk1"/>
              </a:buClr>
              <a:buSzPts val="1100"/>
              <a:buFont typeface="Arial"/>
              <a:buNone/>
            </a:pPr>
            <a:r>
              <a:rPr lang="en-US"/>
              <a:t>●Communication metrics</a:t>
            </a:r>
            <a:endParaRPr/>
          </a:p>
          <a:p>
            <a:pPr marL="12700" lvl="0" indent="0" algn="l" rtl="0">
              <a:lnSpc>
                <a:spcPct val="115000"/>
              </a:lnSpc>
              <a:spcBef>
                <a:spcPts val="0"/>
              </a:spcBef>
              <a:spcAft>
                <a:spcPts val="0"/>
              </a:spcAft>
              <a:buClr>
                <a:schemeClr val="dk1"/>
              </a:buClr>
              <a:buSzPts val="1100"/>
              <a:buFont typeface="Arial"/>
              <a:buNone/>
            </a:pPr>
            <a:r>
              <a:rPr lang="en-US"/>
              <a:t>●This helps us perform long-term analysis and forensic investigation.</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●Fourth is analysis.</a:t>
            </a:r>
            <a:endParaRPr/>
          </a:p>
          <a:p>
            <a:pPr marL="12700" lvl="0" indent="0" algn="l" rtl="0">
              <a:lnSpc>
                <a:spcPct val="115000"/>
              </a:lnSpc>
              <a:spcBef>
                <a:spcPts val="0"/>
              </a:spcBef>
              <a:spcAft>
                <a:spcPts val="0"/>
              </a:spcAft>
              <a:buClr>
                <a:schemeClr val="dk1"/>
              </a:buClr>
              <a:buSzPts val="1100"/>
              <a:buFont typeface="Arial"/>
              <a:buNone/>
            </a:pPr>
            <a:r>
              <a:rPr lang="en-US"/>
              <a:t>●Grafana connects to InfluxDB and creates dashboards and heatmaps.</a:t>
            </a:r>
            <a:endParaRPr/>
          </a:p>
          <a:p>
            <a:pPr marL="12700" lvl="0" indent="0" algn="l" rtl="0">
              <a:lnSpc>
                <a:spcPct val="115000"/>
              </a:lnSpc>
              <a:spcBef>
                <a:spcPts val="0"/>
              </a:spcBef>
              <a:spcAft>
                <a:spcPts val="0"/>
              </a:spcAft>
              <a:buClr>
                <a:schemeClr val="dk1"/>
              </a:buClr>
              <a:buSzPts val="1100"/>
              <a:buFont typeface="Arial"/>
              <a:buNone/>
            </a:pPr>
            <a:r>
              <a:rPr lang="en-US"/>
              <a:t>●Using Grafana, analysts can easily observe:</a:t>
            </a:r>
            <a:endParaRPr/>
          </a:p>
          <a:p>
            <a:pPr marL="12700" lvl="0" indent="0" algn="l" rtl="0">
              <a:lnSpc>
                <a:spcPct val="115000"/>
              </a:lnSpc>
              <a:spcBef>
                <a:spcPts val="0"/>
              </a:spcBef>
              <a:spcAft>
                <a:spcPts val="0"/>
              </a:spcAft>
              <a:buClr>
                <a:schemeClr val="dk1"/>
              </a:buClr>
              <a:buSzPts val="1100"/>
              <a:buFont typeface="Arial"/>
              <a:buNone/>
            </a:pPr>
            <a:r>
              <a:rPr lang="en-US"/>
              <a:t>●Communication trends</a:t>
            </a:r>
            <a:endParaRPr/>
          </a:p>
          <a:p>
            <a:pPr marL="12700" lvl="0" indent="0" algn="l" rtl="0">
              <a:lnSpc>
                <a:spcPct val="115000"/>
              </a:lnSpc>
              <a:spcBef>
                <a:spcPts val="0"/>
              </a:spcBef>
              <a:spcAft>
                <a:spcPts val="0"/>
              </a:spcAft>
              <a:buClr>
                <a:schemeClr val="dk1"/>
              </a:buClr>
              <a:buSzPts val="1100"/>
              <a:buFont typeface="Arial"/>
              <a:buNone/>
            </a:pPr>
            <a:r>
              <a:rPr lang="en-US"/>
              <a:t>●Traffic spikes</a:t>
            </a:r>
            <a:endParaRPr/>
          </a:p>
          <a:p>
            <a:pPr marL="12700" lvl="0" indent="0" algn="l" rtl="0">
              <a:lnSpc>
                <a:spcPct val="115000"/>
              </a:lnSpc>
              <a:spcBef>
                <a:spcPts val="0"/>
              </a:spcBef>
              <a:spcAft>
                <a:spcPts val="0"/>
              </a:spcAft>
              <a:buClr>
                <a:schemeClr val="dk1"/>
              </a:buClr>
              <a:buSzPts val="1100"/>
              <a:buFont typeface="Arial"/>
              <a:buNone/>
            </a:pPr>
            <a:r>
              <a:rPr lang="en-US"/>
              <a:t>●Behavioral anomalies</a:t>
            </a:r>
            <a:endParaRPr/>
          </a:p>
          <a:p>
            <a:pPr marL="12700" lvl="0" indent="0" algn="l" rtl="0">
              <a:lnSpc>
                <a:spcPct val="115000"/>
              </a:lnSpc>
              <a:spcBef>
                <a:spcPts val="0"/>
              </a:spcBef>
              <a:spcAft>
                <a:spcPts val="0"/>
              </a:spcAft>
              <a:buClr>
                <a:schemeClr val="dk1"/>
              </a:buClr>
              <a:buSzPts val="1100"/>
              <a:buFont typeface="Arial"/>
              <a:buNone/>
            </a:pPr>
            <a:r>
              <a:rPr lang="en-US"/>
              <a:t>●Suspicious activity</a:t>
            </a:r>
            <a:endParaRPr/>
          </a:p>
          <a:p>
            <a:pPr marL="0" lvl="0" indent="0" algn="l" rtl="0">
              <a:lnSpc>
                <a:spcPct val="115000"/>
              </a:lnSpc>
              <a:spcBef>
                <a:spcPts val="0"/>
              </a:spcBef>
              <a:spcAft>
                <a:spcPts val="0"/>
              </a:spcAft>
              <a:buClr>
                <a:schemeClr val="dk1"/>
              </a:buClr>
              <a:buSzPts val="1100"/>
              <a:buFont typeface="Arial"/>
              <a:buNone/>
            </a:pPr>
            <a:r>
              <a:rPr lang="en-US"/>
              <a:t>●This improves visibility and situational awareness.</a:t>
            </a:r>
            <a:endParaRPr/>
          </a:p>
          <a:p>
            <a:pPr marL="12700" lvl="0" indent="0" algn="l" rtl="0">
              <a:lnSpc>
                <a:spcPct val="115000"/>
              </a:lnSpc>
              <a:spcBef>
                <a:spcPts val="0"/>
              </a:spcBef>
              <a:spcAft>
                <a:spcPts val="0"/>
              </a:spcAft>
              <a:buNone/>
            </a:pPr>
            <a:endParaRPr/>
          </a:p>
          <a:p>
            <a:pPr marL="12700" lvl="0" indent="0" algn="l" rtl="0">
              <a:lnSpc>
                <a:spcPct val="115000"/>
              </a:lnSpc>
              <a:spcBef>
                <a:spcPts val="0"/>
              </a:spcBef>
              <a:spcAft>
                <a:spcPts val="0"/>
              </a:spcAft>
              <a:buClr>
                <a:schemeClr val="dk1"/>
              </a:buClr>
              <a:buSzPts val="1100"/>
              <a:buFont typeface="Arial"/>
              <a:buNone/>
            </a:pPr>
            <a:r>
              <a:rPr lang="en-US"/>
              <a:t>●Overall, this workflow helps us monitor industrial behavior continuously and detect abnormal activity.</a:t>
            </a:r>
            <a:endParaRPr/>
          </a:p>
          <a:p>
            <a:pPr marL="0" lvl="0" indent="0" algn="l" rtl="0">
              <a:spcBef>
                <a:spcPts val="0"/>
              </a:spcBef>
              <a:spcAft>
                <a:spcPts val="0"/>
              </a:spcAft>
              <a:buNone/>
            </a:pPr>
            <a:endParaRPr/>
          </a:p>
        </p:txBody>
      </p:sp>
      <p:sp>
        <p:nvSpPr>
          <p:cNvPr id="271" name="Google Shape;271;g3ddd1f35e3c_0_67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2700" lvl="0" indent="0" algn="l" rtl="0">
              <a:lnSpc>
                <a:spcPct val="115000"/>
              </a:lnSpc>
              <a:spcBef>
                <a:spcPts val="0"/>
              </a:spcBef>
              <a:spcAft>
                <a:spcPts val="0"/>
              </a:spcAft>
              <a:buClr>
                <a:schemeClr val="dk1"/>
              </a:buClr>
              <a:buSzPts val="1100"/>
              <a:buFont typeface="Arial"/>
              <a:buNone/>
            </a:pPr>
            <a:r>
              <a:rPr lang="en-US"/>
              <a:t>●the three main components are:</a:t>
            </a:r>
            <a:endParaRPr/>
          </a:p>
          <a:p>
            <a:pPr marL="12700" lvl="0" indent="0" algn="l" rtl="0">
              <a:lnSpc>
                <a:spcPct val="115000"/>
              </a:lnSpc>
              <a:spcBef>
                <a:spcPts val="0"/>
              </a:spcBef>
              <a:spcAft>
                <a:spcPts val="0"/>
              </a:spcAft>
              <a:buClr>
                <a:schemeClr val="dk1"/>
              </a:buClr>
              <a:buSzPts val="1100"/>
              <a:buFont typeface="Arial"/>
              <a:buNone/>
            </a:pPr>
            <a:r>
              <a:rPr lang="en-US"/>
              <a:t>●Telegraf</a:t>
            </a:r>
            <a:endParaRPr/>
          </a:p>
          <a:p>
            <a:pPr marL="12700" lvl="0" indent="0" algn="l" rtl="0">
              <a:lnSpc>
                <a:spcPct val="115000"/>
              </a:lnSpc>
              <a:spcBef>
                <a:spcPts val="0"/>
              </a:spcBef>
              <a:spcAft>
                <a:spcPts val="0"/>
              </a:spcAft>
              <a:buClr>
                <a:schemeClr val="dk1"/>
              </a:buClr>
              <a:buSzPts val="1100"/>
              <a:buFont typeface="Arial"/>
              <a:buNone/>
            </a:pPr>
            <a:r>
              <a:rPr lang="en-US"/>
              <a:t>●InfluxDB</a:t>
            </a:r>
            <a:endParaRPr/>
          </a:p>
          <a:p>
            <a:pPr marL="12700" lvl="0" indent="0" algn="l" rtl="0">
              <a:lnSpc>
                <a:spcPct val="115000"/>
              </a:lnSpc>
              <a:spcBef>
                <a:spcPts val="0"/>
              </a:spcBef>
              <a:spcAft>
                <a:spcPts val="0"/>
              </a:spcAft>
              <a:buClr>
                <a:schemeClr val="dk1"/>
              </a:buClr>
              <a:buSzPts val="1100"/>
              <a:buFont typeface="Arial"/>
              <a:buNone/>
            </a:pPr>
            <a:r>
              <a:rPr lang="en-US"/>
              <a:t>●Grafana</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●Together, they create a complete telemetry analytics platform.</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●First is Telegraf.</a:t>
            </a:r>
            <a:endParaRPr/>
          </a:p>
          <a:p>
            <a:pPr marL="12700" lvl="0" indent="0" algn="l" rtl="0">
              <a:lnSpc>
                <a:spcPct val="115000"/>
              </a:lnSpc>
              <a:spcBef>
                <a:spcPts val="0"/>
              </a:spcBef>
              <a:spcAft>
                <a:spcPts val="0"/>
              </a:spcAft>
              <a:buClr>
                <a:schemeClr val="dk1"/>
              </a:buClr>
              <a:buSzPts val="1100"/>
              <a:buFont typeface="Arial"/>
              <a:buNone/>
            </a:pPr>
            <a:r>
              <a:rPr lang="en-US"/>
              <a:t>●Telegraf collects telemetry data from PLCs using Modbus TCP.</a:t>
            </a:r>
            <a:endParaRPr/>
          </a:p>
          <a:p>
            <a:pPr marL="12700" lvl="0" indent="0" algn="l" rtl="0">
              <a:lnSpc>
                <a:spcPct val="115000"/>
              </a:lnSpc>
              <a:spcBef>
                <a:spcPts val="0"/>
              </a:spcBef>
              <a:spcAft>
                <a:spcPts val="0"/>
              </a:spcAft>
              <a:buClr>
                <a:schemeClr val="dk1"/>
              </a:buClr>
              <a:buSzPts val="1100"/>
              <a:buFont typeface="Arial"/>
              <a:buNone/>
            </a:pPr>
            <a:r>
              <a:rPr lang="en-US"/>
              <a:t>●It gathers:</a:t>
            </a:r>
            <a:endParaRPr/>
          </a:p>
          <a:p>
            <a:pPr marL="12700" lvl="0" indent="0" algn="l" rtl="0">
              <a:lnSpc>
                <a:spcPct val="115000"/>
              </a:lnSpc>
              <a:spcBef>
                <a:spcPts val="0"/>
              </a:spcBef>
              <a:spcAft>
                <a:spcPts val="0"/>
              </a:spcAft>
              <a:buClr>
                <a:schemeClr val="dk1"/>
              </a:buClr>
              <a:buSzPts val="1100"/>
              <a:buFont typeface="Arial"/>
              <a:buNone/>
            </a:pPr>
            <a:r>
              <a:rPr lang="en-US"/>
              <a:t>●Sensor values</a:t>
            </a:r>
            <a:endParaRPr/>
          </a:p>
          <a:p>
            <a:pPr marL="12700" lvl="0" indent="0" algn="l" rtl="0">
              <a:lnSpc>
                <a:spcPct val="115000"/>
              </a:lnSpc>
              <a:spcBef>
                <a:spcPts val="0"/>
              </a:spcBef>
              <a:spcAft>
                <a:spcPts val="0"/>
              </a:spcAft>
              <a:buClr>
                <a:schemeClr val="dk1"/>
              </a:buClr>
              <a:buSzPts val="1100"/>
              <a:buFont typeface="Arial"/>
              <a:buNone/>
            </a:pPr>
            <a:r>
              <a:rPr lang="en-US"/>
              <a:t>●Register values</a:t>
            </a:r>
            <a:endParaRPr/>
          </a:p>
          <a:p>
            <a:pPr marL="12700" lvl="0" indent="0" algn="l" rtl="0">
              <a:lnSpc>
                <a:spcPct val="115000"/>
              </a:lnSpc>
              <a:spcBef>
                <a:spcPts val="0"/>
              </a:spcBef>
              <a:spcAft>
                <a:spcPts val="0"/>
              </a:spcAft>
              <a:buClr>
                <a:schemeClr val="dk1"/>
              </a:buClr>
              <a:buSzPts val="1100"/>
              <a:buFont typeface="Arial"/>
              <a:buNone/>
            </a:pPr>
            <a:r>
              <a:rPr lang="en-US"/>
              <a:t>●Communication metrics</a:t>
            </a:r>
            <a:endParaRPr/>
          </a:p>
          <a:p>
            <a:pPr marL="12700" lvl="0" indent="0" algn="l" rtl="0">
              <a:lnSpc>
                <a:spcPct val="115000"/>
              </a:lnSpc>
              <a:spcBef>
                <a:spcPts val="0"/>
              </a:spcBef>
              <a:spcAft>
                <a:spcPts val="0"/>
              </a:spcAft>
              <a:buClr>
                <a:schemeClr val="dk1"/>
              </a:buClr>
              <a:buSzPts val="1100"/>
              <a:buFont typeface="Arial"/>
              <a:buNone/>
            </a:pPr>
            <a:r>
              <a:rPr lang="en-US"/>
              <a:t>●Operational data</a:t>
            </a:r>
            <a:endParaRPr/>
          </a:p>
          <a:p>
            <a:pPr marL="12700" lvl="0" indent="0" algn="l" rtl="0">
              <a:lnSpc>
                <a:spcPct val="115000"/>
              </a:lnSpc>
              <a:spcBef>
                <a:spcPts val="0"/>
              </a:spcBef>
              <a:spcAft>
                <a:spcPts val="0"/>
              </a:spcAft>
              <a:buClr>
                <a:schemeClr val="dk1"/>
              </a:buClr>
              <a:buSzPts val="1100"/>
              <a:buFont typeface="Arial"/>
              <a:buNone/>
            </a:pPr>
            <a:r>
              <a:rPr lang="en-US"/>
              <a:t>●It is lightweight and efficient for industrial environments.</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●Second is InfluxDB.</a:t>
            </a:r>
            <a:endParaRPr/>
          </a:p>
          <a:p>
            <a:pPr marL="12700" lvl="0" indent="0" algn="l" rtl="0">
              <a:lnSpc>
                <a:spcPct val="115000"/>
              </a:lnSpc>
              <a:spcBef>
                <a:spcPts val="0"/>
              </a:spcBef>
              <a:spcAft>
                <a:spcPts val="0"/>
              </a:spcAft>
              <a:buClr>
                <a:schemeClr val="dk1"/>
              </a:buClr>
              <a:buSzPts val="1100"/>
              <a:buFont typeface="Arial"/>
              <a:buNone/>
            </a:pPr>
            <a:r>
              <a:rPr lang="en-US"/>
              <a:t>●InfluxDB stores all telemetry data as time-series information.</a:t>
            </a:r>
            <a:endParaRPr/>
          </a:p>
          <a:p>
            <a:pPr marL="12700" lvl="0" indent="0" algn="l" rtl="0">
              <a:lnSpc>
                <a:spcPct val="115000"/>
              </a:lnSpc>
              <a:spcBef>
                <a:spcPts val="0"/>
              </a:spcBef>
              <a:spcAft>
                <a:spcPts val="0"/>
              </a:spcAft>
              <a:buClr>
                <a:schemeClr val="dk1"/>
              </a:buClr>
              <a:buSzPts val="1100"/>
              <a:buFont typeface="Arial"/>
              <a:buNone/>
            </a:pPr>
            <a:r>
              <a:rPr lang="en-US"/>
              <a:t>●It helps us:</a:t>
            </a:r>
            <a:endParaRPr/>
          </a:p>
          <a:p>
            <a:pPr marL="12700" lvl="0" indent="0" algn="l" rtl="0">
              <a:lnSpc>
                <a:spcPct val="115000"/>
              </a:lnSpc>
              <a:spcBef>
                <a:spcPts val="0"/>
              </a:spcBef>
              <a:spcAft>
                <a:spcPts val="0"/>
              </a:spcAft>
              <a:buClr>
                <a:schemeClr val="dk1"/>
              </a:buClr>
              <a:buSzPts val="1100"/>
              <a:buFont typeface="Arial"/>
              <a:buNone/>
            </a:pPr>
            <a:r>
              <a:rPr lang="en-US"/>
              <a:t>●Store historical data</a:t>
            </a:r>
            <a:endParaRPr/>
          </a:p>
          <a:p>
            <a:pPr marL="12700" lvl="0" indent="0" algn="l" rtl="0">
              <a:lnSpc>
                <a:spcPct val="115000"/>
              </a:lnSpc>
              <a:spcBef>
                <a:spcPts val="0"/>
              </a:spcBef>
              <a:spcAft>
                <a:spcPts val="0"/>
              </a:spcAft>
              <a:buClr>
                <a:schemeClr val="dk1"/>
              </a:buClr>
              <a:buSzPts val="1100"/>
              <a:buFont typeface="Arial"/>
              <a:buNone/>
            </a:pPr>
            <a:r>
              <a:rPr lang="en-US"/>
              <a:t>●Analyze trends</a:t>
            </a:r>
            <a:endParaRPr/>
          </a:p>
          <a:p>
            <a:pPr marL="12700" lvl="0" indent="0" algn="l" rtl="0">
              <a:lnSpc>
                <a:spcPct val="115000"/>
              </a:lnSpc>
              <a:spcBef>
                <a:spcPts val="0"/>
              </a:spcBef>
              <a:spcAft>
                <a:spcPts val="0"/>
              </a:spcAft>
              <a:buClr>
                <a:schemeClr val="dk1"/>
              </a:buClr>
              <a:buSzPts val="1100"/>
              <a:buFont typeface="Arial"/>
              <a:buNone/>
            </a:pPr>
            <a:r>
              <a:rPr lang="en-US"/>
              <a:t>●Detect anomalies</a:t>
            </a:r>
            <a:endParaRPr/>
          </a:p>
          <a:p>
            <a:pPr marL="12700" lvl="0" indent="0" algn="l" rtl="0">
              <a:lnSpc>
                <a:spcPct val="115000"/>
              </a:lnSpc>
              <a:spcBef>
                <a:spcPts val="0"/>
              </a:spcBef>
              <a:spcAft>
                <a:spcPts val="0"/>
              </a:spcAft>
              <a:buClr>
                <a:schemeClr val="dk1"/>
              </a:buClr>
              <a:buSzPts val="1100"/>
              <a:buFont typeface="Arial"/>
              <a:buNone/>
            </a:pPr>
            <a:r>
              <a:rPr lang="en-US"/>
              <a:t>●Perform investigations</a:t>
            </a:r>
            <a:endParaRPr/>
          </a:p>
          <a:p>
            <a:pPr marL="12700" lvl="0" indent="0" algn="l" rtl="0">
              <a:lnSpc>
                <a:spcPct val="115000"/>
              </a:lnSpc>
              <a:spcBef>
                <a:spcPts val="0"/>
              </a:spcBef>
              <a:spcAft>
                <a:spcPts val="0"/>
              </a:spcAft>
              <a:buClr>
                <a:schemeClr val="dk1"/>
              </a:buClr>
              <a:buSzPts val="1100"/>
              <a:buFont typeface="Arial"/>
              <a:buNone/>
            </a:pPr>
            <a:r>
              <a:rPr lang="en-US"/>
              <a:t>●It acts as the memory layer of the system.</a:t>
            </a:r>
            <a:endParaRPr/>
          </a:p>
          <a:p>
            <a:pPr marL="12700" lvl="0" indent="0" algn="l" rtl="0">
              <a:lnSpc>
                <a:spcPct val="115000"/>
              </a:lnSpc>
              <a:spcBef>
                <a:spcPts val="0"/>
              </a:spcBef>
              <a:spcAft>
                <a:spcPts val="0"/>
              </a:spcAft>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●Third is Grafana.</a:t>
            </a:r>
            <a:endParaRPr/>
          </a:p>
          <a:p>
            <a:pPr marL="12700" lvl="0" indent="0" algn="l" rtl="0">
              <a:lnSpc>
                <a:spcPct val="115000"/>
              </a:lnSpc>
              <a:spcBef>
                <a:spcPts val="0"/>
              </a:spcBef>
              <a:spcAft>
                <a:spcPts val="0"/>
              </a:spcAft>
              <a:buClr>
                <a:schemeClr val="dk1"/>
              </a:buClr>
              <a:buSzPts val="1100"/>
              <a:buFont typeface="Arial"/>
              <a:buNone/>
            </a:pPr>
            <a:r>
              <a:rPr lang="en-US"/>
              <a:t>●Grafana visualizes telemetry data using dashboards and heatmaps.</a:t>
            </a:r>
            <a:endParaRPr/>
          </a:p>
          <a:p>
            <a:pPr marL="12700" lvl="0" indent="0" algn="l" rtl="0">
              <a:lnSpc>
                <a:spcPct val="115000"/>
              </a:lnSpc>
              <a:spcBef>
                <a:spcPts val="0"/>
              </a:spcBef>
              <a:spcAft>
                <a:spcPts val="0"/>
              </a:spcAft>
              <a:buClr>
                <a:schemeClr val="dk1"/>
              </a:buClr>
              <a:buSzPts val="1100"/>
              <a:buFont typeface="Arial"/>
              <a:buNone/>
            </a:pPr>
            <a:r>
              <a:rPr lang="en-US"/>
              <a:t>●Analysts can quickly identify:</a:t>
            </a:r>
            <a:endParaRPr/>
          </a:p>
          <a:p>
            <a:pPr marL="12700" lvl="0" indent="0" algn="l" rtl="0">
              <a:lnSpc>
                <a:spcPct val="115000"/>
              </a:lnSpc>
              <a:spcBef>
                <a:spcPts val="0"/>
              </a:spcBef>
              <a:spcAft>
                <a:spcPts val="0"/>
              </a:spcAft>
              <a:buClr>
                <a:schemeClr val="dk1"/>
              </a:buClr>
              <a:buSzPts val="1100"/>
              <a:buFont typeface="Arial"/>
              <a:buNone/>
            </a:pPr>
            <a:r>
              <a:rPr lang="en-US"/>
              <a:t>●Traffic spikes</a:t>
            </a:r>
            <a:endParaRPr/>
          </a:p>
          <a:p>
            <a:pPr marL="12700" lvl="0" indent="0" algn="l" rtl="0">
              <a:lnSpc>
                <a:spcPct val="115000"/>
              </a:lnSpc>
              <a:spcBef>
                <a:spcPts val="0"/>
              </a:spcBef>
              <a:spcAft>
                <a:spcPts val="0"/>
              </a:spcAft>
              <a:buClr>
                <a:schemeClr val="dk1"/>
              </a:buClr>
              <a:buSzPts val="1100"/>
              <a:buFont typeface="Arial"/>
              <a:buNone/>
            </a:pPr>
            <a:r>
              <a:rPr lang="en-US"/>
              <a:t>●Abnormal communication</a:t>
            </a:r>
            <a:endParaRPr/>
          </a:p>
          <a:p>
            <a:pPr marL="12700" lvl="0" indent="0" algn="l" rtl="0">
              <a:lnSpc>
                <a:spcPct val="115000"/>
              </a:lnSpc>
              <a:spcBef>
                <a:spcPts val="0"/>
              </a:spcBef>
              <a:spcAft>
                <a:spcPts val="0"/>
              </a:spcAft>
              <a:buClr>
                <a:schemeClr val="dk1"/>
              </a:buClr>
              <a:buSzPts val="1100"/>
              <a:buFont typeface="Arial"/>
              <a:buNone/>
            </a:pPr>
            <a:r>
              <a:rPr lang="en-US"/>
              <a:t>●Behavioral changes</a:t>
            </a:r>
            <a:endParaRPr/>
          </a:p>
          <a:p>
            <a:pPr marL="12700" lvl="0" indent="0" algn="l" rtl="0">
              <a:lnSpc>
                <a:spcPct val="115000"/>
              </a:lnSpc>
              <a:spcBef>
                <a:spcPts val="0"/>
              </a:spcBef>
              <a:spcAft>
                <a:spcPts val="0"/>
              </a:spcAft>
              <a:buClr>
                <a:schemeClr val="dk1"/>
              </a:buClr>
              <a:buSzPts val="1100"/>
              <a:buFont typeface="Arial"/>
              <a:buNone/>
            </a:pPr>
            <a:r>
              <a:rPr lang="en-US"/>
              <a:t>●Suspicious patterns</a:t>
            </a:r>
            <a:endParaRPr/>
          </a:p>
          <a:p>
            <a:pPr marL="12700" lvl="0" indent="0" algn="l" rtl="0">
              <a:lnSpc>
                <a:spcPct val="115000"/>
              </a:lnSpc>
              <a:spcBef>
                <a:spcPts val="0"/>
              </a:spcBef>
              <a:spcAft>
                <a:spcPts val="0"/>
              </a:spcAft>
              <a:buClr>
                <a:schemeClr val="dk1"/>
              </a:buClr>
              <a:buSzPts val="1100"/>
              <a:buFont typeface="Arial"/>
              <a:buNone/>
            </a:pPr>
            <a:r>
              <a:rPr lang="en-US"/>
              <a:t>●Heatmaps make complex telemetry data easier to understand.</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●Overall:</a:t>
            </a:r>
            <a:endParaRPr/>
          </a:p>
          <a:p>
            <a:pPr marL="12700" lvl="0" indent="0" algn="l" rtl="0">
              <a:lnSpc>
                <a:spcPct val="115000"/>
              </a:lnSpc>
              <a:spcBef>
                <a:spcPts val="0"/>
              </a:spcBef>
              <a:spcAft>
                <a:spcPts val="0"/>
              </a:spcAft>
              <a:buClr>
                <a:schemeClr val="dk1"/>
              </a:buClr>
              <a:buSzPts val="1100"/>
              <a:buFont typeface="Arial"/>
              <a:buNone/>
            </a:pPr>
            <a:r>
              <a:rPr lang="en-US"/>
              <a:t>●Telegraf collects data</a:t>
            </a:r>
            <a:endParaRPr/>
          </a:p>
          <a:p>
            <a:pPr marL="12700" lvl="0" indent="0" algn="l" rtl="0">
              <a:lnSpc>
                <a:spcPct val="115000"/>
              </a:lnSpc>
              <a:spcBef>
                <a:spcPts val="0"/>
              </a:spcBef>
              <a:spcAft>
                <a:spcPts val="0"/>
              </a:spcAft>
              <a:buClr>
                <a:schemeClr val="dk1"/>
              </a:buClr>
              <a:buSzPts val="1100"/>
              <a:buFont typeface="Arial"/>
              <a:buNone/>
            </a:pPr>
            <a:r>
              <a:rPr lang="en-US"/>
              <a:t>●InfluxDB stores data</a:t>
            </a:r>
            <a:endParaRPr/>
          </a:p>
          <a:p>
            <a:pPr marL="12700" lvl="0" indent="0" algn="l" rtl="0">
              <a:lnSpc>
                <a:spcPct val="115000"/>
              </a:lnSpc>
              <a:spcBef>
                <a:spcPts val="0"/>
              </a:spcBef>
              <a:spcAft>
                <a:spcPts val="0"/>
              </a:spcAft>
              <a:buClr>
                <a:schemeClr val="dk1"/>
              </a:buClr>
              <a:buSzPts val="1100"/>
              <a:buFont typeface="Arial"/>
              <a:buNone/>
            </a:pPr>
            <a:r>
              <a:rPr lang="en-US"/>
              <a:t>●Grafana visualizes data</a:t>
            </a:r>
            <a:endParaRPr/>
          </a:p>
          <a:p>
            <a:pPr marL="12700" lvl="0" indent="0" algn="l" rtl="0">
              <a:lnSpc>
                <a:spcPct val="115000"/>
              </a:lnSpc>
              <a:spcBef>
                <a:spcPts val="0"/>
              </a:spcBef>
              <a:spcAft>
                <a:spcPts val="0"/>
              </a:spcAft>
              <a:buClr>
                <a:schemeClr val="dk1"/>
              </a:buClr>
              <a:buSzPts val="1100"/>
              <a:buFont typeface="Arial"/>
              <a:buNone/>
            </a:pPr>
            <a:endParaRPr/>
          </a:p>
          <a:p>
            <a:pPr marL="12700" lvl="0" indent="0" algn="l" rtl="0">
              <a:lnSpc>
                <a:spcPct val="115000"/>
              </a:lnSpc>
              <a:spcBef>
                <a:spcPts val="0"/>
              </a:spcBef>
              <a:spcAft>
                <a:spcPts val="0"/>
              </a:spcAft>
              <a:buClr>
                <a:schemeClr val="dk1"/>
              </a:buClr>
              <a:buSzPts val="1100"/>
              <a:buFont typeface="Arial"/>
              <a:buNone/>
            </a:pPr>
            <a:r>
              <a:rPr lang="en-US"/>
              <a:t>●Together, they help improve monitoring and cybersecurity visibility in ICS environments.</a:t>
            </a:r>
            <a:endParaRPr/>
          </a:p>
          <a:p>
            <a:pPr marL="0" lvl="0" indent="0" algn="l" rtl="0">
              <a:spcBef>
                <a:spcPts val="0"/>
              </a:spcBef>
              <a:spcAft>
                <a:spcPts val="0"/>
              </a:spcAft>
              <a:buNone/>
            </a:pPr>
            <a:endParaRPr/>
          </a:p>
        </p:txBody>
      </p:sp>
      <p:sp>
        <p:nvSpPr>
          <p:cNvPr id="291" name="Google Shape;29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3ddd1f35e3c_0_18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g3ddd1f35e3c_0_1855: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2" name="Google Shape;352;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4" name="Google Shape;364;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4" name="Google Shape;374;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5" name="Google Shape;385;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3dde98ba58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5" name="Google Shape;395;g3dde98ba587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3ddd1f35e3c_0_9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8" name="Google Shape;438;g3ddd1f35e3c_0_941: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1" name="Google Shape;451;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3ddd1f35e3c_0_7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5" name="Google Shape;465;g3ddd1f35e3c_0_764: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4" name="Google Shape;484;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g3ddd1f35e3c_0_1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9" name="Google Shape;499;g3ddd1f35e3c_0_1028: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ddd1f35e3c_0_1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7" name="Google Shape;507;g3ddd1f35e3c_0_111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3ddd1f35e3c_0_1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No / Not / None: Total loss of signal, data, or power.Less / More: Reduced or excessive signal intensity, data rate, or power supply.</a:t>
            </a:r>
            <a:endParaRPr/>
          </a:p>
          <a:p>
            <a:pPr marL="0" lvl="0" indent="0" algn="l" rtl="0">
              <a:spcBef>
                <a:spcPts val="0"/>
              </a:spcBef>
              <a:spcAft>
                <a:spcPts val="0"/>
              </a:spcAft>
              <a:buNone/>
            </a:pPr>
            <a:endParaRPr/>
          </a:p>
          <a:p>
            <a:pPr marL="0" lvl="0" indent="0" algn="l" rtl="0">
              <a:spcBef>
                <a:spcPts val="0"/>
              </a:spcBef>
              <a:spcAft>
                <a:spcPts val="0"/>
              </a:spcAft>
              <a:buNone/>
            </a:pPr>
            <a:r>
              <a:rPr lang="en-US"/>
              <a:t>As Well As / Part Of: Extra or missing components/signals within a sequence or data set.Reverse: Reverse flow of information, data feedback loops, or unintended command reversals.</a:t>
            </a:r>
            <a:endParaRPr/>
          </a:p>
          <a:p>
            <a:pPr marL="0" lvl="0" indent="0" algn="l" rtl="0">
              <a:spcBef>
                <a:spcPts val="0"/>
              </a:spcBef>
              <a:spcAft>
                <a:spcPts val="0"/>
              </a:spcAft>
              <a:buNone/>
            </a:pPr>
            <a:endParaRPr/>
          </a:p>
          <a:p>
            <a:pPr marL="0" lvl="0" indent="0" algn="l" rtl="0">
              <a:spcBef>
                <a:spcPts val="0"/>
              </a:spcBef>
              <a:spcAft>
                <a:spcPts val="0"/>
              </a:spcAft>
              <a:buNone/>
            </a:pPr>
            <a:r>
              <a:rPr lang="en-US"/>
              <a:t>Other Than: Substitution of signal, wrong action initiated, or incorrect data interpretation.Early / Late / Fast / Slow: Timing issues for signals, sequences, or data transmission.Loss: Loss of communication channels, power supply, or processing ability.Range/Distortion: Signal is out of range, or data is distorted/corrupted.</a:t>
            </a:r>
            <a:endParaRPr/>
          </a:p>
        </p:txBody>
      </p:sp>
      <p:sp>
        <p:nvSpPr>
          <p:cNvPr id="520" name="Google Shape;520;g3ddd1f35e3c_0_1197: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ddd1f35e3c_0_14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9" name="Google Shape;539;g3ddd1f35e3c_0_146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3ddd1f35e3c_0_1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g3ddd1f35e3c_0_155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g3ddd1f35e3c_0_16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0" name="Google Shape;580;g3ddd1f35e3c_0_165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3ddd1f35e3c_0_17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9" name="Google Shape;609;g3ddd1f35e3c_0_1756: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g3ddd1f35e3c_0_5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NGINX has been configured as a TCP reverse proxy using the stream module, and it is currently listening on port 18000 and accepting incoming connections.</a:t>
            </a:r>
            <a:endParaRPr/>
          </a:p>
          <a:p>
            <a:pPr marL="0" lvl="0" indent="0" algn="l" rtl="0">
              <a:spcBef>
                <a:spcPts val="0"/>
              </a:spcBef>
              <a:spcAft>
                <a:spcPts val="0"/>
              </a:spcAft>
              <a:buNone/>
            </a:pPr>
            <a:endParaRPr/>
          </a:p>
          <a:p>
            <a:pPr marL="0" lvl="0" indent="0" algn="l" rtl="0">
              <a:spcBef>
                <a:spcPts val="0"/>
              </a:spcBef>
              <a:spcAft>
                <a:spcPts val="0"/>
              </a:spcAft>
              <a:buNone/>
            </a:pPr>
            <a:r>
              <a:rPr lang="en-US"/>
              <a:t>This confirms that the proxy is active and functioning at the transport layer. </a:t>
            </a:r>
            <a:endParaRPr/>
          </a:p>
          <a:p>
            <a:pPr marL="0" lvl="0" indent="0" algn="l" rtl="0">
              <a:spcBef>
                <a:spcPts val="0"/>
              </a:spcBef>
              <a:spcAft>
                <a:spcPts val="0"/>
              </a:spcAft>
              <a:buNone/>
            </a:pPr>
            <a:endParaRPr/>
          </a:p>
          <a:p>
            <a:pPr marL="0" lvl="0" indent="0" algn="l" rtl="0">
              <a:spcBef>
                <a:spcPts val="0"/>
              </a:spcBef>
              <a:spcAft>
                <a:spcPts val="0"/>
              </a:spcAft>
              <a:buNone/>
            </a:pPr>
            <a:r>
              <a:rPr lang="en-US"/>
              <a:t>In this setup, any client connecting to port 18000 is handled by NGINX and can be forwarded to a backend service on port 1502. </a:t>
            </a:r>
            <a:endParaRPr/>
          </a:p>
          <a:p>
            <a:pPr marL="0" lvl="0" indent="0" algn="l" rtl="0">
              <a:spcBef>
                <a:spcPts val="0"/>
              </a:spcBef>
              <a:spcAft>
                <a:spcPts val="0"/>
              </a:spcAft>
              <a:buNone/>
            </a:pPr>
            <a:endParaRPr/>
          </a:p>
          <a:p>
            <a:pPr marL="0" lvl="0" indent="0" algn="l" rtl="0">
              <a:spcBef>
                <a:spcPts val="0"/>
              </a:spcBef>
              <a:spcAft>
                <a:spcPts val="0"/>
              </a:spcAft>
              <a:buNone/>
            </a:pPr>
            <a:r>
              <a:rPr lang="en-US"/>
              <a:t>The intended backend in this lab is the HMI at 10.19.25.104. </a:t>
            </a:r>
            <a:endParaRPr/>
          </a:p>
          <a:p>
            <a:pPr marL="0" lvl="0" indent="0" algn="l" rtl="0">
              <a:spcBef>
                <a:spcPts val="0"/>
              </a:spcBef>
              <a:spcAft>
                <a:spcPts val="0"/>
              </a:spcAft>
              <a:buNone/>
            </a:pPr>
            <a:endParaRPr/>
          </a:p>
          <a:p>
            <a:pPr marL="0" lvl="0" indent="0" algn="l" rtl="0">
              <a:spcBef>
                <a:spcPts val="0"/>
              </a:spcBef>
              <a:spcAft>
                <a:spcPts val="0"/>
              </a:spcAft>
              <a:buNone/>
            </a:pPr>
            <a:r>
              <a:rPr lang="en-US"/>
              <a:t>Overall, this demonstrates that NGINX is correctly configured as a layer 4 reverse proxy and is capable of handling and forwarding TCP traffic.</a:t>
            </a:r>
            <a:endParaRPr/>
          </a:p>
        </p:txBody>
      </p:sp>
      <p:sp>
        <p:nvSpPr>
          <p:cNvPr id="634" name="Google Shape;634;g3ddd1f35e3c_0_579: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50" name="Google Shape;650;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7" name="Google Shape;667;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3" name="Google Shape;683;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1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1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p15"/>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p15"/>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5"/>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6"/>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16"/>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6"/>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722313" y="4406900"/>
            <a:ext cx="77724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17"/>
          <p:cNvSpPr txBox="1">
            <a:spLocks noGrp="1"/>
          </p:cNvSpPr>
          <p:nvPr>
            <p:ph type="body" idx="1"/>
          </p:nvPr>
        </p:nvSpPr>
        <p:spPr>
          <a:xfrm>
            <a:off x="722313" y="290671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p17"/>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7"/>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7"/>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8"/>
          <p:cNvSpPr txBox="1">
            <a:spLocks noGrp="1"/>
          </p:cNvSpPr>
          <p:nvPr>
            <p:ph type="body" idx="1"/>
          </p:nvPr>
        </p:nvSpPr>
        <p:spPr>
          <a:xfrm>
            <a:off x="457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p18"/>
          <p:cNvSpPr txBox="1">
            <a:spLocks noGrp="1"/>
          </p:cNvSpPr>
          <p:nvPr>
            <p:ph type="body" idx="2"/>
          </p:nvPr>
        </p:nvSpPr>
        <p:spPr>
          <a:xfrm>
            <a:off x="4648200" y="1600200"/>
            <a:ext cx="4038600" cy="4526100"/>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p1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8"/>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9"/>
          <p:cNvSpPr txBox="1">
            <a:spLocks noGrp="1"/>
          </p:cNvSpPr>
          <p:nvPr>
            <p:ph type="body" idx="1"/>
          </p:nvPr>
        </p:nvSpPr>
        <p:spPr>
          <a:xfrm>
            <a:off x="457200" y="1535113"/>
            <a:ext cx="40401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p19"/>
          <p:cNvSpPr txBox="1">
            <a:spLocks noGrp="1"/>
          </p:cNvSpPr>
          <p:nvPr>
            <p:ph type="body" idx="2"/>
          </p:nvPr>
        </p:nvSpPr>
        <p:spPr>
          <a:xfrm>
            <a:off x="457200" y="2174875"/>
            <a:ext cx="40401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p19"/>
          <p:cNvSpPr txBox="1">
            <a:spLocks noGrp="1"/>
          </p:cNvSpPr>
          <p:nvPr>
            <p:ph type="body" idx="3"/>
          </p:nvPr>
        </p:nvSpPr>
        <p:spPr>
          <a:xfrm>
            <a:off x="4645025" y="1535113"/>
            <a:ext cx="4041900" cy="639900"/>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19"/>
          <p:cNvSpPr txBox="1">
            <a:spLocks noGrp="1"/>
          </p:cNvSpPr>
          <p:nvPr>
            <p:ph type="body" idx="4"/>
          </p:nvPr>
        </p:nvSpPr>
        <p:spPr>
          <a:xfrm>
            <a:off x="4645025" y="2174875"/>
            <a:ext cx="4041900" cy="3951300"/>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19"/>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9"/>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9"/>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0"/>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20"/>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20"/>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p21"/>
          <p:cNvSpPr txBox="1">
            <a:spLocks noGrp="1"/>
          </p:cNvSpPr>
          <p:nvPr>
            <p:ph type="title"/>
          </p:nvPr>
        </p:nvSpPr>
        <p:spPr>
          <a:xfrm>
            <a:off x="457200" y="273050"/>
            <a:ext cx="3008400" cy="11622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1"/>
          <p:cNvSpPr txBox="1">
            <a:spLocks noGrp="1"/>
          </p:cNvSpPr>
          <p:nvPr>
            <p:ph type="body" idx="1"/>
          </p:nvPr>
        </p:nvSpPr>
        <p:spPr>
          <a:xfrm>
            <a:off x="3575050" y="273050"/>
            <a:ext cx="5111700" cy="5853000"/>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p21"/>
          <p:cNvSpPr txBox="1">
            <a:spLocks noGrp="1"/>
          </p:cNvSpPr>
          <p:nvPr>
            <p:ph type="body" idx="2"/>
          </p:nvPr>
        </p:nvSpPr>
        <p:spPr>
          <a:xfrm>
            <a:off x="457200" y="1435100"/>
            <a:ext cx="3008400" cy="46911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p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p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p22"/>
          <p:cNvSpPr txBox="1">
            <a:spLocks noGrp="1"/>
          </p:cNvSpPr>
          <p:nvPr>
            <p:ph type="title"/>
          </p:nvPr>
        </p:nvSpPr>
        <p:spPr>
          <a:xfrm>
            <a:off x="1792288" y="4800600"/>
            <a:ext cx="54864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22"/>
          <p:cNvSpPr>
            <a:spLocks noGrp="1"/>
          </p:cNvSpPr>
          <p:nvPr>
            <p:ph type="pic" idx="2"/>
          </p:nvPr>
        </p:nvSpPr>
        <p:spPr>
          <a:xfrm>
            <a:off x="1792288" y="612775"/>
            <a:ext cx="5486400" cy="4114800"/>
          </a:xfrm>
          <a:prstGeom prst="rect">
            <a:avLst/>
          </a:prstGeom>
          <a:noFill/>
          <a:ln>
            <a:noFill/>
          </a:ln>
        </p:spPr>
      </p:sp>
      <p:sp>
        <p:nvSpPr>
          <p:cNvPr id="139" name="Google Shape;139;p22"/>
          <p:cNvSpPr txBox="1">
            <a:spLocks noGrp="1"/>
          </p:cNvSpPr>
          <p:nvPr>
            <p:ph type="body" idx="1"/>
          </p:nvPr>
        </p:nvSpPr>
        <p:spPr>
          <a:xfrm>
            <a:off x="1792288" y="536733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p22"/>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22"/>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2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p23"/>
          <p:cNvSpPr txBox="1">
            <a:spLocks noGrp="1"/>
          </p:cNvSpPr>
          <p:nvPr>
            <p:ph type="body" idx="1"/>
          </p:nvPr>
        </p:nvSpPr>
        <p:spPr>
          <a:xfrm rot="5400000">
            <a:off x="2308950" y="-251550"/>
            <a:ext cx="4526100"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p2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p2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rot="5400000">
            <a:off x="4732350" y="2171688"/>
            <a:ext cx="5851500"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p24"/>
          <p:cNvSpPr txBox="1">
            <a:spLocks noGrp="1"/>
          </p:cNvSpPr>
          <p:nvPr>
            <p:ph type="body" idx="1"/>
          </p:nvPr>
        </p:nvSpPr>
        <p:spPr>
          <a:xfrm rot="5400000">
            <a:off x="541350" y="190488"/>
            <a:ext cx="5851500"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p24"/>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p24"/>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2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p13"/>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lvl1pPr marL="457200" marR="0" lvl="0" indent="-431800" algn="l">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lvl1pPr marR="0" lvl="0" algn="l">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4" name="Google Shape;84;p13"/>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lvl1pPr marR="0" lvl="0" algn="ctr">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5" name="Google Shape;85;p1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a:ea typeface="Calibri"/>
                <a:cs typeface="Calibri"/>
                <a:sym typeface="Calibri"/>
              </a:defRPr>
            </a:lvl1pPr>
            <a:lvl2pPr marL="0" marR="0" lvl="1" indent="0" algn="r">
              <a:spcBef>
                <a:spcPts val="0"/>
              </a:spcBef>
              <a:buNone/>
              <a:defRPr sz="1200" b="0" i="0" u="none" strike="noStrike" cap="none">
                <a:solidFill>
                  <a:srgbClr val="888888"/>
                </a:solidFill>
                <a:latin typeface="Calibri"/>
                <a:ea typeface="Calibri"/>
                <a:cs typeface="Calibri"/>
                <a:sym typeface="Calibri"/>
              </a:defRPr>
            </a:lvl2pPr>
            <a:lvl3pPr marL="0" marR="0" lvl="2" indent="0" algn="r">
              <a:spcBef>
                <a:spcPts val="0"/>
              </a:spcBef>
              <a:buNone/>
              <a:defRPr sz="1200" b="0" i="0" u="none" strike="noStrike" cap="none">
                <a:solidFill>
                  <a:srgbClr val="888888"/>
                </a:solidFill>
                <a:latin typeface="Calibri"/>
                <a:ea typeface="Calibri"/>
                <a:cs typeface="Calibri"/>
                <a:sym typeface="Calibri"/>
              </a:defRPr>
            </a:lvl3pPr>
            <a:lvl4pPr marL="0" marR="0" lvl="3" indent="0" algn="r">
              <a:spcBef>
                <a:spcPts val="0"/>
              </a:spcBef>
              <a:buNone/>
              <a:defRPr sz="1200" b="0" i="0" u="none" strike="noStrike" cap="none">
                <a:solidFill>
                  <a:srgbClr val="888888"/>
                </a:solidFill>
                <a:latin typeface="Calibri"/>
                <a:ea typeface="Calibri"/>
                <a:cs typeface="Calibri"/>
                <a:sym typeface="Calibri"/>
              </a:defRPr>
            </a:lvl4pPr>
            <a:lvl5pPr marL="0" marR="0" lvl="4" indent="0" algn="r">
              <a:spcBef>
                <a:spcPts val="0"/>
              </a:spcBef>
              <a:buNone/>
              <a:defRPr sz="1200" b="0" i="0" u="none" strike="noStrike" cap="none">
                <a:solidFill>
                  <a:srgbClr val="888888"/>
                </a:solidFill>
                <a:latin typeface="Calibri"/>
                <a:ea typeface="Calibri"/>
                <a:cs typeface="Calibri"/>
                <a:sym typeface="Calibri"/>
              </a:defRPr>
            </a:lvl5pPr>
            <a:lvl6pPr marL="0" marR="0" lvl="5" indent="0" algn="r">
              <a:spcBef>
                <a:spcPts val="0"/>
              </a:spcBef>
              <a:buNone/>
              <a:defRPr sz="1200" b="0" i="0" u="none" strike="noStrike" cap="none">
                <a:solidFill>
                  <a:srgbClr val="888888"/>
                </a:solidFill>
                <a:latin typeface="Calibri"/>
                <a:ea typeface="Calibri"/>
                <a:cs typeface="Calibri"/>
                <a:sym typeface="Calibri"/>
              </a:defRPr>
            </a:lvl6pPr>
            <a:lvl7pPr marL="0" marR="0" lvl="6" indent="0" algn="r">
              <a:spcBef>
                <a:spcPts val="0"/>
              </a:spcBef>
              <a:buNone/>
              <a:defRPr sz="1200" b="0" i="0" u="none" strike="noStrike" cap="none">
                <a:solidFill>
                  <a:srgbClr val="888888"/>
                </a:solidFill>
                <a:latin typeface="Calibri"/>
                <a:ea typeface="Calibri"/>
                <a:cs typeface="Calibri"/>
                <a:sym typeface="Calibri"/>
              </a:defRPr>
            </a:lvl7pPr>
            <a:lvl8pPr marL="0" marR="0" lvl="7" indent="0" algn="r">
              <a:spcBef>
                <a:spcPts val="0"/>
              </a:spcBef>
              <a:buNone/>
              <a:defRPr sz="1200" b="0" i="0" u="none" strike="noStrike" cap="none">
                <a:solidFill>
                  <a:srgbClr val="888888"/>
                </a:solidFill>
                <a:latin typeface="Calibri"/>
                <a:ea typeface="Calibri"/>
                <a:cs typeface="Calibri"/>
                <a:sym typeface="Calibri"/>
              </a:defRPr>
            </a:lvl8pPr>
            <a:lvl9pPr marL="0" marR="0" lvl="8" indent="0" algn="r">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png"/><Relationship Id="rId7"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24.png"/><Relationship Id="rId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47.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9.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58"/>
        <p:cNvGrpSpPr/>
        <p:nvPr/>
      </p:nvGrpSpPr>
      <p:grpSpPr>
        <a:xfrm>
          <a:off x="0" y="0"/>
          <a:ext cx="0" cy="0"/>
          <a:chOff x="0" y="0"/>
          <a:chExt cx="0" cy="0"/>
        </a:xfrm>
      </p:grpSpPr>
      <p:pic>
        <p:nvPicPr>
          <p:cNvPr id="159" name="Google Shape;159;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0" name="Google Shape;160;p25" descr="image.png"/>
          <p:cNvPicPr preferRelativeResize="0"/>
          <p:nvPr/>
        </p:nvPicPr>
        <p:blipFill rotWithShape="1">
          <a:blip r:embed="rId4">
            <a:alphaModFix/>
          </a:blip>
          <a:srcRect/>
          <a:stretch/>
        </p:blipFill>
        <p:spPr>
          <a:xfrm>
            <a:off x="2786955" y="4068960"/>
            <a:ext cx="6617940" cy="1409700"/>
          </a:xfrm>
          <a:prstGeom prst="rect">
            <a:avLst/>
          </a:prstGeom>
          <a:noFill/>
          <a:ln>
            <a:noFill/>
          </a:ln>
        </p:spPr>
      </p:pic>
      <p:sp>
        <p:nvSpPr>
          <p:cNvPr id="161" name="Google Shape;161;p25"/>
          <p:cNvSpPr txBox="1"/>
          <p:nvPr/>
        </p:nvSpPr>
        <p:spPr>
          <a:xfrm>
            <a:off x="766119" y="1379339"/>
            <a:ext cx="9951307" cy="1828193"/>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dirty="0">
                <a:solidFill>
                  <a:srgbClr val="38BDF8"/>
                </a:solidFill>
                <a:latin typeface="Urbanist"/>
                <a:ea typeface="Urbanist"/>
                <a:cs typeface="Urbanist"/>
                <a:sym typeface="Urbanist"/>
              </a:rPr>
              <a:t>Behavior-Based</a:t>
            </a:r>
            <a:br>
              <a:rPr lang="en-US" sz="1800" b="0" i="0" u="none" strike="noStrike" cap="none" dirty="0">
                <a:solidFill>
                  <a:schemeClr val="dk1"/>
                </a:solidFill>
                <a:latin typeface="Calibri"/>
                <a:ea typeface="Calibri"/>
                <a:cs typeface="Calibri"/>
                <a:sym typeface="Calibri"/>
              </a:rPr>
            </a:br>
            <a:r>
              <a:rPr lang="en-US" sz="5400" b="1" i="0" u="none" strike="noStrike" cap="none" dirty="0">
                <a:solidFill>
                  <a:srgbClr val="38BDF8"/>
                </a:solidFill>
                <a:latin typeface="Urbanist"/>
                <a:ea typeface="Urbanist"/>
                <a:cs typeface="Urbanist"/>
                <a:sym typeface="Urbanist"/>
              </a:rPr>
              <a:t> Telemetry Analytics</a:t>
            </a:r>
            <a:endParaRPr dirty="0"/>
          </a:p>
        </p:txBody>
      </p:sp>
      <p:sp>
        <p:nvSpPr>
          <p:cNvPr id="162" name="Google Shape;162;p25"/>
          <p:cNvSpPr txBox="1"/>
          <p:nvPr/>
        </p:nvSpPr>
        <p:spPr>
          <a:xfrm>
            <a:off x="2538424" y="3172285"/>
            <a:ext cx="7115100" cy="3231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100" b="0" i="0" u="none" strike="noStrike" cap="none">
                <a:solidFill>
                  <a:srgbClr val="94A3B8"/>
                </a:solidFill>
                <a:latin typeface="Lato"/>
                <a:ea typeface="Lato"/>
                <a:cs typeface="Lato"/>
                <a:sym typeface="Lato"/>
              </a:rPr>
              <a:t>Heatmap-Driven Detection in ICS Environment</a:t>
            </a:r>
            <a:endParaRPr/>
          </a:p>
        </p:txBody>
      </p:sp>
      <p:sp>
        <p:nvSpPr>
          <p:cNvPr id="163" name="Google Shape;163;p25"/>
          <p:cNvSpPr txBox="1"/>
          <p:nvPr/>
        </p:nvSpPr>
        <p:spPr>
          <a:xfrm>
            <a:off x="2786955" y="4364235"/>
            <a:ext cx="661794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1" i="0" u="none" strike="noStrike" cap="none">
                <a:solidFill>
                  <a:srgbClr val="F8FAFC"/>
                </a:solidFill>
                <a:latin typeface="Lato"/>
                <a:ea typeface="Lato"/>
                <a:cs typeface="Lato"/>
                <a:sym typeface="Lato"/>
              </a:rPr>
              <a:t>Jeytha Sahana Venkatesh Babu, Jyothi Popuri, Akash Pabshetwar</a:t>
            </a:r>
            <a:endParaRPr/>
          </a:p>
        </p:txBody>
      </p:sp>
      <p:sp>
        <p:nvSpPr>
          <p:cNvPr id="164" name="Google Shape;164;p25"/>
          <p:cNvSpPr txBox="1"/>
          <p:nvPr/>
        </p:nvSpPr>
        <p:spPr>
          <a:xfrm>
            <a:off x="2786955" y="4735710"/>
            <a:ext cx="661794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Cybersecurity Capstone Project - CYB-691 | Pace University</a:t>
            </a:r>
            <a:endParaRPr/>
          </a:p>
        </p:txBody>
      </p:sp>
      <p:sp>
        <p:nvSpPr>
          <p:cNvPr id="165" name="Google Shape;165;p25"/>
          <p:cNvSpPr txBox="1"/>
          <p:nvPr/>
        </p:nvSpPr>
        <p:spPr>
          <a:xfrm>
            <a:off x="2786955" y="5107185"/>
            <a:ext cx="661794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Instructor: Professor Joe Acampora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69"/>
        <p:cNvGrpSpPr/>
        <p:nvPr/>
      </p:nvGrpSpPr>
      <p:grpSpPr>
        <a:xfrm>
          <a:off x="0" y="0"/>
          <a:ext cx="0" cy="0"/>
          <a:chOff x="0" y="0"/>
          <a:chExt cx="0" cy="0"/>
        </a:xfrm>
      </p:grpSpPr>
      <p:pic>
        <p:nvPicPr>
          <p:cNvPr id="170" name="Google Shape;170;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1" name="Google Shape;171;p26"/>
          <p:cNvSpPr txBox="1"/>
          <p:nvPr/>
        </p:nvSpPr>
        <p:spPr>
          <a:xfrm>
            <a:off x="581025" y="2590800"/>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The Vision</a:t>
            </a:r>
            <a:endParaRPr/>
          </a:p>
        </p:txBody>
      </p:sp>
      <p:sp>
        <p:nvSpPr>
          <p:cNvPr id="172" name="Google Shape;172;p26"/>
          <p:cNvSpPr txBox="1"/>
          <p:nvPr/>
        </p:nvSpPr>
        <p:spPr>
          <a:xfrm>
            <a:off x="581025" y="3028950"/>
            <a:ext cx="5324475" cy="10287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Industrial Control Systems (ICS) are the backbone of critical infrastructure. This research presents a behavior-based telemetry analytics module integrated into NYMEGA, bridging packet-level inspection and long-term anomaly detection.</a:t>
            </a:r>
            <a:endParaRPr/>
          </a:p>
        </p:txBody>
      </p:sp>
      <p:sp>
        <p:nvSpPr>
          <p:cNvPr id="173" name="Google Shape;173;p26"/>
          <p:cNvSpPr txBox="1"/>
          <p:nvPr/>
        </p:nvSpPr>
        <p:spPr>
          <a:xfrm>
            <a:off x="581025" y="4171950"/>
            <a:ext cx="53244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By visualizing communication intensity across PLCs via heatmaps, we detect "low-and-slow" attacks that evade traditional signature-based security controls.</a:t>
            </a:r>
            <a:endParaRPr/>
          </a:p>
        </p:txBody>
      </p:sp>
      <p:sp>
        <p:nvSpPr>
          <p:cNvPr id="174" name="Google Shape;174;p26"/>
          <p:cNvSpPr txBox="1"/>
          <p:nvPr/>
        </p:nvSpPr>
        <p:spPr>
          <a:xfrm>
            <a:off x="6286500" y="2590800"/>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Key Focus Areas</a:t>
            </a:r>
            <a:endParaRPr/>
          </a:p>
        </p:txBody>
      </p:sp>
      <p:sp>
        <p:nvSpPr>
          <p:cNvPr id="175" name="Google Shape;175;p26"/>
          <p:cNvSpPr txBox="1"/>
          <p:nvPr/>
        </p:nvSpPr>
        <p:spPr>
          <a:xfrm>
            <a:off x="6619875" y="3067050"/>
            <a:ext cx="4991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Modbus TCP Protocol Security</a:t>
            </a:r>
            <a:endParaRPr/>
          </a:p>
        </p:txBody>
      </p:sp>
      <p:sp>
        <p:nvSpPr>
          <p:cNvPr id="176" name="Google Shape;176;p26"/>
          <p:cNvSpPr txBox="1"/>
          <p:nvPr/>
        </p:nvSpPr>
        <p:spPr>
          <a:xfrm>
            <a:off x="6619875" y="3467100"/>
            <a:ext cx="4991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Time-Series Behavioral Baselining</a:t>
            </a:r>
            <a:endParaRPr/>
          </a:p>
        </p:txBody>
      </p:sp>
      <p:sp>
        <p:nvSpPr>
          <p:cNvPr id="177" name="Google Shape;177;p26"/>
          <p:cNvSpPr txBox="1"/>
          <p:nvPr/>
        </p:nvSpPr>
        <p:spPr>
          <a:xfrm>
            <a:off x="6619875" y="3867150"/>
            <a:ext cx="4991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Heatmap Visual Analytics</a:t>
            </a:r>
            <a:endParaRPr/>
          </a:p>
        </p:txBody>
      </p:sp>
      <p:sp>
        <p:nvSpPr>
          <p:cNvPr id="178" name="Google Shape;178;p26"/>
          <p:cNvSpPr txBox="1"/>
          <p:nvPr/>
        </p:nvSpPr>
        <p:spPr>
          <a:xfrm>
            <a:off x="6619875" y="4267200"/>
            <a:ext cx="4991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Wazuh &amp; Snort Integration</a:t>
            </a:r>
            <a:endParaRPr/>
          </a:p>
        </p:txBody>
      </p:sp>
      <p:pic>
        <p:nvPicPr>
          <p:cNvPr id="179" name="Google Shape;179;p26" descr="image.png"/>
          <p:cNvPicPr preferRelativeResize="0"/>
          <p:nvPr/>
        </p:nvPicPr>
        <p:blipFill rotWithShape="1">
          <a:blip r:embed="rId4">
            <a:alphaModFix/>
          </a:blip>
          <a:srcRect/>
          <a:stretch/>
        </p:blipFill>
        <p:spPr>
          <a:xfrm>
            <a:off x="6286500" y="3100387"/>
            <a:ext cx="190500" cy="200025"/>
          </a:xfrm>
          <a:prstGeom prst="rect">
            <a:avLst/>
          </a:prstGeom>
          <a:noFill/>
          <a:ln>
            <a:noFill/>
          </a:ln>
        </p:spPr>
      </p:pic>
      <p:pic>
        <p:nvPicPr>
          <p:cNvPr id="180" name="Google Shape;180;p26" descr="image.png"/>
          <p:cNvPicPr preferRelativeResize="0"/>
          <p:nvPr/>
        </p:nvPicPr>
        <p:blipFill rotWithShape="1">
          <a:blip r:embed="rId5">
            <a:alphaModFix/>
          </a:blip>
          <a:srcRect/>
          <a:stretch/>
        </p:blipFill>
        <p:spPr>
          <a:xfrm>
            <a:off x="6286500" y="3500437"/>
            <a:ext cx="190500" cy="200025"/>
          </a:xfrm>
          <a:prstGeom prst="rect">
            <a:avLst/>
          </a:prstGeom>
          <a:noFill/>
          <a:ln>
            <a:noFill/>
          </a:ln>
        </p:spPr>
      </p:pic>
      <p:pic>
        <p:nvPicPr>
          <p:cNvPr id="181" name="Google Shape;181;p26" descr="image.png"/>
          <p:cNvPicPr preferRelativeResize="0"/>
          <p:nvPr/>
        </p:nvPicPr>
        <p:blipFill rotWithShape="1">
          <a:blip r:embed="rId6">
            <a:alphaModFix/>
          </a:blip>
          <a:srcRect/>
          <a:stretch/>
        </p:blipFill>
        <p:spPr>
          <a:xfrm>
            <a:off x="6286500" y="3900487"/>
            <a:ext cx="142875" cy="200025"/>
          </a:xfrm>
          <a:prstGeom prst="rect">
            <a:avLst/>
          </a:prstGeom>
          <a:noFill/>
          <a:ln>
            <a:noFill/>
          </a:ln>
        </p:spPr>
      </p:pic>
      <p:pic>
        <p:nvPicPr>
          <p:cNvPr id="182" name="Google Shape;182;p26" descr="image.png"/>
          <p:cNvPicPr preferRelativeResize="0"/>
          <p:nvPr/>
        </p:nvPicPr>
        <p:blipFill rotWithShape="1">
          <a:blip r:embed="rId7">
            <a:alphaModFix/>
          </a:blip>
          <a:srcRect/>
          <a:stretch/>
        </p:blipFill>
        <p:spPr>
          <a:xfrm>
            <a:off x="6286500" y="4300537"/>
            <a:ext cx="171450" cy="200025"/>
          </a:xfrm>
          <a:prstGeom prst="rect">
            <a:avLst/>
          </a:prstGeom>
          <a:noFill/>
          <a:ln>
            <a:noFill/>
          </a:ln>
        </p:spPr>
      </p:pic>
      <p:sp>
        <p:nvSpPr>
          <p:cNvPr id="183" name="Google Shape;183;p26"/>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Project Abstract &amp; Scope</a:t>
            </a:r>
            <a:endParaRPr/>
          </a:p>
        </p:txBody>
      </p:sp>
      <p:sp>
        <p:nvSpPr>
          <p:cNvPr id="184" name="Google Shape;184;p26"/>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188"/>
        <p:cNvGrpSpPr/>
        <p:nvPr/>
      </p:nvGrpSpPr>
      <p:grpSpPr>
        <a:xfrm>
          <a:off x="0" y="0"/>
          <a:ext cx="0" cy="0"/>
          <a:chOff x="0" y="0"/>
          <a:chExt cx="0" cy="0"/>
        </a:xfrm>
      </p:grpSpPr>
      <p:pic>
        <p:nvPicPr>
          <p:cNvPr id="189" name="Google Shape;189;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0" name="Google Shape;190;p27" descr="image.png"/>
          <p:cNvPicPr preferRelativeResize="0"/>
          <p:nvPr/>
        </p:nvPicPr>
        <p:blipFill rotWithShape="1">
          <a:blip r:embed="rId4">
            <a:alphaModFix/>
          </a:blip>
          <a:srcRect/>
          <a:stretch/>
        </p:blipFill>
        <p:spPr>
          <a:xfrm>
            <a:off x="581025" y="2605087"/>
            <a:ext cx="3549699" cy="2438400"/>
          </a:xfrm>
          <a:prstGeom prst="rect">
            <a:avLst/>
          </a:prstGeom>
          <a:noFill/>
          <a:ln>
            <a:noFill/>
          </a:ln>
        </p:spPr>
      </p:pic>
      <p:pic>
        <p:nvPicPr>
          <p:cNvPr id="191" name="Google Shape;191;p27" descr="image.png"/>
          <p:cNvPicPr preferRelativeResize="0"/>
          <p:nvPr/>
        </p:nvPicPr>
        <p:blipFill rotWithShape="1">
          <a:blip r:embed="rId5">
            <a:alphaModFix/>
          </a:blip>
          <a:srcRect/>
          <a:stretch/>
        </p:blipFill>
        <p:spPr>
          <a:xfrm>
            <a:off x="4321224" y="2605087"/>
            <a:ext cx="3549699" cy="2438400"/>
          </a:xfrm>
          <a:prstGeom prst="rect">
            <a:avLst/>
          </a:prstGeom>
          <a:noFill/>
          <a:ln>
            <a:noFill/>
          </a:ln>
        </p:spPr>
      </p:pic>
      <p:pic>
        <p:nvPicPr>
          <p:cNvPr id="192" name="Google Shape;192;p27" descr="image.png"/>
          <p:cNvPicPr preferRelativeResize="0"/>
          <p:nvPr/>
        </p:nvPicPr>
        <p:blipFill rotWithShape="1">
          <a:blip r:embed="rId6">
            <a:alphaModFix/>
          </a:blip>
          <a:srcRect/>
          <a:stretch/>
        </p:blipFill>
        <p:spPr>
          <a:xfrm>
            <a:off x="8061424" y="2605087"/>
            <a:ext cx="3549699" cy="2438400"/>
          </a:xfrm>
          <a:prstGeom prst="rect">
            <a:avLst/>
          </a:prstGeom>
          <a:noFill/>
          <a:ln>
            <a:noFill/>
          </a:ln>
        </p:spPr>
      </p:pic>
      <p:sp>
        <p:nvSpPr>
          <p:cNvPr id="193" name="Google Shape;193;p27"/>
          <p:cNvSpPr txBox="1"/>
          <p:nvPr/>
        </p:nvSpPr>
        <p:spPr>
          <a:xfrm>
            <a:off x="752315" y="3471862"/>
            <a:ext cx="320711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Protocol Insecurity</a:t>
            </a:r>
            <a:endParaRPr/>
          </a:p>
        </p:txBody>
      </p:sp>
      <p:sp>
        <p:nvSpPr>
          <p:cNvPr id="194" name="Google Shape;194;p27"/>
          <p:cNvSpPr txBox="1"/>
          <p:nvPr/>
        </p:nvSpPr>
        <p:spPr>
          <a:xfrm>
            <a:off x="828675" y="3910012"/>
            <a:ext cx="3054399"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Modbus and DNP3 were designed for availability, lacking authentication or encryption by default.</a:t>
            </a:r>
            <a:endParaRPr/>
          </a:p>
        </p:txBody>
      </p:sp>
      <p:sp>
        <p:nvSpPr>
          <p:cNvPr id="195" name="Google Shape;195;p27"/>
          <p:cNvSpPr txBox="1"/>
          <p:nvPr/>
        </p:nvSpPr>
        <p:spPr>
          <a:xfrm>
            <a:off x="4492514" y="3471862"/>
            <a:ext cx="320711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"Low-and-Slow"</a:t>
            </a:r>
            <a:endParaRPr/>
          </a:p>
        </p:txBody>
      </p:sp>
      <p:sp>
        <p:nvSpPr>
          <p:cNvPr id="196" name="Google Shape;196;p27"/>
          <p:cNvSpPr txBox="1"/>
          <p:nvPr/>
        </p:nvSpPr>
        <p:spPr>
          <a:xfrm>
            <a:off x="4568874" y="3910012"/>
            <a:ext cx="3054399"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Adversaries use valid commands at abnormal frequencies or sequences to blend into normal traffic.</a:t>
            </a:r>
            <a:endParaRPr/>
          </a:p>
        </p:txBody>
      </p:sp>
      <p:sp>
        <p:nvSpPr>
          <p:cNvPr id="197" name="Google Shape;197;p27"/>
          <p:cNvSpPr txBox="1"/>
          <p:nvPr/>
        </p:nvSpPr>
        <p:spPr>
          <a:xfrm>
            <a:off x="8232714" y="3471862"/>
            <a:ext cx="320711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Visibility Gap</a:t>
            </a:r>
            <a:endParaRPr/>
          </a:p>
        </p:txBody>
      </p:sp>
      <p:sp>
        <p:nvSpPr>
          <p:cNvPr id="198" name="Google Shape;198;p27"/>
          <p:cNvSpPr txBox="1"/>
          <p:nvPr/>
        </p:nvSpPr>
        <p:spPr>
          <a:xfrm>
            <a:off x="8309074" y="3910012"/>
            <a:ext cx="3054399"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Existing packet inspection fails to capture long-term reconnaissance and operational misuse.</a:t>
            </a:r>
            <a:endParaRPr/>
          </a:p>
        </p:txBody>
      </p:sp>
      <p:pic>
        <p:nvPicPr>
          <p:cNvPr id="199" name="Google Shape;199;p27" descr="image.png"/>
          <p:cNvPicPr preferRelativeResize="0"/>
          <p:nvPr/>
        </p:nvPicPr>
        <p:blipFill rotWithShape="1">
          <a:blip r:embed="rId7">
            <a:alphaModFix/>
          </a:blip>
          <a:srcRect/>
          <a:stretch/>
        </p:blipFill>
        <p:spPr>
          <a:xfrm>
            <a:off x="2131962" y="2890837"/>
            <a:ext cx="447675" cy="400050"/>
          </a:xfrm>
          <a:prstGeom prst="rect">
            <a:avLst/>
          </a:prstGeom>
          <a:noFill/>
          <a:ln>
            <a:noFill/>
          </a:ln>
        </p:spPr>
      </p:pic>
      <p:pic>
        <p:nvPicPr>
          <p:cNvPr id="200" name="Google Shape;200;p27" descr="image.png"/>
          <p:cNvPicPr preferRelativeResize="0"/>
          <p:nvPr/>
        </p:nvPicPr>
        <p:blipFill rotWithShape="1">
          <a:blip r:embed="rId8">
            <a:alphaModFix/>
          </a:blip>
          <a:srcRect/>
          <a:stretch/>
        </p:blipFill>
        <p:spPr>
          <a:xfrm>
            <a:off x="5895975" y="2890837"/>
            <a:ext cx="400050" cy="400050"/>
          </a:xfrm>
          <a:prstGeom prst="rect">
            <a:avLst/>
          </a:prstGeom>
          <a:noFill/>
          <a:ln>
            <a:noFill/>
          </a:ln>
        </p:spPr>
      </p:pic>
      <p:pic>
        <p:nvPicPr>
          <p:cNvPr id="201" name="Google Shape;201;p27" descr="image.png"/>
          <p:cNvPicPr preferRelativeResize="0"/>
          <p:nvPr/>
        </p:nvPicPr>
        <p:blipFill rotWithShape="1">
          <a:blip r:embed="rId9">
            <a:alphaModFix/>
          </a:blip>
          <a:srcRect/>
          <a:stretch/>
        </p:blipFill>
        <p:spPr>
          <a:xfrm>
            <a:off x="9583787" y="2890837"/>
            <a:ext cx="504825" cy="400050"/>
          </a:xfrm>
          <a:prstGeom prst="rect">
            <a:avLst/>
          </a:prstGeom>
          <a:noFill/>
          <a:ln>
            <a:noFill/>
          </a:ln>
        </p:spPr>
      </p:pic>
      <p:sp>
        <p:nvSpPr>
          <p:cNvPr id="202" name="Google Shape;202;p27"/>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The Challenge: Stealthy ICS Attacks</a:t>
            </a:r>
            <a:endParaRPr/>
          </a:p>
        </p:txBody>
      </p:sp>
      <p:sp>
        <p:nvSpPr>
          <p:cNvPr id="203" name="Google Shape;203;p27"/>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07"/>
        <p:cNvGrpSpPr/>
        <p:nvPr/>
      </p:nvGrpSpPr>
      <p:grpSpPr>
        <a:xfrm>
          <a:off x="0" y="0"/>
          <a:ext cx="0" cy="0"/>
          <a:chOff x="0" y="0"/>
          <a:chExt cx="0" cy="0"/>
        </a:xfrm>
      </p:grpSpPr>
      <p:pic>
        <p:nvPicPr>
          <p:cNvPr id="208" name="Google Shape;208;p28" descr="image.png"/>
          <p:cNvPicPr preferRelativeResize="0"/>
          <p:nvPr/>
        </p:nvPicPr>
        <p:blipFill rotWithShape="1">
          <a:blip r:embed="rId3">
            <a:alphaModFix/>
          </a:blip>
          <a:srcRect/>
          <a:stretch/>
        </p:blipFill>
        <p:spPr>
          <a:xfrm>
            <a:off x="0" y="9525"/>
            <a:ext cx="12192000" cy="6858000"/>
          </a:xfrm>
          <a:prstGeom prst="rect">
            <a:avLst/>
          </a:prstGeom>
          <a:noFill/>
          <a:ln>
            <a:noFill/>
          </a:ln>
        </p:spPr>
      </p:pic>
      <p:sp>
        <p:nvSpPr>
          <p:cNvPr id="209" name="Google Shape;209;p28"/>
          <p:cNvSpPr txBox="1"/>
          <p:nvPr/>
        </p:nvSpPr>
        <p:spPr>
          <a:xfrm>
            <a:off x="771525" y="1971675"/>
            <a:ext cx="4990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The ICS Range</a:t>
            </a:r>
            <a:endParaRPr/>
          </a:p>
        </p:txBody>
      </p:sp>
      <p:sp>
        <p:nvSpPr>
          <p:cNvPr id="210" name="Google Shape;210;p28"/>
          <p:cNvSpPr/>
          <p:nvPr/>
        </p:nvSpPr>
        <p:spPr>
          <a:xfrm>
            <a:off x="581025" y="197167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1" name="Google Shape;211;p28" descr="image.png"/>
          <p:cNvPicPr preferRelativeResize="0"/>
          <p:nvPr/>
        </p:nvPicPr>
        <p:blipFill rotWithShape="1">
          <a:blip r:embed="rId4">
            <a:alphaModFix/>
          </a:blip>
          <a:srcRect/>
          <a:stretch/>
        </p:blipFill>
        <p:spPr>
          <a:xfrm>
            <a:off x="6096000" y="9525"/>
            <a:ext cx="2209800" cy="180975"/>
          </a:xfrm>
          <a:prstGeom prst="rect">
            <a:avLst/>
          </a:prstGeom>
          <a:noFill/>
          <a:ln>
            <a:noFill/>
          </a:ln>
        </p:spPr>
      </p:pic>
      <p:sp>
        <p:nvSpPr>
          <p:cNvPr id="212" name="Google Shape;212;p28"/>
          <p:cNvSpPr txBox="1"/>
          <p:nvPr/>
        </p:nvSpPr>
        <p:spPr>
          <a:xfrm>
            <a:off x="581025" y="2762250"/>
            <a:ext cx="49434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A high-fidelity cyber-physical simulation platform spanning dam operations, electrical substations, and gas systems.</a:t>
            </a:r>
            <a:endParaRPr/>
          </a:p>
        </p:txBody>
      </p:sp>
      <p:sp>
        <p:nvSpPr>
          <p:cNvPr id="213" name="Google Shape;213;p28"/>
          <p:cNvSpPr txBox="1"/>
          <p:nvPr/>
        </p:nvSpPr>
        <p:spPr>
          <a:xfrm>
            <a:off x="581025" y="3390900"/>
            <a:ext cx="49434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Built using the Purdue Model, the environment segments Business IT, Operations Management, and Field Devices into distinct security zones.</a:t>
            </a:r>
            <a:endParaRPr/>
          </a:p>
        </p:txBody>
      </p:sp>
      <p:sp>
        <p:nvSpPr>
          <p:cNvPr id="214" name="Google Shape;214;p28"/>
          <p:cNvSpPr txBox="1"/>
          <p:nvPr/>
        </p:nvSpPr>
        <p:spPr>
          <a:xfrm>
            <a:off x="581025" y="4276725"/>
            <a:ext cx="49434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Primary Monitoring:</a:t>
            </a:r>
            <a:r>
              <a:rPr lang="en-US" sz="1350" b="0" i="0" u="none" strike="noStrike" cap="none">
                <a:solidFill>
                  <a:srgbClr val="94A3B8"/>
                </a:solidFill>
                <a:latin typeface="Lato"/>
                <a:ea typeface="Lato"/>
                <a:cs typeface="Lato"/>
                <a:sym typeface="Lato"/>
              </a:rPr>
              <a:t> Modbus TCP traffic, pfSense firewall logs, and host-based Wazuh agents.</a:t>
            </a:r>
            <a:endParaRPr/>
          </a:p>
        </p:txBody>
      </p:sp>
      <p:pic>
        <p:nvPicPr>
          <p:cNvPr id="215" name="Google Shape;215;p28"/>
          <p:cNvPicPr preferRelativeResize="0"/>
          <p:nvPr/>
        </p:nvPicPr>
        <p:blipFill rotWithShape="1">
          <a:blip r:embed="rId5">
            <a:alphaModFix/>
          </a:blip>
          <a:srcRect/>
          <a:stretch/>
        </p:blipFill>
        <p:spPr>
          <a:xfrm>
            <a:off x="5692775" y="1199500"/>
            <a:ext cx="6253501" cy="41690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0808"/>
        </a:solidFill>
        <a:effectLst/>
      </p:bgPr>
    </p:bg>
    <p:spTree>
      <p:nvGrpSpPr>
        <p:cNvPr id="1" name="Shape 219"/>
        <p:cNvGrpSpPr/>
        <p:nvPr/>
      </p:nvGrpSpPr>
      <p:grpSpPr>
        <a:xfrm>
          <a:off x="0" y="0"/>
          <a:ext cx="0" cy="0"/>
          <a:chOff x="0" y="0"/>
          <a:chExt cx="0" cy="0"/>
        </a:xfrm>
      </p:grpSpPr>
      <p:pic>
        <p:nvPicPr>
          <p:cNvPr id="220" name="Google Shape;220;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1" name="Google Shape;221;p29" descr="image.png"/>
          <p:cNvPicPr preferRelativeResize="0"/>
          <p:nvPr/>
        </p:nvPicPr>
        <p:blipFill rotWithShape="1">
          <a:blip r:embed="rId4">
            <a:alphaModFix/>
          </a:blip>
          <a:srcRect/>
          <a:stretch/>
        </p:blipFill>
        <p:spPr>
          <a:xfrm>
            <a:off x="6334125" y="1833413"/>
            <a:ext cx="5181600" cy="4010173"/>
          </a:xfrm>
          <a:prstGeom prst="rect">
            <a:avLst/>
          </a:prstGeom>
          <a:noFill/>
          <a:ln>
            <a:noFill/>
          </a:ln>
        </p:spPr>
      </p:pic>
      <p:sp>
        <p:nvSpPr>
          <p:cNvPr id="222" name="Google Shape;222;p29"/>
          <p:cNvSpPr txBox="1"/>
          <p:nvPr/>
        </p:nvSpPr>
        <p:spPr>
          <a:xfrm>
            <a:off x="676275" y="1833413"/>
            <a:ext cx="5440800" cy="300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DEFF9A"/>
                </a:solidFill>
                <a:latin typeface="Urbanist SemiBold"/>
                <a:ea typeface="Urbanist SemiBold"/>
                <a:cs typeface="Urbanist SemiBold"/>
                <a:sym typeface="Urbanist SemiBold"/>
              </a:rPr>
              <a:t>Logical Segmentation</a:t>
            </a:r>
            <a:endParaRPr/>
          </a:p>
        </p:txBody>
      </p:sp>
      <p:sp>
        <p:nvSpPr>
          <p:cNvPr id="223" name="Google Shape;223;p29"/>
          <p:cNvSpPr txBox="1"/>
          <p:nvPr/>
        </p:nvSpPr>
        <p:spPr>
          <a:xfrm>
            <a:off x="676275" y="2319188"/>
            <a:ext cx="5181600" cy="5484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Lato"/>
                <a:ea typeface="Lato"/>
                <a:cs typeface="Lato"/>
                <a:sym typeface="Lato"/>
              </a:rPr>
              <a:t>NYMEGA adheres to the Purdue Enterprise Reference Architecture to separate IT and OT domains.</a:t>
            </a:r>
            <a:endParaRPr/>
          </a:p>
        </p:txBody>
      </p:sp>
      <p:pic>
        <p:nvPicPr>
          <p:cNvPr id="224" name="Google Shape;224;p29" descr="image.png"/>
          <p:cNvPicPr preferRelativeResize="0"/>
          <p:nvPr/>
        </p:nvPicPr>
        <p:blipFill rotWithShape="1">
          <a:blip r:embed="rId5">
            <a:alphaModFix/>
          </a:blip>
          <a:srcRect/>
          <a:stretch/>
        </p:blipFill>
        <p:spPr>
          <a:xfrm>
            <a:off x="5755550" y="1388300"/>
            <a:ext cx="5750651" cy="4445750"/>
          </a:xfrm>
          <a:prstGeom prst="rect">
            <a:avLst/>
          </a:prstGeom>
          <a:noFill/>
          <a:ln>
            <a:noFill/>
          </a:ln>
        </p:spPr>
      </p:pic>
      <p:sp>
        <p:nvSpPr>
          <p:cNvPr id="225" name="Google Shape;225;p29"/>
          <p:cNvSpPr txBox="1"/>
          <p:nvPr/>
        </p:nvSpPr>
        <p:spPr>
          <a:xfrm>
            <a:off x="952500" y="3002607"/>
            <a:ext cx="1047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AFFDE"/>
                </a:solidFill>
                <a:latin typeface="Lato"/>
                <a:ea typeface="Lato"/>
                <a:cs typeface="Lato"/>
                <a:sym typeface="Lato"/>
              </a:rPr>
              <a:t>•</a:t>
            </a:r>
            <a:endParaRPr/>
          </a:p>
        </p:txBody>
      </p:sp>
      <p:sp>
        <p:nvSpPr>
          <p:cNvPr id="226" name="Google Shape;226;p29"/>
          <p:cNvSpPr txBox="1"/>
          <p:nvPr/>
        </p:nvSpPr>
        <p:spPr>
          <a:xfrm>
            <a:off x="1057275" y="3004988"/>
            <a:ext cx="48006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Lato"/>
                <a:ea typeface="Lato"/>
                <a:cs typeface="Lato"/>
                <a:sym typeface="Lato"/>
              </a:rPr>
              <a:t>Level 4:</a:t>
            </a:r>
            <a:r>
              <a:rPr lang="en-US" sz="1425" b="0" i="0" u="none" strike="noStrike" cap="none">
                <a:solidFill>
                  <a:srgbClr val="DAFFDE"/>
                </a:solidFill>
                <a:latin typeface="Lato"/>
                <a:ea typeface="Lato"/>
                <a:cs typeface="Lato"/>
                <a:sym typeface="Lato"/>
              </a:rPr>
              <a:t> Enterprise IT Network.</a:t>
            </a:r>
            <a:endParaRPr/>
          </a:p>
        </p:txBody>
      </p:sp>
      <p:sp>
        <p:nvSpPr>
          <p:cNvPr id="227" name="Google Shape;227;p29"/>
          <p:cNvSpPr txBox="1"/>
          <p:nvPr/>
        </p:nvSpPr>
        <p:spPr>
          <a:xfrm>
            <a:off x="952500" y="3369319"/>
            <a:ext cx="1047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AFFDE"/>
                </a:solidFill>
                <a:latin typeface="Lato"/>
                <a:ea typeface="Lato"/>
                <a:cs typeface="Lato"/>
                <a:sym typeface="Lato"/>
              </a:rPr>
              <a:t>•</a:t>
            </a:r>
            <a:endParaRPr/>
          </a:p>
        </p:txBody>
      </p:sp>
      <p:sp>
        <p:nvSpPr>
          <p:cNvPr id="228" name="Google Shape;228;p29"/>
          <p:cNvSpPr txBox="1"/>
          <p:nvPr/>
        </p:nvSpPr>
        <p:spPr>
          <a:xfrm>
            <a:off x="1057275" y="3371701"/>
            <a:ext cx="48006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Lato"/>
                <a:ea typeface="Lato"/>
                <a:cs typeface="Lato"/>
                <a:sym typeface="Lato"/>
              </a:rPr>
              <a:t>Level 3:</a:t>
            </a:r>
            <a:r>
              <a:rPr lang="en-US" sz="1425" b="0" i="0" u="none" strike="noStrike" cap="none">
                <a:solidFill>
                  <a:srgbClr val="DAFFDE"/>
                </a:solidFill>
                <a:latin typeface="Lato"/>
                <a:ea typeface="Lato"/>
                <a:cs typeface="Lato"/>
                <a:sym typeface="Lato"/>
              </a:rPr>
              <a:t> Operations Management (Historian, Wazuh).</a:t>
            </a:r>
            <a:endParaRPr/>
          </a:p>
        </p:txBody>
      </p:sp>
      <p:sp>
        <p:nvSpPr>
          <p:cNvPr id="229" name="Google Shape;229;p29"/>
          <p:cNvSpPr txBox="1"/>
          <p:nvPr/>
        </p:nvSpPr>
        <p:spPr>
          <a:xfrm>
            <a:off x="952500" y="3736032"/>
            <a:ext cx="1047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AFFDE"/>
                </a:solidFill>
                <a:latin typeface="Lato"/>
                <a:ea typeface="Lato"/>
                <a:cs typeface="Lato"/>
                <a:sym typeface="Lato"/>
              </a:rPr>
              <a:t>•</a:t>
            </a:r>
            <a:endParaRPr/>
          </a:p>
        </p:txBody>
      </p:sp>
      <p:sp>
        <p:nvSpPr>
          <p:cNvPr id="230" name="Google Shape;230;p29"/>
          <p:cNvSpPr txBox="1"/>
          <p:nvPr/>
        </p:nvSpPr>
        <p:spPr>
          <a:xfrm>
            <a:off x="1057275" y="3738413"/>
            <a:ext cx="48006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Lato"/>
                <a:ea typeface="Lato"/>
                <a:cs typeface="Lato"/>
                <a:sym typeface="Lato"/>
              </a:rPr>
              <a:t>Level 1-2:</a:t>
            </a:r>
            <a:r>
              <a:rPr lang="en-US" sz="1425" b="0" i="0" u="none" strike="noStrike" cap="none">
                <a:solidFill>
                  <a:srgbClr val="DAFFDE"/>
                </a:solidFill>
                <a:latin typeface="Lato"/>
                <a:ea typeface="Lato"/>
                <a:cs typeface="Lato"/>
                <a:sym typeface="Lato"/>
              </a:rPr>
              <a:t> Control Network (PLC, HMI).</a:t>
            </a:r>
            <a:endParaRPr/>
          </a:p>
        </p:txBody>
      </p:sp>
      <p:sp>
        <p:nvSpPr>
          <p:cNvPr id="231" name="Google Shape;231;p29"/>
          <p:cNvSpPr txBox="1"/>
          <p:nvPr/>
        </p:nvSpPr>
        <p:spPr>
          <a:xfrm>
            <a:off x="952500" y="4102744"/>
            <a:ext cx="1047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AFFDE"/>
                </a:solidFill>
                <a:latin typeface="Lato"/>
                <a:ea typeface="Lato"/>
                <a:cs typeface="Lato"/>
                <a:sym typeface="Lato"/>
              </a:rPr>
              <a:t>•</a:t>
            </a:r>
            <a:endParaRPr/>
          </a:p>
        </p:txBody>
      </p:sp>
      <p:sp>
        <p:nvSpPr>
          <p:cNvPr id="232" name="Google Shape;232;p29"/>
          <p:cNvSpPr txBox="1"/>
          <p:nvPr/>
        </p:nvSpPr>
        <p:spPr>
          <a:xfrm>
            <a:off x="1057275" y="4105126"/>
            <a:ext cx="48006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Lato"/>
                <a:ea typeface="Lato"/>
                <a:cs typeface="Lato"/>
                <a:sym typeface="Lato"/>
              </a:rPr>
              <a:t>Level 0:</a:t>
            </a:r>
            <a:r>
              <a:rPr lang="en-US" sz="1425" b="0" i="0" u="none" strike="noStrike" cap="none">
                <a:solidFill>
                  <a:srgbClr val="DAFFDE"/>
                </a:solidFill>
                <a:latin typeface="Lato"/>
                <a:ea typeface="Lato"/>
                <a:cs typeface="Lato"/>
                <a:sym typeface="Lato"/>
              </a:rPr>
              <a:t> Field Sensors &amp; Actuators.</a:t>
            </a:r>
            <a:endParaRPr/>
          </a:p>
        </p:txBody>
      </p:sp>
      <p:sp>
        <p:nvSpPr>
          <p:cNvPr id="233" name="Google Shape;233;p29"/>
          <p:cNvSpPr txBox="1"/>
          <p:nvPr/>
        </p:nvSpPr>
        <p:spPr>
          <a:xfrm>
            <a:off x="866775" y="485775"/>
            <a:ext cx="111813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5F5F5"/>
                </a:solidFill>
                <a:latin typeface="Urbanist SemiBold"/>
                <a:ea typeface="Urbanist SemiBold"/>
                <a:cs typeface="Urbanist SemiBold"/>
                <a:sym typeface="Urbanist SemiBold"/>
              </a:rPr>
              <a:t>ARCHITECTURE: </a:t>
            </a:r>
            <a:r>
              <a:rPr lang="en-US" sz="3150" b="0" i="0" u="none" strike="noStrike" cap="none">
                <a:solidFill>
                  <a:srgbClr val="00E5FF"/>
                </a:solidFill>
                <a:latin typeface="Urbanist SemiBold"/>
                <a:ea typeface="Urbanist SemiBold"/>
                <a:cs typeface="Urbanist SemiBold"/>
                <a:sym typeface="Urbanist SemiBold"/>
              </a:rPr>
              <a:t>PURDUE MODEL</a:t>
            </a:r>
            <a:endParaRPr/>
          </a:p>
        </p:txBody>
      </p:sp>
      <p:sp>
        <p:nvSpPr>
          <p:cNvPr id="234" name="Google Shape;234;p29"/>
          <p:cNvSpPr/>
          <p:nvPr/>
        </p:nvSpPr>
        <p:spPr>
          <a:xfrm>
            <a:off x="676275" y="485775"/>
            <a:ext cx="57300" cy="48570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Shape 238"/>
        <p:cNvGrpSpPr/>
        <p:nvPr/>
      </p:nvGrpSpPr>
      <p:grpSpPr>
        <a:xfrm>
          <a:off x="0" y="0"/>
          <a:ext cx="0" cy="0"/>
          <a:chOff x="0" y="0"/>
          <a:chExt cx="0" cy="0"/>
        </a:xfrm>
      </p:grpSpPr>
      <p:pic>
        <p:nvPicPr>
          <p:cNvPr id="239" name="Google Shape;239;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0" name="Google Shape;240;p30" descr="image.png"/>
          <p:cNvPicPr preferRelativeResize="0"/>
          <p:nvPr/>
        </p:nvPicPr>
        <p:blipFill rotWithShape="1">
          <a:blip r:embed="rId4">
            <a:alphaModFix/>
          </a:blip>
          <a:srcRect/>
          <a:stretch/>
        </p:blipFill>
        <p:spPr>
          <a:xfrm>
            <a:off x="6286500" y="1934467"/>
            <a:ext cx="5324474" cy="3810000"/>
          </a:xfrm>
          <a:prstGeom prst="rect">
            <a:avLst/>
          </a:prstGeom>
          <a:noFill/>
          <a:ln>
            <a:noFill/>
          </a:ln>
        </p:spPr>
      </p:pic>
      <p:pic>
        <p:nvPicPr>
          <p:cNvPr id="241" name="Google Shape;241;p30" descr="image.png"/>
          <p:cNvPicPr preferRelativeResize="0"/>
          <p:nvPr/>
        </p:nvPicPr>
        <p:blipFill rotWithShape="1">
          <a:blip r:embed="rId5">
            <a:alphaModFix/>
          </a:blip>
          <a:srcRect/>
          <a:stretch/>
        </p:blipFill>
        <p:spPr>
          <a:xfrm>
            <a:off x="6296025" y="1943992"/>
            <a:ext cx="5305425" cy="3790950"/>
          </a:xfrm>
          <a:prstGeom prst="rect">
            <a:avLst/>
          </a:prstGeom>
          <a:noFill/>
          <a:ln>
            <a:noFill/>
          </a:ln>
        </p:spPr>
      </p:pic>
      <p:pic>
        <p:nvPicPr>
          <p:cNvPr id="242" name="Google Shape;242;p30" descr="image.png"/>
          <p:cNvPicPr preferRelativeResize="0"/>
          <p:nvPr/>
        </p:nvPicPr>
        <p:blipFill rotWithShape="1">
          <a:blip r:embed="rId6">
            <a:alphaModFix/>
          </a:blip>
          <a:srcRect/>
          <a:stretch/>
        </p:blipFill>
        <p:spPr>
          <a:xfrm>
            <a:off x="581025" y="2415480"/>
            <a:ext cx="171450" cy="180975"/>
          </a:xfrm>
          <a:prstGeom prst="rect">
            <a:avLst/>
          </a:prstGeom>
          <a:noFill/>
          <a:ln>
            <a:noFill/>
          </a:ln>
        </p:spPr>
      </p:pic>
      <p:pic>
        <p:nvPicPr>
          <p:cNvPr id="243" name="Google Shape;243;p30" descr="image.png"/>
          <p:cNvPicPr preferRelativeResize="0"/>
          <p:nvPr/>
        </p:nvPicPr>
        <p:blipFill rotWithShape="1">
          <a:blip r:embed="rId6">
            <a:alphaModFix/>
          </a:blip>
          <a:srcRect/>
          <a:stretch/>
        </p:blipFill>
        <p:spPr>
          <a:xfrm>
            <a:off x="581025" y="3072705"/>
            <a:ext cx="171450" cy="180975"/>
          </a:xfrm>
          <a:prstGeom prst="rect">
            <a:avLst/>
          </a:prstGeom>
          <a:noFill/>
          <a:ln>
            <a:noFill/>
          </a:ln>
        </p:spPr>
      </p:pic>
      <p:pic>
        <p:nvPicPr>
          <p:cNvPr id="244" name="Google Shape;244;p30" descr="image.png"/>
          <p:cNvPicPr preferRelativeResize="0"/>
          <p:nvPr/>
        </p:nvPicPr>
        <p:blipFill rotWithShape="1">
          <a:blip r:embed="rId6">
            <a:alphaModFix/>
          </a:blip>
          <a:srcRect/>
          <a:stretch/>
        </p:blipFill>
        <p:spPr>
          <a:xfrm>
            <a:off x="581025" y="3729930"/>
            <a:ext cx="171450" cy="180975"/>
          </a:xfrm>
          <a:prstGeom prst="rect">
            <a:avLst/>
          </a:prstGeom>
          <a:noFill/>
          <a:ln>
            <a:noFill/>
          </a:ln>
        </p:spPr>
      </p:pic>
      <p:pic>
        <p:nvPicPr>
          <p:cNvPr id="245" name="Google Shape;245;p30" descr="image.png"/>
          <p:cNvPicPr preferRelativeResize="0"/>
          <p:nvPr/>
        </p:nvPicPr>
        <p:blipFill rotWithShape="1">
          <a:blip r:embed="rId6">
            <a:alphaModFix/>
          </a:blip>
          <a:srcRect/>
          <a:stretch/>
        </p:blipFill>
        <p:spPr>
          <a:xfrm>
            <a:off x="581025" y="4387155"/>
            <a:ext cx="171450" cy="180975"/>
          </a:xfrm>
          <a:prstGeom prst="rect">
            <a:avLst/>
          </a:prstGeom>
          <a:noFill/>
          <a:ln>
            <a:noFill/>
          </a:ln>
        </p:spPr>
      </p:pic>
      <p:sp>
        <p:nvSpPr>
          <p:cNvPr id="246" name="Google Shape;246;p30"/>
          <p:cNvSpPr txBox="1"/>
          <p:nvPr/>
        </p:nvSpPr>
        <p:spPr>
          <a:xfrm>
            <a:off x="771525" y="581025"/>
            <a:ext cx="11381400" cy="484800"/>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a:solidFill>
                  <a:srgbClr val="F5F5F5"/>
                </a:solidFill>
                <a:latin typeface="Urbanist"/>
                <a:ea typeface="Urbanist"/>
                <a:cs typeface="Urbanist"/>
                <a:sym typeface="Urbanist"/>
              </a:rPr>
              <a:t>THE DETECTION </a:t>
            </a:r>
            <a:r>
              <a:rPr lang="en-US" sz="3150" b="1" i="0" u="none" strike="noStrike" cap="none">
                <a:solidFill>
                  <a:srgbClr val="00E5FF"/>
                </a:solidFill>
                <a:latin typeface="Urbanist"/>
                <a:ea typeface="Urbanist"/>
                <a:cs typeface="Urbanist"/>
                <a:sym typeface="Urbanist"/>
              </a:rPr>
              <a:t>GAP</a:t>
            </a:r>
            <a:endParaRPr/>
          </a:p>
        </p:txBody>
      </p:sp>
      <p:sp>
        <p:nvSpPr>
          <p:cNvPr id="247" name="Google Shape;247;p30"/>
          <p:cNvSpPr/>
          <p:nvPr/>
        </p:nvSpPr>
        <p:spPr>
          <a:xfrm>
            <a:off x="581025" y="581025"/>
            <a:ext cx="47700" cy="43980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8" name="Google Shape;248;p30"/>
          <p:cNvSpPr txBox="1"/>
          <p:nvPr/>
        </p:nvSpPr>
        <p:spPr>
          <a:xfrm>
            <a:off x="581025" y="1934467"/>
            <a:ext cx="53244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DAFFDE"/>
                </a:solidFill>
                <a:latin typeface="Urbanist"/>
                <a:ea typeface="Urbanist"/>
                <a:cs typeface="Urbanist"/>
                <a:sym typeface="Urbanist"/>
              </a:rPr>
              <a:t>Industrial Control Systems (ICS) suffer from critical security blind spots:</a:t>
            </a:r>
            <a:endParaRPr/>
          </a:p>
        </p:txBody>
      </p:sp>
      <p:sp>
        <p:nvSpPr>
          <p:cNvPr id="249" name="Google Shape;249;p30"/>
          <p:cNvSpPr txBox="1"/>
          <p:nvPr/>
        </p:nvSpPr>
        <p:spPr>
          <a:xfrm>
            <a:off x="581025" y="2382142"/>
            <a:ext cx="5324400" cy="519600"/>
          </a:xfrm>
          <a:prstGeom prst="rect">
            <a:avLst/>
          </a:prstGeom>
          <a:noFill/>
          <a:ln>
            <a:noFill/>
          </a:ln>
        </p:spPr>
        <p:txBody>
          <a:bodyPr spcFirstLastPara="1" wrap="square" lIns="26670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DAFFDE"/>
                </a:solidFill>
                <a:latin typeface="Urbanist"/>
                <a:ea typeface="Urbanist"/>
                <a:cs typeface="Urbanist"/>
                <a:sym typeface="Urbanist"/>
              </a:rPr>
              <a:t>Protocol Insecurity:</a:t>
            </a:r>
            <a:r>
              <a:rPr lang="en-US" sz="1350" b="0" i="0" u="none" strike="noStrike" cap="none">
                <a:solidFill>
                  <a:srgbClr val="DAFFDE"/>
                </a:solidFill>
                <a:latin typeface="Urbanist"/>
                <a:ea typeface="Urbanist"/>
                <a:cs typeface="Urbanist"/>
                <a:sym typeface="Urbanist"/>
              </a:rPr>
              <a:t> Legacy protocols like Modbus lack authentication and encryption.</a:t>
            </a:r>
            <a:endParaRPr/>
          </a:p>
        </p:txBody>
      </p:sp>
      <p:sp>
        <p:nvSpPr>
          <p:cNvPr id="250" name="Google Shape;250;p30"/>
          <p:cNvSpPr txBox="1"/>
          <p:nvPr/>
        </p:nvSpPr>
        <p:spPr>
          <a:xfrm>
            <a:off x="581025" y="3039367"/>
            <a:ext cx="5324400" cy="519600"/>
          </a:xfrm>
          <a:prstGeom prst="rect">
            <a:avLst/>
          </a:prstGeom>
          <a:noFill/>
          <a:ln>
            <a:noFill/>
          </a:ln>
        </p:spPr>
        <p:txBody>
          <a:bodyPr spcFirstLastPara="1" wrap="square" lIns="26670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DAFFDE"/>
                </a:solidFill>
                <a:latin typeface="Urbanist"/>
                <a:ea typeface="Urbanist"/>
                <a:cs typeface="Urbanist"/>
                <a:sym typeface="Urbanist"/>
              </a:rPr>
              <a:t>Legitimate Command Abuse:</a:t>
            </a:r>
            <a:r>
              <a:rPr lang="en-US" sz="1350" b="0" i="0" u="none" strike="noStrike" cap="none">
                <a:solidFill>
                  <a:srgbClr val="DAFFDE"/>
                </a:solidFill>
                <a:latin typeface="Urbanist"/>
                <a:ea typeface="Urbanist"/>
                <a:cs typeface="Urbanist"/>
                <a:sym typeface="Urbanist"/>
              </a:rPr>
              <a:t> Attackers issue valid commands at abnormal frequencies.</a:t>
            </a:r>
            <a:endParaRPr/>
          </a:p>
        </p:txBody>
      </p:sp>
      <p:sp>
        <p:nvSpPr>
          <p:cNvPr id="251" name="Google Shape;251;p30"/>
          <p:cNvSpPr txBox="1"/>
          <p:nvPr/>
        </p:nvSpPr>
        <p:spPr>
          <a:xfrm>
            <a:off x="581025" y="3696592"/>
            <a:ext cx="5324400" cy="519600"/>
          </a:xfrm>
          <a:prstGeom prst="rect">
            <a:avLst/>
          </a:prstGeom>
          <a:noFill/>
          <a:ln>
            <a:noFill/>
          </a:ln>
        </p:spPr>
        <p:txBody>
          <a:bodyPr spcFirstLastPara="1" wrap="square" lIns="26670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DAFFDE"/>
                </a:solidFill>
                <a:latin typeface="Urbanist"/>
                <a:ea typeface="Urbanist"/>
                <a:cs typeface="Urbanist"/>
                <a:sym typeface="Urbanist"/>
              </a:rPr>
              <a:t>Availability Constraints:</a:t>
            </a:r>
            <a:r>
              <a:rPr lang="en-US" sz="1350" b="0" i="0" u="none" strike="noStrike" cap="none">
                <a:solidFill>
                  <a:srgbClr val="DAFFDE"/>
                </a:solidFill>
                <a:latin typeface="Urbanist"/>
                <a:ea typeface="Urbanist"/>
                <a:cs typeface="Urbanist"/>
                <a:sym typeface="Urbanist"/>
              </a:rPr>
              <a:t> Intrusive monitoring is limited by the need for operational stability.</a:t>
            </a:r>
            <a:endParaRPr/>
          </a:p>
        </p:txBody>
      </p:sp>
      <p:sp>
        <p:nvSpPr>
          <p:cNvPr id="252" name="Google Shape;252;p30"/>
          <p:cNvSpPr txBox="1"/>
          <p:nvPr/>
        </p:nvSpPr>
        <p:spPr>
          <a:xfrm>
            <a:off x="581025" y="4353817"/>
            <a:ext cx="5324400" cy="519600"/>
          </a:xfrm>
          <a:prstGeom prst="rect">
            <a:avLst/>
          </a:prstGeom>
          <a:noFill/>
          <a:ln>
            <a:noFill/>
          </a:ln>
        </p:spPr>
        <p:txBody>
          <a:bodyPr spcFirstLastPara="1" wrap="square" lIns="26670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DAFFDE"/>
                </a:solidFill>
                <a:latin typeface="Urbanist"/>
                <a:ea typeface="Urbanist"/>
                <a:cs typeface="Urbanist"/>
                <a:sym typeface="Urbanist"/>
              </a:rPr>
              <a:t>Temporal Blindness:</a:t>
            </a:r>
            <a:r>
              <a:rPr lang="en-US" sz="1350" b="0" i="0" u="none" strike="noStrike" cap="none">
                <a:solidFill>
                  <a:srgbClr val="DAFFDE"/>
                </a:solidFill>
                <a:latin typeface="Urbanist"/>
                <a:ea typeface="Urbanist"/>
                <a:cs typeface="Urbanist"/>
                <a:sym typeface="Urbanist"/>
              </a:rPr>
              <a:t> Short-term packet inspection misses "slow-burn" behavioral shifts.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56"/>
        <p:cNvGrpSpPr/>
        <p:nvPr/>
      </p:nvGrpSpPr>
      <p:grpSpPr>
        <a:xfrm>
          <a:off x="0" y="0"/>
          <a:ext cx="0" cy="0"/>
          <a:chOff x="0" y="0"/>
          <a:chExt cx="0" cy="0"/>
        </a:xfrm>
      </p:grpSpPr>
      <p:pic>
        <p:nvPicPr>
          <p:cNvPr id="257" name="Google Shape;25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8" name="Google Shape;258;p31" descr="image.png"/>
          <p:cNvPicPr preferRelativeResize="0"/>
          <p:nvPr/>
        </p:nvPicPr>
        <p:blipFill rotWithShape="1">
          <a:blip r:embed="rId4">
            <a:alphaModFix/>
          </a:blip>
          <a:srcRect/>
          <a:stretch/>
        </p:blipFill>
        <p:spPr>
          <a:xfrm>
            <a:off x="6286500" y="2014537"/>
            <a:ext cx="5324475" cy="3619500"/>
          </a:xfrm>
          <a:prstGeom prst="rect">
            <a:avLst/>
          </a:prstGeom>
          <a:noFill/>
          <a:ln>
            <a:noFill/>
          </a:ln>
        </p:spPr>
      </p:pic>
      <p:sp>
        <p:nvSpPr>
          <p:cNvPr id="259" name="Google Shape;259;p31"/>
          <p:cNvSpPr txBox="1"/>
          <p:nvPr/>
        </p:nvSpPr>
        <p:spPr>
          <a:xfrm>
            <a:off x="581025" y="2014537"/>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Vulnerability Landscape</a:t>
            </a:r>
            <a:endParaRPr/>
          </a:p>
        </p:txBody>
      </p:sp>
      <p:pic>
        <p:nvPicPr>
          <p:cNvPr id="260" name="Google Shape;260;p31" descr="image.png"/>
          <p:cNvPicPr preferRelativeResize="0"/>
          <p:nvPr/>
        </p:nvPicPr>
        <p:blipFill rotWithShape="1">
          <a:blip r:embed="rId5">
            <a:alphaModFix/>
          </a:blip>
          <a:srcRect/>
          <a:stretch/>
        </p:blipFill>
        <p:spPr>
          <a:xfrm>
            <a:off x="6296025" y="2024062"/>
            <a:ext cx="5305425" cy="3600450"/>
          </a:xfrm>
          <a:prstGeom prst="rect">
            <a:avLst/>
          </a:prstGeom>
          <a:noFill/>
          <a:ln>
            <a:noFill/>
          </a:ln>
        </p:spPr>
      </p:pic>
      <p:sp>
        <p:nvSpPr>
          <p:cNvPr id="261" name="Google Shape;261;p31"/>
          <p:cNvSpPr txBox="1"/>
          <p:nvPr/>
        </p:nvSpPr>
        <p:spPr>
          <a:xfrm>
            <a:off x="914400" y="2490787"/>
            <a:ext cx="49911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No Authentication:</a:t>
            </a:r>
            <a:r>
              <a:rPr lang="en-US" sz="1350" b="0" i="0" u="none" strike="noStrike" cap="none">
                <a:solidFill>
                  <a:srgbClr val="94A3B8"/>
                </a:solidFill>
                <a:latin typeface="Lato"/>
                <a:ea typeface="Lato"/>
                <a:cs typeface="Lato"/>
                <a:sym typeface="Lato"/>
              </a:rPr>
              <a:t> Any node can issue commands if it reaches the PLC.</a:t>
            </a:r>
            <a:endParaRPr/>
          </a:p>
        </p:txBody>
      </p:sp>
      <p:sp>
        <p:nvSpPr>
          <p:cNvPr id="262" name="Google Shape;262;p31"/>
          <p:cNvSpPr txBox="1"/>
          <p:nvPr/>
        </p:nvSpPr>
        <p:spPr>
          <a:xfrm>
            <a:off x="914400" y="3148012"/>
            <a:ext cx="4991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Plaintext:</a:t>
            </a:r>
            <a:r>
              <a:rPr lang="en-US" sz="1350" b="0" i="0" u="none" strike="noStrike" cap="none">
                <a:solidFill>
                  <a:srgbClr val="94A3B8"/>
                </a:solidFill>
                <a:latin typeface="Lato"/>
                <a:ea typeface="Lato"/>
                <a:cs typeface="Lato"/>
                <a:sym typeface="Lato"/>
              </a:rPr>
              <a:t> Payload visibility allows for easy reconnaissance.</a:t>
            </a:r>
            <a:endParaRPr/>
          </a:p>
        </p:txBody>
      </p:sp>
      <p:sp>
        <p:nvSpPr>
          <p:cNvPr id="263" name="Google Shape;263;p31"/>
          <p:cNvSpPr txBox="1"/>
          <p:nvPr/>
        </p:nvSpPr>
        <p:spPr>
          <a:xfrm>
            <a:off x="914400" y="3548062"/>
            <a:ext cx="499110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Function Code Abuse:</a:t>
            </a:r>
            <a:r>
              <a:rPr lang="en-US" sz="1350" b="0" i="0" u="none" strike="noStrike" cap="none">
                <a:solidFill>
                  <a:srgbClr val="94A3B8"/>
                </a:solidFill>
                <a:latin typeface="Lato"/>
                <a:ea typeface="Lato"/>
                <a:cs typeface="Lato"/>
                <a:sym typeface="Lato"/>
              </a:rPr>
              <a:t> Exploiting FC06 (Single Write) or FC16 (Multi-Write) to alter process states.</a:t>
            </a:r>
            <a:endParaRPr/>
          </a:p>
        </p:txBody>
      </p:sp>
      <p:pic>
        <p:nvPicPr>
          <p:cNvPr id="264" name="Google Shape;264;p31" descr="image.png"/>
          <p:cNvPicPr preferRelativeResize="0"/>
          <p:nvPr/>
        </p:nvPicPr>
        <p:blipFill rotWithShape="1">
          <a:blip r:embed="rId6">
            <a:alphaModFix/>
          </a:blip>
          <a:srcRect/>
          <a:stretch/>
        </p:blipFill>
        <p:spPr>
          <a:xfrm>
            <a:off x="581025" y="2524125"/>
            <a:ext cx="190500" cy="200025"/>
          </a:xfrm>
          <a:prstGeom prst="rect">
            <a:avLst/>
          </a:prstGeom>
          <a:noFill/>
          <a:ln>
            <a:noFill/>
          </a:ln>
        </p:spPr>
      </p:pic>
      <p:pic>
        <p:nvPicPr>
          <p:cNvPr id="265" name="Google Shape;265;p31" descr="image.png"/>
          <p:cNvPicPr preferRelativeResize="0"/>
          <p:nvPr/>
        </p:nvPicPr>
        <p:blipFill rotWithShape="1">
          <a:blip r:embed="rId6">
            <a:alphaModFix/>
          </a:blip>
          <a:srcRect/>
          <a:stretch/>
        </p:blipFill>
        <p:spPr>
          <a:xfrm>
            <a:off x="581025" y="3181350"/>
            <a:ext cx="190500" cy="200025"/>
          </a:xfrm>
          <a:prstGeom prst="rect">
            <a:avLst/>
          </a:prstGeom>
          <a:noFill/>
          <a:ln>
            <a:noFill/>
          </a:ln>
        </p:spPr>
      </p:pic>
      <p:pic>
        <p:nvPicPr>
          <p:cNvPr id="266" name="Google Shape;266;p31" descr="image.png"/>
          <p:cNvPicPr preferRelativeResize="0"/>
          <p:nvPr/>
        </p:nvPicPr>
        <p:blipFill rotWithShape="1">
          <a:blip r:embed="rId6">
            <a:alphaModFix/>
          </a:blip>
          <a:srcRect/>
          <a:stretch/>
        </p:blipFill>
        <p:spPr>
          <a:xfrm>
            <a:off x="581025" y="3581400"/>
            <a:ext cx="190500" cy="200025"/>
          </a:xfrm>
          <a:prstGeom prst="rect">
            <a:avLst/>
          </a:prstGeom>
          <a:noFill/>
          <a:ln>
            <a:noFill/>
          </a:ln>
        </p:spPr>
      </p:pic>
      <p:sp>
        <p:nvSpPr>
          <p:cNvPr id="267" name="Google Shape;267;p31"/>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Industrial Protocol: Modbus TCP</a:t>
            </a:r>
            <a:endParaRPr/>
          </a:p>
        </p:txBody>
      </p:sp>
      <p:sp>
        <p:nvSpPr>
          <p:cNvPr id="268" name="Google Shape;268;p31"/>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72"/>
        <p:cNvGrpSpPr/>
        <p:nvPr/>
      </p:nvGrpSpPr>
      <p:grpSpPr>
        <a:xfrm>
          <a:off x="0" y="0"/>
          <a:ext cx="0" cy="0"/>
          <a:chOff x="0" y="0"/>
          <a:chExt cx="0" cy="0"/>
        </a:xfrm>
      </p:grpSpPr>
      <p:pic>
        <p:nvPicPr>
          <p:cNvPr id="273" name="Google Shape;273;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4" name="Google Shape;274;p32"/>
          <p:cNvSpPr/>
          <p:nvPr/>
        </p:nvSpPr>
        <p:spPr>
          <a:xfrm>
            <a:off x="581025" y="3848100"/>
            <a:ext cx="11030100" cy="381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5" name="Google Shape;275;p32"/>
          <p:cNvSpPr txBox="1"/>
          <p:nvPr/>
        </p:nvSpPr>
        <p:spPr>
          <a:xfrm>
            <a:off x="520362" y="403860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1. Generation</a:t>
            </a:r>
            <a:endParaRPr/>
          </a:p>
        </p:txBody>
      </p:sp>
      <p:sp>
        <p:nvSpPr>
          <p:cNvPr id="276" name="Google Shape;276;p32"/>
          <p:cNvSpPr txBox="1"/>
          <p:nvPr/>
        </p:nvSpPr>
        <p:spPr>
          <a:xfrm>
            <a:off x="581025" y="447675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PLC produces process data in Modbus registers.</a:t>
            </a:r>
            <a:endParaRPr/>
          </a:p>
        </p:txBody>
      </p:sp>
      <p:sp>
        <p:nvSpPr>
          <p:cNvPr id="277" name="Google Shape;277;p32"/>
          <p:cNvSpPr txBox="1"/>
          <p:nvPr/>
        </p:nvSpPr>
        <p:spPr>
          <a:xfrm>
            <a:off x="3388131" y="268605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2. Collection</a:t>
            </a:r>
            <a:endParaRPr/>
          </a:p>
        </p:txBody>
      </p:sp>
      <p:sp>
        <p:nvSpPr>
          <p:cNvPr id="278" name="Google Shape;278;p32"/>
          <p:cNvSpPr txBox="1"/>
          <p:nvPr/>
        </p:nvSpPr>
        <p:spPr>
          <a:xfrm>
            <a:off x="3448794" y="312420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Telegraf polls registers and forwards data.</a:t>
            </a:r>
            <a:endParaRPr/>
          </a:p>
        </p:txBody>
      </p:sp>
      <p:sp>
        <p:nvSpPr>
          <p:cNvPr id="279" name="Google Shape;279;p32"/>
          <p:cNvSpPr txBox="1"/>
          <p:nvPr/>
        </p:nvSpPr>
        <p:spPr>
          <a:xfrm>
            <a:off x="6255900" y="403860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3. Ingestion</a:t>
            </a:r>
            <a:endParaRPr/>
          </a:p>
        </p:txBody>
      </p:sp>
      <p:sp>
        <p:nvSpPr>
          <p:cNvPr id="280" name="Google Shape;280;p32"/>
          <p:cNvSpPr txBox="1"/>
          <p:nvPr/>
        </p:nvSpPr>
        <p:spPr>
          <a:xfrm>
            <a:off x="6316563" y="447675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InfluxDB stores data with high-fidelity timestamps.</a:t>
            </a:r>
            <a:endParaRPr/>
          </a:p>
        </p:txBody>
      </p:sp>
      <p:sp>
        <p:nvSpPr>
          <p:cNvPr id="281" name="Google Shape;281;p32"/>
          <p:cNvSpPr txBox="1"/>
          <p:nvPr/>
        </p:nvSpPr>
        <p:spPr>
          <a:xfrm>
            <a:off x="9123670" y="268605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4. Analysis</a:t>
            </a:r>
            <a:endParaRPr/>
          </a:p>
        </p:txBody>
      </p:sp>
      <p:sp>
        <p:nvSpPr>
          <p:cNvPr id="282" name="Google Shape;282;p32"/>
          <p:cNvSpPr txBox="1"/>
          <p:nvPr/>
        </p:nvSpPr>
        <p:spPr>
          <a:xfrm>
            <a:off x="9184332" y="312420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Grafana queries data for visual anomaly detection.</a:t>
            </a:r>
            <a:endParaRPr/>
          </a:p>
        </p:txBody>
      </p:sp>
      <p:sp>
        <p:nvSpPr>
          <p:cNvPr id="283" name="Google Shape;283;p32"/>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Historian Working Procedure</a:t>
            </a:r>
            <a:endParaRPr/>
          </a:p>
        </p:txBody>
      </p:sp>
      <p:sp>
        <p:nvSpPr>
          <p:cNvPr id="284" name="Google Shape;284;p32"/>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5" name="Google Shape;285;p32"/>
          <p:cNvSpPr/>
          <p:nvPr/>
        </p:nvSpPr>
        <p:spPr>
          <a:xfrm>
            <a:off x="1699021"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6" name="Google Shape;286;p32"/>
          <p:cNvSpPr/>
          <p:nvPr/>
        </p:nvSpPr>
        <p:spPr>
          <a:xfrm>
            <a:off x="4566791"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7" name="Google Shape;287;p32"/>
          <p:cNvSpPr/>
          <p:nvPr/>
        </p:nvSpPr>
        <p:spPr>
          <a:xfrm>
            <a:off x="7434560"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8" name="Google Shape;288;p32"/>
          <p:cNvSpPr/>
          <p:nvPr/>
        </p:nvSpPr>
        <p:spPr>
          <a:xfrm>
            <a:off x="10302329"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292"/>
        <p:cNvGrpSpPr/>
        <p:nvPr/>
      </p:nvGrpSpPr>
      <p:grpSpPr>
        <a:xfrm>
          <a:off x="0" y="0"/>
          <a:ext cx="0" cy="0"/>
          <a:chOff x="0" y="0"/>
          <a:chExt cx="0" cy="0"/>
        </a:xfrm>
      </p:grpSpPr>
      <p:pic>
        <p:nvPicPr>
          <p:cNvPr id="293" name="Google Shape;293;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94" name="Google Shape;294;p33" descr="image.png"/>
          <p:cNvPicPr preferRelativeResize="0"/>
          <p:nvPr/>
        </p:nvPicPr>
        <p:blipFill rotWithShape="1">
          <a:blip r:embed="rId4">
            <a:alphaModFix/>
          </a:blip>
          <a:srcRect/>
          <a:stretch/>
        </p:blipFill>
        <p:spPr>
          <a:xfrm>
            <a:off x="581025" y="2443162"/>
            <a:ext cx="2614612" cy="2762250"/>
          </a:xfrm>
          <a:prstGeom prst="rect">
            <a:avLst/>
          </a:prstGeom>
          <a:noFill/>
          <a:ln>
            <a:noFill/>
          </a:ln>
        </p:spPr>
      </p:pic>
      <p:pic>
        <p:nvPicPr>
          <p:cNvPr id="295" name="Google Shape;295;p33" descr="image.png"/>
          <p:cNvPicPr preferRelativeResize="0"/>
          <p:nvPr/>
        </p:nvPicPr>
        <p:blipFill rotWithShape="1">
          <a:blip r:embed="rId5">
            <a:alphaModFix/>
          </a:blip>
          <a:srcRect/>
          <a:stretch/>
        </p:blipFill>
        <p:spPr>
          <a:xfrm>
            <a:off x="3386137" y="2443162"/>
            <a:ext cx="2614612" cy="2762250"/>
          </a:xfrm>
          <a:prstGeom prst="rect">
            <a:avLst/>
          </a:prstGeom>
          <a:noFill/>
          <a:ln>
            <a:noFill/>
          </a:ln>
        </p:spPr>
      </p:pic>
      <p:pic>
        <p:nvPicPr>
          <p:cNvPr id="296" name="Google Shape;296;p33" descr="image.png"/>
          <p:cNvPicPr preferRelativeResize="0"/>
          <p:nvPr/>
        </p:nvPicPr>
        <p:blipFill rotWithShape="1">
          <a:blip r:embed="rId6">
            <a:alphaModFix/>
          </a:blip>
          <a:srcRect/>
          <a:stretch/>
        </p:blipFill>
        <p:spPr>
          <a:xfrm>
            <a:off x="6191250" y="2443162"/>
            <a:ext cx="2614612" cy="2762250"/>
          </a:xfrm>
          <a:prstGeom prst="rect">
            <a:avLst/>
          </a:prstGeom>
          <a:noFill/>
          <a:ln>
            <a:noFill/>
          </a:ln>
        </p:spPr>
      </p:pic>
      <p:pic>
        <p:nvPicPr>
          <p:cNvPr id="297" name="Google Shape;297;p33" descr="image.png"/>
          <p:cNvPicPr preferRelativeResize="0"/>
          <p:nvPr/>
        </p:nvPicPr>
        <p:blipFill rotWithShape="1">
          <a:blip r:embed="rId7">
            <a:alphaModFix/>
          </a:blip>
          <a:srcRect/>
          <a:stretch/>
        </p:blipFill>
        <p:spPr>
          <a:xfrm>
            <a:off x="8996362" y="2443162"/>
            <a:ext cx="2614612" cy="2762250"/>
          </a:xfrm>
          <a:prstGeom prst="rect">
            <a:avLst/>
          </a:prstGeom>
          <a:noFill/>
          <a:ln>
            <a:noFill/>
          </a:ln>
        </p:spPr>
      </p:pic>
      <p:sp>
        <p:nvSpPr>
          <p:cNvPr id="298" name="Google Shape;298;p33"/>
          <p:cNvSpPr txBox="1"/>
          <p:nvPr/>
        </p:nvSpPr>
        <p:spPr>
          <a:xfrm>
            <a:off x="775692" y="3309937"/>
            <a:ext cx="222527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PLC Layer</a:t>
            </a:r>
            <a:endParaRPr/>
          </a:p>
        </p:txBody>
      </p:sp>
      <p:sp>
        <p:nvSpPr>
          <p:cNvPr id="299" name="Google Shape;299;p33"/>
          <p:cNvSpPr txBox="1"/>
          <p:nvPr/>
        </p:nvSpPr>
        <p:spPr>
          <a:xfrm>
            <a:off x="828675" y="3748087"/>
            <a:ext cx="2119312"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Simulated physical processes (Dam water levels) generated via OpenPLC Runtime.</a:t>
            </a:r>
            <a:endParaRPr/>
          </a:p>
        </p:txBody>
      </p:sp>
      <p:sp>
        <p:nvSpPr>
          <p:cNvPr id="300" name="Google Shape;300;p33"/>
          <p:cNvSpPr txBox="1"/>
          <p:nvPr/>
        </p:nvSpPr>
        <p:spPr>
          <a:xfrm>
            <a:off x="3580804" y="3309937"/>
            <a:ext cx="2225278"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Telegraf Agent</a:t>
            </a:r>
            <a:endParaRPr/>
          </a:p>
        </p:txBody>
      </p:sp>
      <p:sp>
        <p:nvSpPr>
          <p:cNvPr id="301" name="Google Shape;301;p33"/>
          <p:cNvSpPr txBox="1"/>
          <p:nvPr/>
        </p:nvSpPr>
        <p:spPr>
          <a:xfrm>
            <a:off x="3633787" y="3748087"/>
            <a:ext cx="2119312"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Ingests real-time Modbus telemetry by polling specific holding registers.</a:t>
            </a:r>
            <a:endParaRPr/>
          </a:p>
        </p:txBody>
      </p:sp>
      <p:sp>
        <p:nvSpPr>
          <p:cNvPr id="302" name="Google Shape;302;p33"/>
          <p:cNvSpPr txBox="1"/>
          <p:nvPr/>
        </p:nvSpPr>
        <p:spPr>
          <a:xfrm>
            <a:off x="6385917" y="3309937"/>
            <a:ext cx="2225278"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InfluxDB Historian</a:t>
            </a:r>
            <a:endParaRPr/>
          </a:p>
        </p:txBody>
      </p:sp>
      <p:sp>
        <p:nvSpPr>
          <p:cNvPr id="303" name="Google Shape;303;p33"/>
          <p:cNvSpPr txBox="1"/>
          <p:nvPr/>
        </p:nvSpPr>
        <p:spPr>
          <a:xfrm>
            <a:off x="6438900" y="4071937"/>
            <a:ext cx="2119312"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Aggregates process values, metadata, and alerts into a time-series storage.</a:t>
            </a:r>
            <a:endParaRPr/>
          </a:p>
        </p:txBody>
      </p:sp>
      <p:sp>
        <p:nvSpPr>
          <p:cNvPr id="304" name="Google Shape;304;p33"/>
          <p:cNvSpPr txBox="1"/>
          <p:nvPr/>
        </p:nvSpPr>
        <p:spPr>
          <a:xfrm>
            <a:off x="9191029" y="3309937"/>
            <a:ext cx="2225278" cy="647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Grafana Analytics</a:t>
            </a:r>
            <a:endParaRPr/>
          </a:p>
        </p:txBody>
      </p:sp>
      <p:sp>
        <p:nvSpPr>
          <p:cNvPr id="305" name="Google Shape;305;p33"/>
          <p:cNvSpPr txBox="1"/>
          <p:nvPr/>
        </p:nvSpPr>
        <p:spPr>
          <a:xfrm>
            <a:off x="9244012" y="4071937"/>
            <a:ext cx="2119312"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Transforms raw logs into spatiotemporal heatmaps for anomaly detection.</a:t>
            </a:r>
            <a:endParaRPr/>
          </a:p>
        </p:txBody>
      </p:sp>
      <p:pic>
        <p:nvPicPr>
          <p:cNvPr id="306" name="Google Shape;306;p33" descr="image.png"/>
          <p:cNvPicPr preferRelativeResize="0"/>
          <p:nvPr/>
        </p:nvPicPr>
        <p:blipFill rotWithShape="1">
          <a:blip r:embed="rId8">
            <a:alphaModFix/>
          </a:blip>
          <a:srcRect/>
          <a:stretch/>
        </p:blipFill>
        <p:spPr>
          <a:xfrm>
            <a:off x="1688306" y="2728912"/>
            <a:ext cx="400050" cy="400050"/>
          </a:xfrm>
          <a:prstGeom prst="rect">
            <a:avLst/>
          </a:prstGeom>
          <a:noFill/>
          <a:ln>
            <a:noFill/>
          </a:ln>
        </p:spPr>
      </p:pic>
      <p:pic>
        <p:nvPicPr>
          <p:cNvPr id="307" name="Google Shape;307;p33" descr="image.png"/>
          <p:cNvPicPr preferRelativeResize="0"/>
          <p:nvPr/>
        </p:nvPicPr>
        <p:blipFill rotWithShape="1">
          <a:blip r:embed="rId9">
            <a:alphaModFix/>
          </a:blip>
          <a:srcRect/>
          <a:stretch/>
        </p:blipFill>
        <p:spPr>
          <a:xfrm>
            <a:off x="4493418" y="2728912"/>
            <a:ext cx="400050" cy="400050"/>
          </a:xfrm>
          <a:prstGeom prst="rect">
            <a:avLst/>
          </a:prstGeom>
          <a:noFill/>
          <a:ln>
            <a:noFill/>
          </a:ln>
        </p:spPr>
      </p:pic>
      <p:pic>
        <p:nvPicPr>
          <p:cNvPr id="308" name="Google Shape;308;p33" descr="image.png"/>
          <p:cNvPicPr preferRelativeResize="0"/>
          <p:nvPr/>
        </p:nvPicPr>
        <p:blipFill rotWithShape="1">
          <a:blip r:embed="rId10">
            <a:alphaModFix/>
          </a:blip>
          <a:srcRect/>
          <a:stretch/>
        </p:blipFill>
        <p:spPr>
          <a:xfrm>
            <a:off x="10127456" y="2728912"/>
            <a:ext cx="352425" cy="400050"/>
          </a:xfrm>
          <a:prstGeom prst="rect">
            <a:avLst/>
          </a:prstGeom>
          <a:noFill/>
          <a:ln>
            <a:noFill/>
          </a:ln>
        </p:spPr>
      </p:pic>
      <p:pic>
        <p:nvPicPr>
          <p:cNvPr id="309" name="Google Shape;309;p33" descr="image.png"/>
          <p:cNvPicPr preferRelativeResize="0"/>
          <p:nvPr/>
        </p:nvPicPr>
        <p:blipFill rotWithShape="1">
          <a:blip r:embed="rId11">
            <a:alphaModFix/>
          </a:blip>
          <a:srcRect/>
          <a:stretch/>
        </p:blipFill>
        <p:spPr>
          <a:xfrm>
            <a:off x="7322343" y="2728912"/>
            <a:ext cx="352425" cy="400050"/>
          </a:xfrm>
          <a:prstGeom prst="rect">
            <a:avLst/>
          </a:prstGeom>
          <a:noFill/>
          <a:ln>
            <a:noFill/>
          </a:ln>
        </p:spPr>
      </p:pic>
      <p:sp>
        <p:nvSpPr>
          <p:cNvPr id="310" name="Google Shape;310;p33"/>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Methodology: The Data Pipeline</a:t>
            </a:r>
            <a:endParaRPr/>
          </a:p>
        </p:txBody>
      </p:sp>
      <p:sp>
        <p:nvSpPr>
          <p:cNvPr id="311" name="Google Shape;311;p33"/>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15"/>
        <p:cNvGrpSpPr/>
        <p:nvPr/>
      </p:nvGrpSpPr>
      <p:grpSpPr>
        <a:xfrm>
          <a:off x="0" y="0"/>
          <a:ext cx="0" cy="0"/>
          <a:chOff x="0" y="0"/>
          <a:chExt cx="0" cy="0"/>
        </a:xfrm>
      </p:grpSpPr>
      <p:pic>
        <p:nvPicPr>
          <p:cNvPr id="316" name="Google Shape;316;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17" name="Google Shape;317;p34" descr="image.png"/>
          <p:cNvPicPr preferRelativeResize="0"/>
          <p:nvPr/>
        </p:nvPicPr>
        <p:blipFill rotWithShape="1">
          <a:blip r:embed="rId4">
            <a:alphaModFix/>
          </a:blip>
          <a:srcRect/>
          <a:stretch/>
        </p:blipFill>
        <p:spPr>
          <a:xfrm>
            <a:off x="6286500" y="2014537"/>
            <a:ext cx="5324474" cy="3619500"/>
          </a:xfrm>
          <a:prstGeom prst="rect">
            <a:avLst/>
          </a:prstGeom>
          <a:noFill/>
          <a:ln>
            <a:noFill/>
          </a:ln>
        </p:spPr>
      </p:pic>
      <p:sp>
        <p:nvSpPr>
          <p:cNvPr id="318" name="Google Shape;318;p34"/>
          <p:cNvSpPr txBox="1"/>
          <p:nvPr/>
        </p:nvSpPr>
        <p:spPr>
          <a:xfrm>
            <a:off x="581025" y="2014537"/>
            <a:ext cx="5590800" cy="324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Adversarial Alignment</a:t>
            </a:r>
            <a:endParaRPr/>
          </a:p>
        </p:txBody>
      </p:sp>
      <p:pic>
        <p:nvPicPr>
          <p:cNvPr id="319" name="Google Shape;319;p34" descr="image.png"/>
          <p:cNvPicPr preferRelativeResize="0"/>
          <p:nvPr/>
        </p:nvPicPr>
        <p:blipFill rotWithShape="1">
          <a:blip r:embed="rId5">
            <a:alphaModFix/>
          </a:blip>
          <a:srcRect/>
          <a:stretch/>
        </p:blipFill>
        <p:spPr>
          <a:xfrm>
            <a:off x="6296025" y="2024062"/>
            <a:ext cx="5305425" cy="3600450"/>
          </a:xfrm>
          <a:prstGeom prst="rect">
            <a:avLst/>
          </a:prstGeom>
          <a:noFill/>
          <a:ln>
            <a:noFill/>
          </a:ln>
        </p:spPr>
      </p:pic>
      <p:sp>
        <p:nvSpPr>
          <p:cNvPr id="320" name="Google Shape;320;p34"/>
          <p:cNvSpPr txBox="1"/>
          <p:nvPr/>
        </p:nvSpPr>
        <p:spPr>
          <a:xfrm>
            <a:off x="914400" y="2490787"/>
            <a:ext cx="4991100" cy="257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T0846:</a:t>
            </a:r>
            <a:r>
              <a:rPr lang="en-US" sz="1350" b="0" i="0" u="none" strike="noStrike" cap="none">
                <a:solidFill>
                  <a:srgbClr val="94A3B8"/>
                </a:solidFill>
                <a:latin typeface="Lato"/>
                <a:ea typeface="Lato"/>
                <a:cs typeface="Lato"/>
                <a:sym typeface="Lato"/>
              </a:rPr>
              <a:t> Remote System Discovery (Detected via FC03 Recon).</a:t>
            </a:r>
            <a:endParaRPr/>
          </a:p>
        </p:txBody>
      </p:sp>
      <p:sp>
        <p:nvSpPr>
          <p:cNvPr id="321" name="Google Shape;321;p34"/>
          <p:cNvSpPr txBox="1"/>
          <p:nvPr/>
        </p:nvSpPr>
        <p:spPr>
          <a:xfrm>
            <a:off x="914400" y="2890837"/>
            <a:ext cx="4991100" cy="257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T0831:</a:t>
            </a:r>
            <a:r>
              <a:rPr lang="en-US" sz="1350" b="0" i="0" u="none" strike="noStrike" cap="none">
                <a:solidFill>
                  <a:srgbClr val="94A3B8"/>
                </a:solidFill>
                <a:latin typeface="Lato"/>
                <a:ea typeface="Lato"/>
                <a:cs typeface="Lato"/>
                <a:sym typeface="Lato"/>
              </a:rPr>
              <a:t> Manipulation of Control (Detected via FC16 Write).</a:t>
            </a:r>
            <a:endParaRPr/>
          </a:p>
        </p:txBody>
      </p:sp>
      <p:sp>
        <p:nvSpPr>
          <p:cNvPr id="322" name="Google Shape;322;p34"/>
          <p:cNvSpPr txBox="1"/>
          <p:nvPr/>
        </p:nvSpPr>
        <p:spPr>
          <a:xfrm>
            <a:off x="914400" y="3290887"/>
            <a:ext cx="4991100" cy="257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T0814:</a:t>
            </a:r>
            <a:r>
              <a:rPr lang="en-US" sz="1350" b="0" i="0" u="none" strike="noStrike" cap="none">
                <a:solidFill>
                  <a:srgbClr val="94A3B8"/>
                </a:solidFill>
                <a:latin typeface="Lato"/>
                <a:ea typeface="Lato"/>
                <a:cs typeface="Lato"/>
                <a:sym typeface="Lato"/>
              </a:rPr>
              <a:t> Denial of Service (Detected via Modbus Flood).</a:t>
            </a:r>
            <a:endParaRPr/>
          </a:p>
        </p:txBody>
      </p:sp>
      <p:sp>
        <p:nvSpPr>
          <p:cNvPr id="323" name="Google Shape;323;p34"/>
          <p:cNvSpPr txBox="1"/>
          <p:nvPr/>
        </p:nvSpPr>
        <p:spPr>
          <a:xfrm>
            <a:off x="914400" y="3690937"/>
            <a:ext cx="4991100" cy="257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T0888:</a:t>
            </a:r>
            <a:r>
              <a:rPr lang="en-US" sz="1350" b="0" i="0" u="none" strike="noStrike" cap="none">
                <a:solidFill>
                  <a:srgbClr val="94A3B8"/>
                </a:solidFill>
                <a:latin typeface="Lato"/>
                <a:ea typeface="Lato"/>
                <a:cs typeface="Lato"/>
                <a:sym typeface="Lato"/>
              </a:rPr>
              <a:t> Network Service Scanning (Telemetry baseline deviation).</a:t>
            </a:r>
            <a:endParaRPr/>
          </a:p>
        </p:txBody>
      </p:sp>
      <p:pic>
        <p:nvPicPr>
          <p:cNvPr id="324" name="Google Shape;324;p34" descr="image.png"/>
          <p:cNvPicPr preferRelativeResize="0"/>
          <p:nvPr/>
        </p:nvPicPr>
        <p:blipFill rotWithShape="1">
          <a:blip r:embed="rId6">
            <a:alphaModFix/>
          </a:blip>
          <a:srcRect/>
          <a:stretch/>
        </p:blipFill>
        <p:spPr>
          <a:xfrm>
            <a:off x="581025" y="2524125"/>
            <a:ext cx="238125" cy="200025"/>
          </a:xfrm>
          <a:prstGeom prst="rect">
            <a:avLst/>
          </a:prstGeom>
          <a:noFill/>
          <a:ln>
            <a:noFill/>
          </a:ln>
        </p:spPr>
      </p:pic>
      <p:pic>
        <p:nvPicPr>
          <p:cNvPr id="325" name="Google Shape;325;p34" descr="image.png"/>
          <p:cNvPicPr preferRelativeResize="0"/>
          <p:nvPr/>
        </p:nvPicPr>
        <p:blipFill rotWithShape="1">
          <a:blip r:embed="rId6">
            <a:alphaModFix/>
          </a:blip>
          <a:srcRect/>
          <a:stretch/>
        </p:blipFill>
        <p:spPr>
          <a:xfrm>
            <a:off x="581025" y="2924175"/>
            <a:ext cx="238125" cy="200025"/>
          </a:xfrm>
          <a:prstGeom prst="rect">
            <a:avLst/>
          </a:prstGeom>
          <a:noFill/>
          <a:ln>
            <a:noFill/>
          </a:ln>
        </p:spPr>
      </p:pic>
      <p:pic>
        <p:nvPicPr>
          <p:cNvPr id="326" name="Google Shape;326;p34" descr="image.png"/>
          <p:cNvPicPr preferRelativeResize="0"/>
          <p:nvPr/>
        </p:nvPicPr>
        <p:blipFill rotWithShape="1">
          <a:blip r:embed="rId6">
            <a:alphaModFix/>
          </a:blip>
          <a:srcRect/>
          <a:stretch/>
        </p:blipFill>
        <p:spPr>
          <a:xfrm>
            <a:off x="581025" y="3324225"/>
            <a:ext cx="238125" cy="200025"/>
          </a:xfrm>
          <a:prstGeom prst="rect">
            <a:avLst/>
          </a:prstGeom>
          <a:noFill/>
          <a:ln>
            <a:noFill/>
          </a:ln>
        </p:spPr>
      </p:pic>
      <p:pic>
        <p:nvPicPr>
          <p:cNvPr id="327" name="Google Shape;327;p34" descr="image.png"/>
          <p:cNvPicPr preferRelativeResize="0"/>
          <p:nvPr/>
        </p:nvPicPr>
        <p:blipFill rotWithShape="1">
          <a:blip r:embed="rId6">
            <a:alphaModFix/>
          </a:blip>
          <a:srcRect/>
          <a:stretch/>
        </p:blipFill>
        <p:spPr>
          <a:xfrm>
            <a:off x="581025" y="3724275"/>
            <a:ext cx="238125" cy="200025"/>
          </a:xfrm>
          <a:prstGeom prst="rect">
            <a:avLst/>
          </a:prstGeom>
          <a:noFill/>
          <a:ln>
            <a:noFill/>
          </a:ln>
        </p:spPr>
      </p:pic>
      <p:sp>
        <p:nvSpPr>
          <p:cNvPr id="328" name="Google Shape;328;p34"/>
          <p:cNvSpPr txBox="1"/>
          <p:nvPr/>
        </p:nvSpPr>
        <p:spPr>
          <a:xfrm>
            <a:off x="771525" y="581025"/>
            <a:ext cx="1138140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MITRE ATT&amp;CK for ICS Mapping</a:t>
            </a:r>
            <a:endParaRPr/>
          </a:p>
        </p:txBody>
      </p:sp>
      <p:sp>
        <p:nvSpPr>
          <p:cNvPr id="329" name="Google Shape;329;p34"/>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33"/>
        <p:cNvGrpSpPr/>
        <p:nvPr/>
      </p:nvGrpSpPr>
      <p:grpSpPr>
        <a:xfrm>
          <a:off x="0" y="0"/>
          <a:ext cx="0" cy="0"/>
          <a:chOff x="0" y="0"/>
          <a:chExt cx="0" cy="0"/>
        </a:xfrm>
      </p:grpSpPr>
      <p:pic>
        <p:nvPicPr>
          <p:cNvPr id="334" name="Google Shape;334;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35" name="Google Shape;335;p35"/>
          <p:cNvSpPr/>
          <p:nvPr/>
        </p:nvSpPr>
        <p:spPr>
          <a:xfrm>
            <a:off x="581025" y="3848100"/>
            <a:ext cx="11030100" cy="381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36" name="Google Shape;336;p35"/>
          <p:cNvSpPr txBox="1"/>
          <p:nvPr/>
        </p:nvSpPr>
        <p:spPr>
          <a:xfrm>
            <a:off x="520362" y="403860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1. Recon</a:t>
            </a:r>
            <a:endParaRPr/>
          </a:p>
        </p:txBody>
      </p:sp>
      <p:sp>
        <p:nvSpPr>
          <p:cNvPr id="337" name="Google Shape;337;p35"/>
          <p:cNvSpPr txBox="1"/>
          <p:nvPr/>
        </p:nvSpPr>
        <p:spPr>
          <a:xfrm>
            <a:off x="581025" y="447675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Network Service Scanning (T0888) via FC03 telemetry.</a:t>
            </a:r>
            <a:endParaRPr/>
          </a:p>
        </p:txBody>
      </p:sp>
      <p:sp>
        <p:nvSpPr>
          <p:cNvPr id="338" name="Google Shape;338;p35"/>
          <p:cNvSpPr txBox="1"/>
          <p:nvPr/>
        </p:nvSpPr>
        <p:spPr>
          <a:xfrm>
            <a:off x="3388131" y="268605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2. Access</a:t>
            </a:r>
            <a:endParaRPr/>
          </a:p>
        </p:txBody>
      </p:sp>
      <p:sp>
        <p:nvSpPr>
          <p:cNvPr id="339" name="Google Shape;339;p35"/>
          <p:cNvSpPr txBox="1"/>
          <p:nvPr/>
        </p:nvSpPr>
        <p:spPr>
          <a:xfrm>
            <a:off x="3448794" y="312420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Credential reuse detected via SIEM log correlation.</a:t>
            </a:r>
            <a:endParaRPr/>
          </a:p>
        </p:txBody>
      </p:sp>
      <p:sp>
        <p:nvSpPr>
          <p:cNvPr id="340" name="Google Shape;340;p35"/>
          <p:cNvSpPr txBox="1"/>
          <p:nvPr/>
        </p:nvSpPr>
        <p:spPr>
          <a:xfrm>
            <a:off x="6255900" y="403860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3. Control</a:t>
            </a:r>
            <a:endParaRPr/>
          </a:p>
        </p:txBody>
      </p:sp>
      <p:sp>
        <p:nvSpPr>
          <p:cNvPr id="341" name="Google Shape;341;p35"/>
          <p:cNvSpPr txBox="1"/>
          <p:nvPr/>
        </p:nvSpPr>
        <p:spPr>
          <a:xfrm>
            <a:off x="6316563" y="447675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Unauthorized FC16 Write (T0831) identified via spikes.</a:t>
            </a:r>
            <a:endParaRPr/>
          </a:p>
        </p:txBody>
      </p:sp>
      <p:sp>
        <p:nvSpPr>
          <p:cNvPr id="342" name="Google Shape;342;p35"/>
          <p:cNvSpPr txBox="1"/>
          <p:nvPr/>
        </p:nvSpPr>
        <p:spPr>
          <a:xfrm>
            <a:off x="9123670" y="2686050"/>
            <a:ext cx="254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4. Inhibition</a:t>
            </a:r>
            <a:endParaRPr/>
          </a:p>
        </p:txBody>
      </p:sp>
      <p:sp>
        <p:nvSpPr>
          <p:cNvPr id="343" name="Google Shape;343;p35"/>
          <p:cNvSpPr txBox="1"/>
          <p:nvPr/>
        </p:nvSpPr>
        <p:spPr>
          <a:xfrm>
            <a:off x="9184332" y="3124200"/>
            <a:ext cx="24264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Modbus Flood (T0814) via heatmap intensity peaks.</a:t>
            </a:r>
            <a:endParaRPr/>
          </a:p>
        </p:txBody>
      </p:sp>
      <p:sp>
        <p:nvSpPr>
          <p:cNvPr id="344" name="Google Shape;344;p35"/>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Cascading Attack Chains</a:t>
            </a:r>
            <a:endParaRPr/>
          </a:p>
        </p:txBody>
      </p:sp>
      <p:sp>
        <p:nvSpPr>
          <p:cNvPr id="345" name="Google Shape;345;p35"/>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6" name="Google Shape;346;p35"/>
          <p:cNvSpPr/>
          <p:nvPr/>
        </p:nvSpPr>
        <p:spPr>
          <a:xfrm>
            <a:off x="1699021"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7" name="Google Shape;347;p35"/>
          <p:cNvSpPr/>
          <p:nvPr/>
        </p:nvSpPr>
        <p:spPr>
          <a:xfrm>
            <a:off x="4566791"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8" name="Google Shape;348;p35"/>
          <p:cNvSpPr/>
          <p:nvPr/>
        </p:nvSpPr>
        <p:spPr>
          <a:xfrm>
            <a:off x="7434560"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9" name="Google Shape;349;p35"/>
          <p:cNvSpPr/>
          <p:nvPr/>
        </p:nvSpPr>
        <p:spPr>
          <a:xfrm>
            <a:off x="10302329" y="3752850"/>
            <a:ext cx="190500" cy="190500"/>
          </a:xfrm>
          <a:prstGeom prst="roundRect">
            <a:avLst>
              <a:gd name="adj" fmla="val 50000"/>
            </a:avLst>
          </a:prstGeom>
          <a:solidFill>
            <a:srgbClr val="020617"/>
          </a:solidFill>
          <a:ln w="38100" cap="flat" cmpd="sng">
            <a:solidFill>
              <a:srgbClr val="00E5F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53"/>
        <p:cNvGrpSpPr/>
        <p:nvPr/>
      </p:nvGrpSpPr>
      <p:grpSpPr>
        <a:xfrm>
          <a:off x="0" y="0"/>
          <a:ext cx="0" cy="0"/>
          <a:chOff x="0" y="0"/>
          <a:chExt cx="0" cy="0"/>
        </a:xfrm>
      </p:grpSpPr>
      <p:pic>
        <p:nvPicPr>
          <p:cNvPr id="354" name="Google Shape;354;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5" name="Google Shape;355;p36" descr="image.png"/>
          <p:cNvPicPr preferRelativeResize="0"/>
          <p:nvPr/>
        </p:nvPicPr>
        <p:blipFill rotWithShape="1">
          <a:blip r:embed="rId4">
            <a:alphaModFix/>
          </a:blip>
          <a:srcRect/>
          <a:stretch/>
        </p:blipFill>
        <p:spPr>
          <a:xfrm>
            <a:off x="581025" y="2014537"/>
            <a:ext cx="5324475" cy="3619500"/>
          </a:xfrm>
          <a:prstGeom prst="rect">
            <a:avLst/>
          </a:prstGeom>
          <a:noFill/>
          <a:ln>
            <a:noFill/>
          </a:ln>
        </p:spPr>
      </p:pic>
      <p:pic>
        <p:nvPicPr>
          <p:cNvPr id="356" name="Google Shape;356;p36" descr="image.png"/>
          <p:cNvPicPr preferRelativeResize="0"/>
          <p:nvPr/>
        </p:nvPicPr>
        <p:blipFill rotWithShape="1">
          <a:blip r:embed="rId5">
            <a:alphaModFix/>
          </a:blip>
          <a:srcRect/>
          <a:stretch/>
        </p:blipFill>
        <p:spPr>
          <a:xfrm>
            <a:off x="590550" y="2024062"/>
            <a:ext cx="5305425" cy="3600450"/>
          </a:xfrm>
          <a:prstGeom prst="rect">
            <a:avLst/>
          </a:prstGeom>
          <a:noFill/>
          <a:ln>
            <a:noFill/>
          </a:ln>
        </p:spPr>
      </p:pic>
      <p:sp>
        <p:nvSpPr>
          <p:cNvPr id="357" name="Google Shape;357;p36"/>
          <p:cNvSpPr txBox="1"/>
          <p:nvPr/>
        </p:nvSpPr>
        <p:spPr>
          <a:xfrm>
            <a:off x="6286500" y="2014537"/>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Defining "Normal"</a:t>
            </a:r>
            <a:endParaRPr/>
          </a:p>
        </p:txBody>
      </p:sp>
      <p:sp>
        <p:nvSpPr>
          <p:cNvPr id="358" name="Google Shape;358;p36"/>
          <p:cNvSpPr txBox="1"/>
          <p:nvPr/>
        </p:nvSpPr>
        <p:spPr>
          <a:xfrm>
            <a:off x="6286500" y="2452687"/>
            <a:ext cx="53244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Standard dam operations maintain water levels between 12m and 14m. Telemetry polling occurs at a fixed frequency of 1Hz.</a:t>
            </a:r>
            <a:endParaRPr/>
          </a:p>
        </p:txBody>
      </p:sp>
      <p:sp>
        <p:nvSpPr>
          <p:cNvPr id="359" name="Google Shape;359;p36"/>
          <p:cNvSpPr txBox="1"/>
          <p:nvPr/>
        </p:nvSpPr>
        <p:spPr>
          <a:xfrm>
            <a:off x="6286500" y="3081337"/>
            <a:ext cx="5324400" cy="18240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The baseline establishes expected communication patterns across ICS devices, ensuring the absence of unauthorized write commands.</a:t>
            </a:r>
            <a:endParaRPr sz="1350" b="0" i="0" u="none" strike="noStrike" cap="none">
              <a:solidFill>
                <a:srgbClr val="94A3B8"/>
              </a:solidFill>
              <a:latin typeface="Lato"/>
              <a:ea typeface="Lato"/>
              <a:cs typeface="Lato"/>
              <a:sym typeface="Lato"/>
            </a:endParaRPr>
          </a:p>
          <a:p>
            <a:pPr marL="0" lvl="0" indent="0" algn="l" rtl="0">
              <a:lnSpc>
                <a:spcPct val="140000"/>
              </a:lnSpc>
              <a:spcBef>
                <a:spcPts val="0"/>
              </a:spcBef>
              <a:spcAft>
                <a:spcPts val="0"/>
              </a:spcAft>
              <a:buNone/>
            </a:pPr>
            <a:r>
              <a:rPr lang="en-US" sz="1500" b="1">
                <a:solidFill>
                  <a:srgbClr val="94A3B8"/>
                </a:solidFill>
                <a:latin typeface="Lato"/>
                <a:ea typeface="Lato"/>
                <a:cs typeface="Lato"/>
                <a:sym typeface="Lato"/>
              </a:rPr>
              <a:t>Defining "Normal":</a:t>
            </a:r>
            <a:r>
              <a:rPr lang="en-US" sz="1500">
                <a:solidFill>
                  <a:srgbClr val="94A3B8"/>
                </a:solidFill>
                <a:latin typeface="Lato"/>
                <a:ea typeface="Lato"/>
                <a:cs typeface="Lato"/>
                <a:sym typeface="Lato"/>
              </a:rPr>
              <a:t> Dam water levels maintained within 12-14 meters under standard polling regularity.</a:t>
            </a:r>
            <a:endParaRPr sz="1500">
              <a:solidFill>
                <a:srgbClr val="94A3B8"/>
              </a:solidFill>
              <a:latin typeface="Lato"/>
              <a:ea typeface="Lato"/>
              <a:cs typeface="Lato"/>
              <a:sym typeface="Lato"/>
            </a:endParaRPr>
          </a:p>
          <a:p>
            <a:pPr marL="0" lvl="0" indent="0" algn="l" rtl="0">
              <a:lnSpc>
                <a:spcPct val="140000"/>
              </a:lnSpc>
              <a:spcBef>
                <a:spcPts val="0"/>
              </a:spcBef>
              <a:spcAft>
                <a:spcPts val="0"/>
              </a:spcAft>
              <a:buClr>
                <a:schemeClr val="dk1"/>
              </a:buClr>
              <a:buFont typeface="Arial"/>
              <a:buNone/>
            </a:pPr>
            <a:r>
              <a:rPr lang="en-US" sz="1500" b="1">
                <a:solidFill>
                  <a:srgbClr val="94A3B8"/>
                </a:solidFill>
                <a:latin typeface="Lato"/>
                <a:ea typeface="Lato"/>
                <a:cs typeface="Lato"/>
                <a:sym typeface="Lato"/>
              </a:rPr>
              <a:t>Historian State:</a:t>
            </a:r>
            <a:r>
              <a:rPr lang="en-US" sz="1500">
                <a:solidFill>
                  <a:srgbClr val="94A3B8"/>
                </a:solidFill>
                <a:latin typeface="Lato"/>
                <a:ea typeface="Lato"/>
                <a:cs typeface="Lato"/>
                <a:sym typeface="Lato"/>
              </a:rPr>
              <a:t> Records stable, repetitive telemetry values that define the behavioral baseline for comparison.</a:t>
            </a:r>
            <a:endParaRPr sz="1500">
              <a:solidFill>
                <a:srgbClr val="94A3B8"/>
              </a:solidFill>
              <a:latin typeface="Lato"/>
              <a:ea typeface="Lato"/>
              <a:cs typeface="Lato"/>
              <a:sym typeface="Lato"/>
            </a:endParaRPr>
          </a:p>
        </p:txBody>
      </p:sp>
      <p:sp>
        <p:nvSpPr>
          <p:cNvPr id="360" name="Google Shape;360;p36"/>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Scenario 1: Operational Baseline</a:t>
            </a:r>
            <a:endParaRPr/>
          </a:p>
        </p:txBody>
      </p:sp>
      <p:sp>
        <p:nvSpPr>
          <p:cNvPr id="361" name="Google Shape;361;p36"/>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65"/>
        <p:cNvGrpSpPr/>
        <p:nvPr/>
      </p:nvGrpSpPr>
      <p:grpSpPr>
        <a:xfrm>
          <a:off x="0" y="0"/>
          <a:ext cx="0" cy="0"/>
          <a:chOff x="0" y="0"/>
          <a:chExt cx="0" cy="0"/>
        </a:xfrm>
      </p:grpSpPr>
      <p:pic>
        <p:nvPicPr>
          <p:cNvPr id="366" name="Google Shape;366;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67" name="Google Shape;367;p37" descr="image.png"/>
          <p:cNvPicPr preferRelativeResize="0"/>
          <p:nvPr/>
        </p:nvPicPr>
        <p:blipFill rotWithShape="1">
          <a:blip r:embed="rId4">
            <a:alphaModFix/>
          </a:blip>
          <a:srcRect/>
          <a:stretch/>
        </p:blipFill>
        <p:spPr>
          <a:xfrm>
            <a:off x="581025" y="1371600"/>
            <a:ext cx="11029950" cy="4905375"/>
          </a:xfrm>
          <a:prstGeom prst="rect">
            <a:avLst/>
          </a:prstGeom>
          <a:noFill/>
          <a:ln>
            <a:noFill/>
          </a:ln>
        </p:spPr>
      </p:pic>
      <p:sp>
        <p:nvSpPr>
          <p:cNvPr id="368" name="Google Shape;368;p37"/>
          <p:cNvSpPr txBox="1"/>
          <p:nvPr/>
        </p:nvSpPr>
        <p:spPr>
          <a:xfrm>
            <a:off x="771525" y="4295775"/>
            <a:ext cx="108394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Result:</a:t>
            </a:r>
            <a:r>
              <a:rPr lang="en-US" sz="1350" b="0" i="0" u="none" strike="noStrike" cap="none">
                <a:solidFill>
                  <a:srgbClr val="94A3B8"/>
                </a:solidFill>
                <a:latin typeface="Lato"/>
                <a:ea typeface="Lato"/>
                <a:cs typeface="Lato"/>
                <a:sym typeface="Lato"/>
              </a:rPr>
              <a:t> Attackers forced the water level register to 30m, bypassing operating ranges. Snort SID 1000001 triggered Level 12 critical alerts in Wazuh SIEM.</a:t>
            </a:r>
            <a:endParaRPr/>
          </a:p>
        </p:txBody>
      </p:sp>
      <p:sp>
        <p:nvSpPr>
          <p:cNvPr id="369" name="Google Shape;369;p37"/>
          <p:cNvSpPr/>
          <p:nvPr/>
        </p:nvSpPr>
        <p:spPr>
          <a:xfrm>
            <a:off x="581025" y="4295775"/>
            <a:ext cx="28575" cy="514350"/>
          </a:xfrm>
          <a:prstGeom prst="rect">
            <a:avLst/>
          </a:prstGeom>
          <a:solidFill>
            <a:srgbClr val="EF444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0" name="Google Shape;370;p37"/>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Scenario 2: Register Manipulation</a:t>
            </a:r>
            <a:endParaRPr/>
          </a:p>
        </p:txBody>
      </p:sp>
      <p:sp>
        <p:nvSpPr>
          <p:cNvPr id="371" name="Google Shape;371;p37"/>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75"/>
        <p:cNvGrpSpPr/>
        <p:nvPr/>
      </p:nvGrpSpPr>
      <p:grpSpPr>
        <a:xfrm>
          <a:off x="0" y="0"/>
          <a:ext cx="0" cy="0"/>
          <a:chOff x="0" y="0"/>
          <a:chExt cx="0" cy="0"/>
        </a:xfrm>
      </p:grpSpPr>
      <p:pic>
        <p:nvPicPr>
          <p:cNvPr id="376" name="Google Shape;376;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77" name="Google Shape;377;p38"/>
          <p:cNvSpPr txBox="1"/>
          <p:nvPr/>
        </p:nvSpPr>
        <p:spPr>
          <a:xfrm>
            <a:off x="581025" y="3162300"/>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Attack Logic</a:t>
            </a:r>
            <a:endParaRPr/>
          </a:p>
        </p:txBody>
      </p:sp>
      <p:sp>
        <p:nvSpPr>
          <p:cNvPr id="378" name="Google Shape;378;p38"/>
          <p:cNvSpPr txBox="1"/>
          <p:nvPr/>
        </p:nvSpPr>
        <p:spPr>
          <a:xfrm>
            <a:off x="581025" y="3600450"/>
            <a:ext cx="53244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Attacker targets Modbus coil addresses to force breaker states (FALSE to TRUE). This aims to disrupt electrical distribution or safety systems.</a:t>
            </a:r>
            <a:endParaRPr/>
          </a:p>
        </p:txBody>
      </p:sp>
      <p:sp>
        <p:nvSpPr>
          <p:cNvPr id="379" name="Google Shape;379;p38"/>
          <p:cNvSpPr txBox="1"/>
          <p:nvPr/>
        </p:nvSpPr>
        <p:spPr>
          <a:xfrm>
            <a:off x="6286500" y="3162300"/>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Safety Response</a:t>
            </a:r>
            <a:endParaRPr/>
          </a:p>
        </p:txBody>
      </p:sp>
      <p:sp>
        <p:nvSpPr>
          <p:cNvPr id="380" name="Google Shape;380;p38"/>
          <p:cNvSpPr txBox="1"/>
          <p:nvPr/>
        </p:nvSpPr>
        <p:spPr>
          <a:xfrm>
            <a:off x="6286500" y="3600450"/>
            <a:ext cx="53244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Ladder logic interlocks automatically reset states unless specific physical conditions were met. However, the protocol-level command execution was logged as a behavioral anomaly.</a:t>
            </a:r>
            <a:endParaRPr/>
          </a:p>
        </p:txBody>
      </p:sp>
      <p:sp>
        <p:nvSpPr>
          <p:cNvPr id="381" name="Google Shape;381;p38"/>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Scenario 3: Breaker Control Attack</a:t>
            </a:r>
            <a:endParaRPr/>
          </a:p>
        </p:txBody>
      </p:sp>
      <p:sp>
        <p:nvSpPr>
          <p:cNvPr id="382" name="Google Shape;382;p38"/>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86"/>
        <p:cNvGrpSpPr/>
        <p:nvPr/>
      </p:nvGrpSpPr>
      <p:grpSpPr>
        <a:xfrm>
          <a:off x="0" y="0"/>
          <a:ext cx="0" cy="0"/>
          <a:chOff x="0" y="0"/>
          <a:chExt cx="0" cy="0"/>
        </a:xfrm>
      </p:grpSpPr>
      <p:pic>
        <p:nvPicPr>
          <p:cNvPr id="387" name="Google Shape;387;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88" name="Google Shape;388;p39" descr="image.png"/>
          <p:cNvPicPr preferRelativeResize="0"/>
          <p:nvPr/>
        </p:nvPicPr>
        <p:blipFill rotWithShape="1">
          <a:blip r:embed="rId4">
            <a:alphaModFix/>
          </a:blip>
          <a:srcRect/>
          <a:stretch/>
        </p:blipFill>
        <p:spPr>
          <a:xfrm>
            <a:off x="581025" y="1371600"/>
            <a:ext cx="11029950" cy="4905375"/>
          </a:xfrm>
          <a:prstGeom prst="rect">
            <a:avLst/>
          </a:prstGeom>
          <a:noFill/>
          <a:ln>
            <a:noFill/>
          </a:ln>
        </p:spPr>
      </p:pic>
      <p:sp>
        <p:nvSpPr>
          <p:cNvPr id="389" name="Google Shape;389;p39"/>
          <p:cNvSpPr txBox="1"/>
          <p:nvPr/>
        </p:nvSpPr>
        <p:spPr>
          <a:xfrm>
            <a:off x="4429125" y="4752975"/>
            <a:ext cx="3333750" cy="2571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Modbus Command Frequency (Requests/sec)</a:t>
            </a:r>
            <a:endParaRPr/>
          </a:p>
        </p:txBody>
      </p:sp>
      <p:sp>
        <p:nvSpPr>
          <p:cNvPr id="390" name="Google Shape;390;p39"/>
          <p:cNvSpPr txBox="1"/>
          <p:nvPr/>
        </p:nvSpPr>
        <p:spPr>
          <a:xfrm>
            <a:off x="581025" y="5314950"/>
            <a:ext cx="11029950"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1" u="none" strike="noStrike" cap="none">
                <a:solidFill>
                  <a:srgbClr val="94A3B8"/>
                </a:solidFill>
                <a:latin typeface="Lato"/>
                <a:ea typeface="Lato"/>
                <a:cs typeface="Lato"/>
                <a:sym typeface="Lato"/>
              </a:rPr>
              <a:t>Analysis:</a:t>
            </a:r>
            <a:r>
              <a:rPr lang="en-US" sz="1350" b="0" i="1" u="none" strike="noStrike" cap="none">
                <a:solidFill>
                  <a:srgbClr val="94A3B8"/>
                </a:solidFill>
                <a:latin typeface="Lato"/>
                <a:ea typeface="Lato"/>
                <a:cs typeface="Lato"/>
                <a:sym typeface="Lato"/>
              </a:rPr>
              <a:t> A high-frequency flood exhausted PLC connection buffers, delaying legitimate control commands. Detected via Wazuh Rule 100530 (Frequency threshold).</a:t>
            </a:r>
            <a:endParaRPr/>
          </a:p>
        </p:txBody>
      </p:sp>
      <p:sp>
        <p:nvSpPr>
          <p:cNvPr id="391" name="Google Shape;391;p39"/>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Scenario 4: Modbus Denial of Service</a:t>
            </a:r>
            <a:endParaRPr/>
          </a:p>
        </p:txBody>
      </p:sp>
      <p:sp>
        <p:nvSpPr>
          <p:cNvPr id="392" name="Google Shape;392;p39"/>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396"/>
        <p:cNvGrpSpPr/>
        <p:nvPr/>
      </p:nvGrpSpPr>
      <p:grpSpPr>
        <a:xfrm>
          <a:off x="0" y="0"/>
          <a:ext cx="0" cy="0"/>
          <a:chOff x="0" y="0"/>
          <a:chExt cx="0" cy="0"/>
        </a:xfrm>
      </p:grpSpPr>
      <p:pic>
        <p:nvPicPr>
          <p:cNvPr id="397" name="Google Shape;397;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98" name="Google Shape;398;p40" descr="image.png"/>
          <p:cNvPicPr preferRelativeResize="0"/>
          <p:nvPr/>
        </p:nvPicPr>
        <p:blipFill rotWithShape="1">
          <a:blip r:embed="rId4">
            <a:alphaModFix/>
          </a:blip>
          <a:srcRect/>
          <a:stretch/>
        </p:blipFill>
        <p:spPr>
          <a:xfrm>
            <a:off x="6334125" y="3086100"/>
            <a:ext cx="5276850" cy="1524000"/>
          </a:xfrm>
          <a:prstGeom prst="rect">
            <a:avLst/>
          </a:prstGeom>
          <a:noFill/>
          <a:ln>
            <a:noFill/>
          </a:ln>
        </p:spPr>
      </p:pic>
      <p:sp>
        <p:nvSpPr>
          <p:cNvPr id="399" name="Google Shape;399;p40"/>
          <p:cNvSpPr txBox="1"/>
          <p:nvPr/>
        </p:nvSpPr>
        <p:spPr>
          <a:xfrm>
            <a:off x="581025" y="3086100"/>
            <a:ext cx="5277000" cy="554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Layered monitoring ensures no blind spots between network and process layers.</a:t>
            </a:r>
            <a:endParaRPr/>
          </a:p>
        </p:txBody>
      </p:sp>
      <p:sp>
        <p:nvSpPr>
          <p:cNvPr id="400" name="Google Shape;400;p40"/>
          <p:cNvSpPr txBox="1"/>
          <p:nvPr/>
        </p:nvSpPr>
        <p:spPr>
          <a:xfrm>
            <a:off x="6581775" y="3333750"/>
            <a:ext cx="4781700" cy="5541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Telemetry analysis successfully identifies stealthy reconnaissance that signature-based IDS often misses.</a:t>
            </a:r>
            <a:endParaRPr/>
          </a:p>
        </p:txBody>
      </p:sp>
      <p:sp>
        <p:nvSpPr>
          <p:cNvPr id="401" name="Google Shape;401;p40"/>
          <p:cNvSpPr txBox="1"/>
          <p:nvPr/>
        </p:nvSpPr>
        <p:spPr>
          <a:xfrm>
            <a:off x="581025" y="3810000"/>
            <a:ext cx="5277000" cy="231000"/>
          </a:xfrm>
          <a:prstGeom prst="rect">
            <a:avLst/>
          </a:prstGeom>
          <a:noFill/>
          <a:ln>
            <a:noFill/>
          </a:ln>
        </p:spPr>
        <p:txBody>
          <a:bodyPr spcFirstLastPara="1" wrap="square" lIns="314325"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Snort provides packet-level truth.</a:t>
            </a:r>
            <a:endParaRPr/>
          </a:p>
        </p:txBody>
      </p:sp>
      <p:sp>
        <p:nvSpPr>
          <p:cNvPr id="402" name="Google Shape;402;p40"/>
          <p:cNvSpPr txBox="1"/>
          <p:nvPr/>
        </p:nvSpPr>
        <p:spPr>
          <a:xfrm>
            <a:off x="581025" y="4076700"/>
            <a:ext cx="5277000" cy="231000"/>
          </a:xfrm>
          <a:prstGeom prst="rect">
            <a:avLst/>
          </a:prstGeom>
          <a:noFill/>
          <a:ln>
            <a:noFill/>
          </a:ln>
        </p:spPr>
        <p:txBody>
          <a:bodyPr spcFirstLastPara="1" wrap="square" lIns="314325"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Wazuh provides behavioral correlation.</a:t>
            </a:r>
            <a:endParaRPr/>
          </a:p>
        </p:txBody>
      </p:sp>
      <p:sp>
        <p:nvSpPr>
          <p:cNvPr id="403" name="Google Shape;403;p40"/>
          <p:cNvSpPr txBox="1"/>
          <p:nvPr/>
        </p:nvSpPr>
        <p:spPr>
          <a:xfrm>
            <a:off x="581025" y="4343400"/>
            <a:ext cx="5277000" cy="231000"/>
          </a:xfrm>
          <a:prstGeom prst="rect">
            <a:avLst/>
          </a:prstGeom>
          <a:noFill/>
          <a:ln>
            <a:noFill/>
          </a:ln>
        </p:spPr>
        <p:txBody>
          <a:bodyPr spcFirstLastPara="1" wrap="square" lIns="314325"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Heatmaps provide operational context.</a:t>
            </a:r>
            <a:endParaRPr/>
          </a:p>
        </p:txBody>
      </p:sp>
      <p:pic>
        <p:nvPicPr>
          <p:cNvPr id="404" name="Google Shape;404;p40" descr="image.png"/>
          <p:cNvPicPr preferRelativeResize="0"/>
          <p:nvPr/>
        </p:nvPicPr>
        <p:blipFill rotWithShape="1">
          <a:blip r:embed="rId5">
            <a:alphaModFix/>
          </a:blip>
          <a:srcRect/>
          <a:stretch/>
        </p:blipFill>
        <p:spPr>
          <a:xfrm>
            <a:off x="581025" y="3852862"/>
            <a:ext cx="171450" cy="200025"/>
          </a:xfrm>
          <a:prstGeom prst="rect">
            <a:avLst/>
          </a:prstGeom>
          <a:noFill/>
          <a:ln>
            <a:noFill/>
          </a:ln>
        </p:spPr>
      </p:pic>
      <p:pic>
        <p:nvPicPr>
          <p:cNvPr id="405" name="Google Shape;405;p40" descr="image.png"/>
          <p:cNvPicPr preferRelativeResize="0"/>
          <p:nvPr/>
        </p:nvPicPr>
        <p:blipFill rotWithShape="1">
          <a:blip r:embed="rId5">
            <a:alphaModFix/>
          </a:blip>
          <a:srcRect/>
          <a:stretch/>
        </p:blipFill>
        <p:spPr>
          <a:xfrm>
            <a:off x="581025" y="4119562"/>
            <a:ext cx="171450" cy="200025"/>
          </a:xfrm>
          <a:prstGeom prst="rect">
            <a:avLst/>
          </a:prstGeom>
          <a:noFill/>
          <a:ln>
            <a:noFill/>
          </a:ln>
        </p:spPr>
      </p:pic>
      <p:pic>
        <p:nvPicPr>
          <p:cNvPr id="406" name="Google Shape;406;p40" descr="image.png"/>
          <p:cNvPicPr preferRelativeResize="0"/>
          <p:nvPr/>
        </p:nvPicPr>
        <p:blipFill rotWithShape="1">
          <a:blip r:embed="rId5">
            <a:alphaModFix/>
          </a:blip>
          <a:srcRect/>
          <a:stretch/>
        </p:blipFill>
        <p:spPr>
          <a:xfrm>
            <a:off x="581025" y="4386262"/>
            <a:ext cx="171450" cy="200025"/>
          </a:xfrm>
          <a:prstGeom prst="rect">
            <a:avLst/>
          </a:prstGeom>
          <a:noFill/>
          <a:ln>
            <a:noFill/>
          </a:ln>
        </p:spPr>
      </p:pic>
      <p:sp>
        <p:nvSpPr>
          <p:cNvPr id="407" name="Google Shape;407;p40"/>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The IDS/SIEM Synergy</a:t>
            </a:r>
            <a:endParaRPr/>
          </a:p>
        </p:txBody>
      </p:sp>
      <p:sp>
        <p:nvSpPr>
          <p:cNvPr id="408" name="Google Shape;408;p40"/>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12"/>
        <p:cNvGrpSpPr/>
        <p:nvPr/>
      </p:nvGrpSpPr>
      <p:grpSpPr>
        <a:xfrm>
          <a:off x="0" y="0"/>
          <a:ext cx="0" cy="0"/>
          <a:chOff x="0" y="0"/>
          <a:chExt cx="0" cy="0"/>
        </a:xfrm>
      </p:grpSpPr>
      <p:sp>
        <p:nvSpPr>
          <p:cNvPr id="413" name="Google Shape;413;p41"/>
          <p:cNvSpPr/>
          <p:nvPr/>
        </p:nvSpPr>
        <p:spPr>
          <a:xfrm>
            <a:off x="590550" y="2952750"/>
            <a:ext cx="1605706"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4" name="Google Shape;414;p41"/>
          <p:cNvSpPr/>
          <p:nvPr/>
        </p:nvSpPr>
        <p:spPr>
          <a:xfrm>
            <a:off x="2196256" y="2952750"/>
            <a:ext cx="177477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5" name="Google Shape;415;p41"/>
          <p:cNvSpPr/>
          <p:nvPr/>
        </p:nvSpPr>
        <p:spPr>
          <a:xfrm>
            <a:off x="3971032" y="2952750"/>
            <a:ext cx="365819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6" name="Google Shape;416;p41"/>
          <p:cNvSpPr/>
          <p:nvPr/>
        </p:nvSpPr>
        <p:spPr>
          <a:xfrm>
            <a:off x="7629227" y="2952750"/>
            <a:ext cx="3972222"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7" name="Google Shape;417;p41"/>
          <p:cNvSpPr/>
          <p:nvPr/>
        </p:nvSpPr>
        <p:spPr>
          <a:xfrm>
            <a:off x="590550" y="3524250"/>
            <a:ext cx="1605706"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8" name="Google Shape;418;p41"/>
          <p:cNvSpPr/>
          <p:nvPr/>
        </p:nvSpPr>
        <p:spPr>
          <a:xfrm>
            <a:off x="2196256" y="3524250"/>
            <a:ext cx="177477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19" name="Google Shape;419;p41"/>
          <p:cNvSpPr/>
          <p:nvPr/>
        </p:nvSpPr>
        <p:spPr>
          <a:xfrm>
            <a:off x="3971032" y="3524250"/>
            <a:ext cx="365819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0" name="Google Shape;420;p41"/>
          <p:cNvSpPr/>
          <p:nvPr/>
        </p:nvSpPr>
        <p:spPr>
          <a:xfrm>
            <a:off x="7629227" y="3524250"/>
            <a:ext cx="3972222"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1" name="Google Shape;421;p41"/>
          <p:cNvSpPr/>
          <p:nvPr/>
        </p:nvSpPr>
        <p:spPr>
          <a:xfrm>
            <a:off x="590550" y="4095750"/>
            <a:ext cx="1605706"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2" name="Google Shape;422;p41"/>
          <p:cNvSpPr/>
          <p:nvPr/>
        </p:nvSpPr>
        <p:spPr>
          <a:xfrm>
            <a:off x="2196256" y="4095750"/>
            <a:ext cx="177477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3" name="Google Shape;423;p41"/>
          <p:cNvSpPr/>
          <p:nvPr/>
        </p:nvSpPr>
        <p:spPr>
          <a:xfrm>
            <a:off x="3971032" y="4095750"/>
            <a:ext cx="365819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4" name="Google Shape;424;p41"/>
          <p:cNvSpPr/>
          <p:nvPr/>
        </p:nvSpPr>
        <p:spPr>
          <a:xfrm>
            <a:off x="7629227" y="4095750"/>
            <a:ext cx="3972222"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5" name="Google Shape;425;p41"/>
          <p:cNvSpPr/>
          <p:nvPr/>
        </p:nvSpPr>
        <p:spPr>
          <a:xfrm>
            <a:off x="590550" y="4667250"/>
            <a:ext cx="1605706"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6" name="Google Shape;426;p41"/>
          <p:cNvSpPr/>
          <p:nvPr/>
        </p:nvSpPr>
        <p:spPr>
          <a:xfrm>
            <a:off x="2196256" y="4667250"/>
            <a:ext cx="177477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7" name="Google Shape;427;p41"/>
          <p:cNvSpPr/>
          <p:nvPr/>
        </p:nvSpPr>
        <p:spPr>
          <a:xfrm>
            <a:off x="3971032" y="4667250"/>
            <a:ext cx="365819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8" name="Google Shape;428;p41"/>
          <p:cNvSpPr/>
          <p:nvPr/>
        </p:nvSpPr>
        <p:spPr>
          <a:xfrm>
            <a:off x="7629227" y="4667250"/>
            <a:ext cx="3972222"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9" name="Google Shape;429;p41"/>
          <p:cNvSpPr/>
          <p:nvPr/>
        </p:nvSpPr>
        <p:spPr>
          <a:xfrm>
            <a:off x="590550" y="5238750"/>
            <a:ext cx="1605706"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0" name="Google Shape;430;p41"/>
          <p:cNvSpPr/>
          <p:nvPr/>
        </p:nvSpPr>
        <p:spPr>
          <a:xfrm>
            <a:off x="2196256" y="5238750"/>
            <a:ext cx="177477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1" name="Google Shape;431;p41"/>
          <p:cNvSpPr/>
          <p:nvPr/>
        </p:nvSpPr>
        <p:spPr>
          <a:xfrm>
            <a:off x="3971032" y="5238750"/>
            <a:ext cx="3658195"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2" name="Google Shape;432;p41"/>
          <p:cNvSpPr/>
          <p:nvPr/>
        </p:nvSpPr>
        <p:spPr>
          <a:xfrm>
            <a:off x="7629227" y="5238750"/>
            <a:ext cx="3972222" cy="9525"/>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3" name="Google Shape;433;p41"/>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Snort IDS: Custom Rule Design</a:t>
            </a:r>
            <a:endParaRPr/>
          </a:p>
        </p:txBody>
      </p:sp>
      <p:sp>
        <p:nvSpPr>
          <p:cNvPr id="434" name="Google Shape;434;p41"/>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35" name="Google Shape;435;p41"/>
          <p:cNvPicPr preferRelativeResize="0"/>
          <p:nvPr/>
        </p:nvPicPr>
        <p:blipFill>
          <a:blip r:embed="rId3">
            <a:alphaModFix/>
          </a:blip>
          <a:stretch>
            <a:fillRect/>
          </a:stretch>
        </p:blipFill>
        <p:spPr>
          <a:xfrm>
            <a:off x="1450938" y="2095175"/>
            <a:ext cx="9290126" cy="36346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39"/>
        <p:cNvGrpSpPr/>
        <p:nvPr/>
      </p:nvGrpSpPr>
      <p:grpSpPr>
        <a:xfrm>
          <a:off x="0" y="0"/>
          <a:ext cx="0" cy="0"/>
          <a:chOff x="0" y="0"/>
          <a:chExt cx="0" cy="0"/>
        </a:xfrm>
      </p:grpSpPr>
      <p:pic>
        <p:nvPicPr>
          <p:cNvPr id="440" name="Google Shape;440;p4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41" name="Google Shape;441;p42" descr="image.png"/>
          <p:cNvPicPr preferRelativeResize="0"/>
          <p:nvPr/>
        </p:nvPicPr>
        <p:blipFill rotWithShape="1">
          <a:blip r:embed="rId4">
            <a:alphaModFix/>
          </a:blip>
          <a:srcRect/>
          <a:stretch/>
        </p:blipFill>
        <p:spPr>
          <a:xfrm>
            <a:off x="581025" y="2933700"/>
            <a:ext cx="5276850" cy="1828800"/>
          </a:xfrm>
          <a:prstGeom prst="rect">
            <a:avLst/>
          </a:prstGeom>
          <a:noFill/>
          <a:ln>
            <a:noFill/>
          </a:ln>
        </p:spPr>
      </p:pic>
      <p:pic>
        <p:nvPicPr>
          <p:cNvPr id="442" name="Google Shape;442;p42" descr="image.png"/>
          <p:cNvPicPr preferRelativeResize="0"/>
          <p:nvPr/>
        </p:nvPicPr>
        <p:blipFill rotWithShape="1">
          <a:blip r:embed="rId5">
            <a:alphaModFix/>
          </a:blip>
          <a:srcRect/>
          <a:stretch/>
        </p:blipFill>
        <p:spPr>
          <a:xfrm>
            <a:off x="6334125" y="2933700"/>
            <a:ext cx="5276850" cy="1828800"/>
          </a:xfrm>
          <a:prstGeom prst="rect">
            <a:avLst/>
          </a:prstGeom>
          <a:noFill/>
          <a:ln>
            <a:noFill/>
          </a:ln>
        </p:spPr>
      </p:pic>
      <p:sp>
        <p:nvSpPr>
          <p:cNvPr id="443" name="Google Shape;443;p42"/>
          <p:cNvSpPr txBox="1"/>
          <p:nvPr/>
        </p:nvSpPr>
        <p:spPr>
          <a:xfrm>
            <a:off x="876300" y="3228975"/>
            <a:ext cx="492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Urbanist"/>
                <a:ea typeface="Urbanist"/>
                <a:cs typeface="Urbanist"/>
                <a:sym typeface="Urbanist"/>
              </a:rPr>
              <a:t>Alert Correlation</a:t>
            </a:r>
            <a:endParaRPr/>
          </a:p>
        </p:txBody>
      </p:sp>
      <p:sp>
        <p:nvSpPr>
          <p:cNvPr id="444" name="Google Shape;444;p42"/>
          <p:cNvSpPr txBox="1"/>
          <p:nvPr/>
        </p:nvSpPr>
        <p:spPr>
          <a:xfrm>
            <a:off x="876300" y="3667125"/>
            <a:ext cx="46863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Aggregates syslog alerts from pfSense/Snort. Uses hierarchical rules to increase severity based on repetition and frequency.</a:t>
            </a:r>
            <a:endParaRPr/>
          </a:p>
        </p:txBody>
      </p:sp>
      <p:sp>
        <p:nvSpPr>
          <p:cNvPr id="445" name="Google Shape;445;p42"/>
          <p:cNvSpPr txBox="1"/>
          <p:nvPr/>
        </p:nvSpPr>
        <p:spPr>
          <a:xfrm>
            <a:off x="6629400" y="3228975"/>
            <a:ext cx="492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Urbanist"/>
                <a:ea typeface="Urbanist"/>
                <a:cs typeface="Urbanist"/>
                <a:sym typeface="Urbanist"/>
              </a:rPr>
              <a:t>Threat Taxonomy</a:t>
            </a:r>
            <a:endParaRPr/>
          </a:p>
        </p:txBody>
      </p:sp>
      <p:sp>
        <p:nvSpPr>
          <p:cNvPr id="446" name="Google Shape;446;p42"/>
          <p:cNvSpPr txBox="1"/>
          <p:nvPr/>
        </p:nvSpPr>
        <p:spPr>
          <a:xfrm>
            <a:off x="6629400" y="3667125"/>
            <a:ext cx="46863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Maps alerts to the MITRE ATT&amp;CK for ICS framework, providing standardized context for industrial incident response.</a:t>
            </a:r>
            <a:endParaRPr/>
          </a:p>
        </p:txBody>
      </p:sp>
      <p:sp>
        <p:nvSpPr>
          <p:cNvPr id="447" name="Google Shape;447;p42"/>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Wazuh SIEM Integration</a:t>
            </a:r>
            <a:endParaRPr/>
          </a:p>
        </p:txBody>
      </p:sp>
      <p:sp>
        <p:nvSpPr>
          <p:cNvPr id="448" name="Google Shape;448;p42"/>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52"/>
        <p:cNvGrpSpPr/>
        <p:nvPr/>
      </p:nvGrpSpPr>
      <p:grpSpPr>
        <a:xfrm>
          <a:off x="0" y="0"/>
          <a:ext cx="0" cy="0"/>
          <a:chOff x="0" y="0"/>
          <a:chExt cx="0" cy="0"/>
        </a:xfrm>
      </p:grpSpPr>
      <p:pic>
        <p:nvPicPr>
          <p:cNvPr id="453" name="Google Shape;453;p4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54" name="Google Shape;454;p43"/>
          <p:cNvSpPr txBox="1"/>
          <p:nvPr/>
        </p:nvSpPr>
        <p:spPr>
          <a:xfrm>
            <a:off x="581025" y="2014537"/>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Centralized Monitoring</a:t>
            </a:r>
            <a:endParaRPr/>
          </a:p>
        </p:txBody>
      </p:sp>
      <p:sp>
        <p:nvSpPr>
          <p:cNvPr id="455" name="Google Shape;455;p43"/>
          <p:cNvSpPr txBox="1"/>
          <p:nvPr/>
        </p:nvSpPr>
        <p:spPr>
          <a:xfrm>
            <a:off x="914400" y="2490787"/>
            <a:ext cx="4991100"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Decoding:</a:t>
            </a:r>
            <a:r>
              <a:rPr lang="en-US" sz="1350" b="0" i="0" u="none" strike="noStrike" cap="none">
                <a:solidFill>
                  <a:srgbClr val="94A3B8"/>
                </a:solidFill>
                <a:latin typeface="Lato"/>
                <a:ea typeface="Lato"/>
                <a:cs typeface="Lato"/>
                <a:sym typeface="Lato"/>
              </a:rPr>
              <a:t> Custom decoders parse pfSense Snort alerts in real-time.</a:t>
            </a:r>
            <a:endParaRPr/>
          </a:p>
        </p:txBody>
      </p:sp>
      <p:sp>
        <p:nvSpPr>
          <p:cNvPr id="456" name="Google Shape;456;p43"/>
          <p:cNvSpPr txBox="1"/>
          <p:nvPr/>
        </p:nvSpPr>
        <p:spPr>
          <a:xfrm>
            <a:off x="914400" y="3169212"/>
            <a:ext cx="4991100" cy="5196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Rule Chaining:</a:t>
            </a:r>
            <a:r>
              <a:rPr lang="en-US" sz="1350" b="0" i="0" u="none" strike="noStrike" cap="none">
                <a:solidFill>
                  <a:srgbClr val="94A3B8"/>
                </a:solidFill>
                <a:latin typeface="Lato"/>
                <a:ea typeface="Lato"/>
                <a:cs typeface="Lato"/>
                <a:sym typeface="Lato"/>
              </a:rPr>
              <a:t> Parent-child hierarchy (100500-100530) for refined alerting.</a:t>
            </a:r>
            <a:endParaRPr/>
          </a:p>
        </p:txBody>
      </p:sp>
      <p:sp>
        <p:nvSpPr>
          <p:cNvPr id="457" name="Google Shape;457;p43"/>
          <p:cNvSpPr txBox="1"/>
          <p:nvPr/>
        </p:nvSpPr>
        <p:spPr>
          <a:xfrm>
            <a:off x="914400" y="3781437"/>
            <a:ext cx="4991100" cy="2079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Severity:</a:t>
            </a:r>
            <a:r>
              <a:rPr lang="en-US" sz="1350" b="0" i="0" u="none" strike="noStrike" cap="none">
                <a:solidFill>
                  <a:srgbClr val="94A3B8"/>
                </a:solidFill>
                <a:latin typeface="Lato"/>
                <a:ea typeface="Lato"/>
                <a:cs typeface="Lato"/>
                <a:sym typeface="Lato"/>
              </a:rPr>
              <a:t> Levels calibrated from 7 (Recon) to 13 (Critical DoS).</a:t>
            </a:r>
            <a:endParaRPr/>
          </a:p>
        </p:txBody>
      </p:sp>
      <p:pic>
        <p:nvPicPr>
          <p:cNvPr id="458" name="Google Shape;458;p43" descr="image.png"/>
          <p:cNvPicPr preferRelativeResize="0"/>
          <p:nvPr/>
        </p:nvPicPr>
        <p:blipFill rotWithShape="1">
          <a:blip r:embed="rId4">
            <a:alphaModFix/>
          </a:blip>
          <a:srcRect/>
          <a:stretch/>
        </p:blipFill>
        <p:spPr>
          <a:xfrm>
            <a:off x="581025" y="2524125"/>
            <a:ext cx="190500" cy="200025"/>
          </a:xfrm>
          <a:prstGeom prst="rect">
            <a:avLst/>
          </a:prstGeom>
          <a:noFill/>
          <a:ln>
            <a:noFill/>
          </a:ln>
        </p:spPr>
      </p:pic>
      <p:pic>
        <p:nvPicPr>
          <p:cNvPr id="459" name="Google Shape;459;p43" descr="image.png"/>
          <p:cNvPicPr preferRelativeResize="0"/>
          <p:nvPr/>
        </p:nvPicPr>
        <p:blipFill rotWithShape="1">
          <a:blip r:embed="rId5">
            <a:alphaModFix/>
          </a:blip>
          <a:srcRect/>
          <a:stretch/>
        </p:blipFill>
        <p:spPr>
          <a:xfrm>
            <a:off x="581025" y="3785363"/>
            <a:ext cx="190500" cy="200025"/>
          </a:xfrm>
          <a:prstGeom prst="rect">
            <a:avLst/>
          </a:prstGeom>
          <a:noFill/>
          <a:ln>
            <a:noFill/>
          </a:ln>
        </p:spPr>
      </p:pic>
      <p:sp>
        <p:nvSpPr>
          <p:cNvPr id="460" name="Google Shape;460;p43"/>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Wazuh SIEM: Alert &amp; Correlation</a:t>
            </a:r>
            <a:endParaRPr/>
          </a:p>
        </p:txBody>
      </p:sp>
      <p:sp>
        <p:nvSpPr>
          <p:cNvPr id="461" name="Google Shape;461;p43"/>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62" name="Google Shape;462;p43"/>
          <p:cNvPicPr preferRelativeResize="0"/>
          <p:nvPr/>
        </p:nvPicPr>
        <p:blipFill>
          <a:blip r:embed="rId6">
            <a:alphaModFix/>
          </a:blip>
          <a:stretch>
            <a:fillRect/>
          </a:stretch>
        </p:blipFill>
        <p:spPr>
          <a:xfrm>
            <a:off x="5652750" y="2188250"/>
            <a:ext cx="6172200" cy="27622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66"/>
        <p:cNvGrpSpPr/>
        <p:nvPr/>
      </p:nvGrpSpPr>
      <p:grpSpPr>
        <a:xfrm>
          <a:off x="0" y="0"/>
          <a:ext cx="0" cy="0"/>
          <a:chOff x="0" y="0"/>
          <a:chExt cx="0" cy="0"/>
        </a:xfrm>
      </p:grpSpPr>
      <p:pic>
        <p:nvPicPr>
          <p:cNvPr id="467" name="Google Shape;467;p4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68" name="Google Shape;468;p44"/>
          <p:cNvSpPr txBox="1"/>
          <p:nvPr/>
        </p:nvSpPr>
        <p:spPr>
          <a:xfrm>
            <a:off x="771525" y="581025"/>
            <a:ext cx="49905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Heatmap Detection</a:t>
            </a:r>
            <a:endParaRPr/>
          </a:p>
        </p:txBody>
      </p:sp>
      <p:sp>
        <p:nvSpPr>
          <p:cNvPr id="469" name="Google Shape;469;p44"/>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0" name="Google Shape;470;p44"/>
          <p:cNvSpPr txBox="1"/>
          <p:nvPr/>
        </p:nvSpPr>
        <p:spPr>
          <a:xfrm>
            <a:off x="581025" y="3057525"/>
            <a:ext cx="49434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Heatmaps transform high-volume telemetry into intuitive visual clusters. "Hot spots" reveal irregular activity or command floods.</a:t>
            </a:r>
            <a:endParaRPr/>
          </a:p>
        </p:txBody>
      </p:sp>
      <p:sp>
        <p:nvSpPr>
          <p:cNvPr id="471" name="Google Shape;471;p44"/>
          <p:cNvSpPr txBox="1"/>
          <p:nvPr/>
        </p:nvSpPr>
        <p:spPr>
          <a:xfrm>
            <a:off x="581025" y="4054350"/>
            <a:ext cx="49434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Provides spatiotemporal visibility that traditional threshold alerts often miss, identifying deviations in communication intensity.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75"/>
        <p:cNvGrpSpPr/>
        <p:nvPr/>
      </p:nvGrpSpPr>
      <p:grpSpPr>
        <a:xfrm>
          <a:off x="0" y="0"/>
          <a:ext cx="0" cy="0"/>
          <a:chOff x="0" y="0"/>
          <a:chExt cx="0" cy="0"/>
        </a:xfrm>
      </p:grpSpPr>
      <p:pic>
        <p:nvPicPr>
          <p:cNvPr id="476" name="Google Shape;476;p4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77" name="Google Shape;477;p45"/>
          <p:cNvSpPr txBox="1"/>
          <p:nvPr/>
        </p:nvSpPr>
        <p:spPr>
          <a:xfrm>
            <a:off x="771525" y="2286000"/>
            <a:ext cx="4990623"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Heatmap Visual Analytics</a:t>
            </a:r>
            <a:endParaRPr/>
          </a:p>
        </p:txBody>
      </p:sp>
      <p:sp>
        <p:nvSpPr>
          <p:cNvPr id="478" name="Google Shape;478;p45"/>
          <p:cNvSpPr/>
          <p:nvPr/>
        </p:nvSpPr>
        <p:spPr>
          <a:xfrm>
            <a:off x="581025" y="2286000"/>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9" name="Google Shape;479;p45"/>
          <p:cNvSpPr txBox="1"/>
          <p:nvPr/>
        </p:nvSpPr>
        <p:spPr>
          <a:xfrm>
            <a:off x="581025" y="3076575"/>
            <a:ext cx="49434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Heatmaps convert high-volume telemetry into intuitive spatial clusters. Deviations from normal operational baselines appear as "hot spots" of irregular activity.</a:t>
            </a:r>
            <a:endParaRPr/>
          </a:p>
        </p:txBody>
      </p:sp>
      <p:sp>
        <p:nvSpPr>
          <p:cNvPr id="480" name="Google Shape;480;p45"/>
          <p:cNvSpPr txBox="1"/>
          <p:nvPr/>
        </p:nvSpPr>
        <p:spPr>
          <a:xfrm>
            <a:off x="581025" y="3962400"/>
            <a:ext cx="49434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94A3B8"/>
                </a:solidFill>
                <a:latin typeface="Lato"/>
                <a:ea typeface="Lato"/>
                <a:cs typeface="Lato"/>
                <a:sym typeface="Lato"/>
              </a:rPr>
              <a:t>Benefits:</a:t>
            </a:r>
            <a:r>
              <a:rPr lang="en-US" sz="1350" b="0" i="0" u="none" strike="noStrike" cap="none">
                <a:solidFill>
                  <a:srgbClr val="94A3B8"/>
                </a:solidFill>
                <a:latin typeface="Lato"/>
                <a:ea typeface="Lato"/>
                <a:cs typeface="Lato"/>
                <a:sym typeface="Lato"/>
              </a:rPr>
              <a:t> Reduces analyst cognitive load and improves early anomaly identification by 22% compared to statistical thresholds.</a:t>
            </a:r>
            <a:endParaRPr/>
          </a:p>
        </p:txBody>
      </p:sp>
      <p:pic>
        <p:nvPicPr>
          <p:cNvPr id="481" name="Google Shape;481;p45"/>
          <p:cNvPicPr preferRelativeResize="0"/>
          <p:nvPr/>
        </p:nvPicPr>
        <p:blipFill rotWithShape="1">
          <a:blip r:embed="rId4">
            <a:alphaModFix/>
          </a:blip>
          <a:srcRect l="9379" t="17253"/>
          <a:stretch/>
        </p:blipFill>
        <p:spPr>
          <a:xfrm>
            <a:off x="5524500" y="1754254"/>
            <a:ext cx="6744299" cy="380867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485"/>
        <p:cNvGrpSpPr/>
        <p:nvPr/>
      </p:nvGrpSpPr>
      <p:grpSpPr>
        <a:xfrm>
          <a:off x="0" y="0"/>
          <a:ext cx="0" cy="0"/>
          <a:chOff x="0" y="0"/>
          <a:chExt cx="0" cy="0"/>
        </a:xfrm>
      </p:grpSpPr>
      <p:pic>
        <p:nvPicPr>
          <p:cNvPr id="486" name="Google Shape;486;p4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87" name="Google Shape;487;p46"/>
          <p:cNvSpPr txBox="1"/>
          <p:nvPr/>
        </p:nvSpPr>
        <p:spPr>
          <a:xfrm>
            <a:off x="581025" y="2938462"/>
            <a:ext cx="3860452" cy="13335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10500" b="1" i="0" u="none" strike="noStrike" cap="none">
                <a:solidFill>
                  <a:srgbClr val="38BDF8"/>
                </a:solidFill>
                <a:latin typeface="Urbanist"/>
                <a:ea typeface="Urbanist"/>
                <a:cs typeface="Urbanist"/>
                <a:sym typeface="Urbanist"/>
              </a:rPr>
              <a:t>94%</a:t>
            </a:r>
            <a:endParaRPr/>
          </a:p>
        </p:txBody>
      </p:sp>
      <p:sp>
        <p:nvSpPr>
          <p:cNvPr id="488" name="Google Shape;488;p46"/>
          <p:cNvSpPr txBox="1"/>
          <p:nvPr/>
        </p:nvSpPr>
        <p:spPr>
          <a:xfrm>
            <a:off x="581025" y="4367212"/>
            <a:ext cx="3860452"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F8FAFC"/>
                </a:solidFill>
                <a:latin typeface="Lato"/>
                <a:ea typeface="Lato"/>
                <a:cs typeface="Lato"/>
                <a:sym typeface="Lato"/>
              </a:rPr>
              <a:t>DETECTION ACCURACY</a:t>
            </a:r>
            <a:endParaRPr/>
          </a:p>
        </p:txBody>
      </p:sp>
      <p:sp>
        <p:nvSpPr>
          <p:cNvPr id="489" name="Google Shape;489;p46"/>
          <p:cNvSpPr txBox="1"/>
          <p:nvPr/>
        </p:nvSpPr>
        <p:spPr>
          <a:xfrm>
            <a:off x="4822477" y="3228975"/>
            <a:ext cx="6534150" cy="257175"/>
          </a:xfrm>
          <a:prstGeom prst="rect">
            <a:avLst/>
          </a:prstGeom>
          <a:noFill/>
          <a:ln>
            <a:noFill/>
          </a:ln>
        </p:spPr>
        <p:txBody>
          <a:bodyPr spcFirstLastPara="1" wrap="square" lIns="314325"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Telemetry analysis successfully identified stealthy reconnaissance that IDS missed.</a:t>
            </a:r>
            <a:endParaRPr/>
          </a:p>
        </p:txBody>
      </p:sp>
      <p:sp>
        <p:nvSpPr>
          <p:cNvPr id="490" name="Google Shape;490;p46"/>
          <p:cNvSpPr txBox="1"/>
          <p:nvPr/>
        </p:nvSpPr>
        <p:spPr>
          <a:xfrm>
            <a:off x="4822477" y="3676650"/>
            <a:ext cx="6534150" cy="257175"/>
          </a:xfrm>
          <a:prstGeom prst="rect">
            <a:avLst/>
          </a:prstGeom>
          <a:noFill/>
          <a:ln>
            <a:noFill/>
          </a:ln>
        </p:spPr>
        <p:txBody>
          <a:bodyPr spcFirstLastPara="1" wrap="square" lIns="314325"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Heatmaps reduced analyst investigation time by an estimated 40%.</a:t>
            </a:r>
            <a:endParaRPr/>
          </a:p>
        </p:txBody>
      </p:sp>
      <p:sp>
        <p:nvSpPr>
          <p:cNvPr id="491" name="Google Shape;491;p46"/>
          <p:cNvSpPr txBox="1"/>
          <p:nvPr/>
        </p:nvSpPr>
        <p:spPr>
          <a:xfrm>
            <a:off x="4822477" y="4124325"/>
            <a:ext cx="6534150" cy="257175"/>
          </a:xfrm>
          <a:prstGeom prst="rect">
            <a:avLst/>
          </a:prstGeom>
          <a:noFill/>
          <a:ln>
            <a:noFill/>
          </a:ln>
        </p:spPr>
        <p:txBody>
          <a:bodyPr spcFirstLastPara="1" wrap="square" lIns="314325"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Layered defense (Proxy + JIT + Analytics) significantly reduced the OT attack surface.</a:t>
            </a:r>
            <a:endParaRPr/>
          </a:p>
        </p:txBody>
      </p:sp>
      <p:pic>
        <p:nvPicPr>
          <p:cNvPr id="492" name="Google Shape;492;p46" descr="image.png"/>
          <p:cNvPicPr preferRelativeResize="0"/>
          <p:nvPr/>
        </p:nvPicPr>
        <p:blipFill rotWithShape="1">
          <a:blip r:embed="rId4">
            <a:alphaModFix/>
          </a:blip>
          <a:srcRect/>
          <a:stretch/>
        </p:blipFill>
        <p:spPr>
          <a:xfrm>
            <a:off x="4822477" y="3271837"/>
            <a:ext cx="171450" cy="180975"/>
          </a:xfrm>
          <a:prstGeom prst="rect">
            <a:avLst/>
          </a:prstGeom>
          <a:noFill/>
          <a:ln>
            <a:noFill/>
          </a:ln>
        </p:spPr>
      </p:pic>
      <p:pic>
        <p:nvPicPr>
          <p:cNvPr id="493" name="Google Shape;493;p46" descr="image.png"/>
          <p:cNvPicPr preferRelativeResize="0"/>
          <p:nvPr/>
        </p:nvPicPr>
        <p:blipFill rotWithShape="1">
          <a:blip r:embed="rId4">
            <a:alphaModFix/>
          </a:blip>
          <a:srcRect/>
          <a:stretch/>
        </p:blipFill>
        <p:spPr>
          <a:xfrm>
            <a:off x="4822477" y="3719512"/>
            <a:ext cx="171450" cy="180975"/>
          </a:xfrm>
          <a:prstGeom prst="rect">
            <a:avLst/>
          </a:prstGeom>
          <a:noFill/>
          <a:ln>
            <a:noFill/>
          </a:ln>
        </p:spPr>
      </p:pic>
      <p:pic>
        <p:nvPicPr>
          <p:cNvPr id="494" name="Google Shape;494;p46" descr="image.png"/>
          <p:cNvPicPr preferRelativeResize="0"/>
          <p:nvPr/>
        </p:nvPicPr>
        <p:blipFill rotWithShape="1">
          <a:blip r:embed="rId4">
            <a:alphaModFix/>
          </a:blip>
          <a:srcRect/>
          <a:stretch/>
        </p:blipFill>
        <p:spPr>
          <a:xfrm>
            <a:off x="4822477" y="4167187"/>
            <a:ext cx="171450" cy="180975"/>
          </a:xfrm>
          <a:prstGeom prst="rect">
            <a:avLst/>
          </a:prstGeom>
          <a:noFill/>
          <a:ln>
            <a:noFill/>
          </a:ln>
        </p:spPr>
      </p:pic>
      <p:sp>
        <p:nvSpPr>
          <p:cNvPr id="495" name="Google Shape;495;p46"/>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Results &amp; Impact Summary</a:t>
            </a:r>
            <a:endParaRPr/>
          </a:p>
        </p:txBody>
      </p:sp>
      <p:sp>
        <p:nvSpPr>
          <p:cNvPr id="496" name="Google Shape;496;p46"/>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500"/>
        <p:cNvGrpSpPr/>
        <p:nvPr/>
      </p:nvGrpSpPr>
      <p:grpSpPr>
        <a:xfrm>
          <a:off x="0" y="0"/>
          <a:ext cx="0" cy="0"/>
          <a:chOff x="0" y="0"/>
          <a:chExt cx="0" cy="0"/>
        </a:xfrm>
      </p:grpSpPr>
      <p:pic>
        <p:nvPicPr>
          <p:cNvPr id="501" name="Google Shape;501;p4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02" name="Google Shape;502;p47" descr="image.png"/>
          <p:cNvPicPr preferRelativeResize="0"/>
          <p:nvPr/>
        </p:nvPicPr>
        <p:blipFill rotWithShape="1">
          <a:blip r:embed="rId4">
            <a:alphaModFix/>
          </a:blip>
          <a:srcRect/>
          <a:stretch/>
        </p:blipFill>
        <p:spPr>
          <a:xfrm>
            <a:off x="581025" y="2293590"/>
            <a:ext cx="11029950" cy="2270670"/>
          </a:xfrm>
          <a:prstGeom prst="rect">
            <a:avLst/>
          </a:prstGeom>
          <a:noFill/>
          <a:ln>
            <a:noFill/>
          </a:ln>
        </p:spPr>
      </p:pic>
      <p:sp>
        <p:nvSpPr>
          <p:cNvPr id="503" name="Google Shape;503;p47"/>
          <p:cNvSpPr txBox="1"/>
          <p:nvPr/>
        </p:nvSpPr>
        <p:spPr>
          <a:xfrm>
            <a:off x="305276" y="2722215"/>
            <a:ext cx="11581500" cy="6927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4500" b="1" i="0" u="none" strike="noStrike" cap="none">
                <a:solidFill>
                  <a:srgbClr val="F8FAFC"/>
                </a:solidFill>
                <a:latin typeface="Urbanist"/>
                <a:ea typeface="Urbanist"/>
                <a:cs typeface="Urbanist"/>
                <a:sym typeface="Urbanist"/>
              </a:rPr>
              <a:t>CHAZOP Analysis</a:t>
            </a:r>
            <a:endParaRPr/>
          </a:p>
        </p:txBody>
      </p:sp>
      <p:sp>
        <p:nvSpPr>
          <p:cNvPr id="504" name="Google Shape;504;p47"/>
          <p:cNvSpPr txBox="1"/>
          <p:nvPr/>
        </p:nvSpPr>
        <p:spPr>
          <a:xfrm>
            <a:off x="581025" y="3598515"/>
            <a:ext cx="11030100" cy="300300"/>
          </a:xfrm>
          <a:prstGeom prst="rect">
            <a:avLst/>
          </a:prstGeom>
          <a:noFill/>
          <a:ln>
            <a:noFill/>
          </a:ln>
        </p:spPr>
        <p:txBody>
          <a:bodyPr spcFirstLastPara="1" wrap="square" lIns="0" tIns="0" rIns="0" bIns="0" anchor="t" anchorCtr="0">
            <a:spAutoFit/>
          </a:bodyPr>
          <a:lstStyle/>
          <a:p>
            <a:pPr marL="0" marR="0" lvl="0" indent="0" algn="ctr" rtl="0">
              <a:lnSpc>
                <a:spcPct val="139948"/>
              </a:lnSpc>
              <a:spcBef>
                <a:spcPts val="0"/>
              </a:spcBef>
              <a:spcAft>
                <a:spcPts val="0"/>
              </a:spcAft>
              <a:buNone/>
            </a:pPr>
            <a:r>
              <a:rPr lang="en-US" sz="1950" b="0" i="0" u="none" strike="noStrike" cap="none">
                <a:solidFill>
                  <a:srgbClr val="94A3B8"/>
                </a:solidFill>
                <a:latin typeface="Lato"/>
                <a:ea typeface="Lato"/>
                <a:cs typeface="Lato"/>
                <a:sym typeface="Lato"/>
              </a:rPr>
              <a:t>Systematic Evaluation of Cyber-Physical Deviations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508"/>
        <p:cNvGrpSpPr/>
        <p:nvPr/>
      </p:nvGrpSpPr>
      <p:grpSpPr>
        <a:xfrm>
          <a:off x="0" y="0"/>
          <a:ext cx="0" cy="0"/>
          <a:chOff x="0" y="0"/>
          <a:chExt cx="0" cy="0"/>
        </a:xfrm>
      </p:grpSpPr>
      <p:pic>
        <p:nvPicPr>
          <p:cNvPr id="509" name="Google Shape;509;p4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10" name="Google Shape;510;p48" descr="image.png"/>
          <p:cNvPicPr preferRelativeResize="0"/>
          <p:nvPr/>
        </p:nvPicPr>
        <p:blipFill rotWithShape="1">
          <a:blip r:embed="rId4">
            <a:alphaModFix/>
          </a:blip>
          <a:srcRect/>
          <a:stretch/>
        </p:blipFill>
        <p:spPr>
          <a:xfrm>
            <a:off x="581025" y="2933700"/>
            <a:ext cx="5276850" cy="1828800"/>
          </a:xfrm>
          <a:prstGeom prst="rect">
            <a:avLst/>
          </a:prstGeom>
          <a:noFill/>
          <a:ln>
            <a:noFill/>
          </a:ln>
        </p:spPr>
      </p:pic>
      <p:pic>
        <p:nvPicPr>
          <p:cNvPr id="511" name="Google Shape;511;p48" descr="image.png"/>
          <p:cNvPicPr preferRelativeResize="0"/>
          <p:nvPr/>
        </p:nvPicPr>
        <p:blipFill rotWithShape="1">
          <a:blip r:embed="rId5">
            <a:alphaModFix/>
          </a:blip>
          <a:srcRect/>
          <a:stretch/>
        </p:blipFill>
        <p:spPr>
          <a:xfrm>
            <a:off x="6334125" y="2933700"/>
            <a:ext cx="5276850" cy="1828800"/>
          </a:xfrm>
          <a:prstGeom prst="rect">
            <a:avLst/>
          </a:prstGeom>
          <a:noFill/>
          <a:ln>
            <a:noFill/>
          </a:ln>
        </p:spPr>
      </p:pic>
      <p:sp>
        <p:nvSpPr>
          <p:cNvPr id="512" name="Google Shape;512;p48"/>
          <p:cNvSpPr txBox="1"/>
          <p:nvPr/>
        </p:nvSpPr>
        <p:spPr>
          <a:xfrm>
            <a:off x="876300" y="3228975"/>
            <a:ext cx="492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Urbanist"/>
                <a:ea typeface="Urbanist"/>
                <a:cs typeface="Urbanist"/>
                <a:sym typeface="Urbanist"/>
              </a:rPr>
              <a:t>Behavioral Translation</a:t>
            </a:r>
            <a:endParaRPr/>
          </a:p>
        </p:txBody>
      </p:sp>
      <p:sp>
        <p:nvSpPr>
          <p:cNvPr id="513" name="Google Shape;513;p48"/>
          <p:cNvSpPr txBox="1"/>
          <p:nvPr/>
        </p:nvSpPr>
        <p:spPr>
          <a:xfrm>
            <a:off x="876300" y="3667125"/>
            <a:ext cx="46863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Examines how network actions (Modbus commands) produce physical process deviations and harmful system effects.</a:t>
            </a:r>
            <a:endParaRPr/>
          </a:p>
        </p:txBody>
      </p:sp>
      <p:sp>
        <p:nvSpPr>
          <p:cNvPr id="514" name="Google Shape;514;p48"/>
          <p:cNvSpPr txBox="1"/>
          <p:nvPr/>
        </p:nvSpPr>
        <p:spPr>
          <a:xfrm>
            <a:off x="6629400" y="3228975"/>
            <a:ext cx="492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Urbanist"/>
                <a:ea typeface="Urbanist"/>
                <a:cs typeface="Urbanist"/>
                <a:sym typeface="Urbanist"/>
              </a:rPr>
              <a:t>Node Decomposition</a:t>
            </a:r>
            <a:endParaRPr/>
          </a:p>
        </p:txBody>
      </p:sp>
      <p:sp>
        <p:nvSpPr>
          <p:cNvPr id="515" name="Google Shape;515;p48"/>
          <p:cNvSpPr txBox="1"/>
          <p:nvPr/>
        </p:nvSpPr>
        <p:spPr>
          <a:xfrm>
            <a:off x="6629400" y="3667125"/>
            <a:ext cx="4686300" cy="554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NYMEGA is decomposed into critical nodes: PLC, HMI, Channels, Historian, and Engineering pathways.</a:t>
            </a:r>
            <a:endParaRPr/>
          </a:p>
        </p:txBody>
      </p:sp>
      <p:sp>
        <p:nvSpPr>
          <p:cNvPr id="516" name="Google Shape;516;p48"/>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CHAZOP Methodology</a:t>
            </a:r>
            <a:endParaRPr/>
          </a:p>
        </p:txBody>
      </p:sp>
      <p:sp>
        <p:nvSpPr>
          <p:cNvPr id="517" name="Google Shape;517;p48"/>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521"/>
        <p:cNvGrpSpPr/>
        <p:nvPr/>
      </p:nvGrpSpPr>
      <p:grpSpPr>
        <a:xfrm>
          <a:off x="0" y="0"/>
          <a:ext cx="0" cy="0"/>
          <a:chOff x="0" y="0"/>
          <a:chExt cx="0" cy="0"/>
        </a:xfrm>
      </p:grpSpPr>
      <p:pic>
        <p:nvPicPr>
          <p:cNvPr id="522" name="Google Shape;522;p4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23" name="Google Shape;523;p49" descr="image.png"/>
          <p:cNvPicPr preferRelativeResize="0"/>
          <p:nvPr/>
        </p:nvPicPr>
        <p:blipFill rotWithShape="1">
          <a:blip r:embed="rId4">
            <a:alphaModFix/>
          </a:blip>
          <a:srcRect/>
          <a:stretch/>
        </p:blipFill>
        <p:spPr>
          <a:xfrm>
            <a:off x="581025" y="2847975"/>
            <a:ext cx="2578893" cy="2000250"/>
          </a:xfrm>
          <a:prstGeom prst="rect">
            <a:avLst/>
          </a:prstGeom>
          <a:noFill/>
          <a:ln>
            <a:noFill/>
          </a:ln>
        </p:spPr>
      </p:pic>
      <p:pic>
        <p:nvPicPr>
          <p:cNvPr id="524" name="Google Shape;524;p49" descr="image.png"/>
          <p:cNvPicPr preferRelativeResize="0"/>
          <p:nvPr/>
        </p:nvPicPr>
        <p:blipFill rotWithShape="1">
          <a:blip r:embed="rId5">
            <a:alphaModFix/>
          </a:blip>
          <a:srcRect/>
          <a:stretch/>
        </p:blipFill>
        <p:spPr>
          <a:xfrm>
            <a:off x="3398043" y="2847975"/>
            <a:ext cx="2578893" cy="2000250"/>
          </a:xfrm>
          <a:prstGeom prst="rect">
            <a:avLst/>
          </a:prstGeom>
          <a:noFill/>
          <a:ln>
            <a:noFill/>
          </a:ln>
        </p:spPr>
      </p:pic>
      <p:pic>
        <p:nvPicPr>
          <p:cNvPr id="525" name="Google Shape;525;p49" descr="image.png"/>
          <p:cNvPicPr preferRelativeResize="0"/>
          <p:nvPr/>
        </p:nvPicPr>
        <p:blipFill rotWithShape="1">
          <a:blip r:embed="rId6">
            <a:alphaModFix/>
          </a:blip>
          <a:srcRect/>
          <a:stretch/>
        </p:blipFill>
        <p:spPr>
          <a:xfrm>
            <a:off x="6215062" y="2847975"/>
            <a:ext cx="2578893" cy="2000250"/>
          </a:xfrm>
          <a:prstGeom prst="rect">
            <a:avLst/>
          </a:prstGeom>
          <a:noFill/>
          <a:ln>
            <a:noFill/>
          </a:ln>
        </p:spPr>
      </p:pic>
      <p:pic>
        <p:nvPicPr>
          <p:cNvPr id="526" name="Google Shape;526;p49" descr="image.png"/>
          <p:cNvPicPr preferRelativeResize="0"/>
          <p:nvPr/>
        </p:nvPicPr>
        <p:blipFill rotWithShape="1">
          <a:blip r:embed="rId6">
            <a:alphaModFix/>
          </a:blip>
          <a:srcRect/>
          <a:stretch/>
        </p:blipFill>
        <p:spPr>
          <a:xfrm>
            <a:off x="9032081" y="2847975"/>
            <a:ext cx="2578893" cy="2000250"/>
          </a:xfrm>
          <a:prstGeom prst="rect">
            <a:avLst/>
          </a:prstGeom>
          <a:noFill/>
          <a:ln>
            <a:noFill/>
          </a:ln>
        </p:spPr>
      </p:pic>
      <p:sp>
        <p:nvSpPr>
          <p:cNvPr id="527" name="Google Shape;527;p49"/>
          <p:cNvSpPr txBox="1"/>
          <p:nvPr/>
        </p:nvSpPr>
        <p:spPr>
          <a:xfrm>
            <a:off x="776585" y="3095625"/>
            <a:ext cx="218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MORE</a:t>
            </a:r>
            <a:endParaRPr/>
          </a:p>
        </p:txBody>
      </p:sp>
      <p:sp>
        <p:nvSpPr>
          <p:cNvPr id="528" name="Google Shape;528;p49"/>
          <p:cNvSpPr txBox="1"/>
          <p:nvPr/>
        </p:nvSpPr>
        <p:spPr>
          <a:xfrm>
            <a:off x="828675" y="3533775"/>
            <a:ext cx="2083500" cy="1200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Increased command frequency or process values exceeding thresholds.</a:t>
            </a:r>
            <a:endParaRPr/>
          </a:p>
        </p:txBody>
      </p:sp>
      <p:sp>
        <p:nvSpPr>
          <p:cNvPr id="529" name="Google Shape;529;p49"/>
          <p:cNvSpPr txBox="1"/>
          <p:nvPr/>
        </p:nvSpPr>
        <p:spPr>
          <a:xfrm>
            <a:off x="3593603" y="3095625"/>
            <a:ext cx="218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LESS</a:t>
            </a:r>
            <a:endParaRPr/>
          </a:p>
        </p:txBody>
      </p:sp>
      <p:sp>
        <p:nvSpPr>
          <p:cNvPr id="530" name="Google Shape;530;p49"/>
          <p:cNvSpPr txBox="1"/>
          <p:nvPr/>
        </p:nvSpPr>
        <p:spPr>
          <a:xfrm>
            <a:off x="3645693" y="3533775"/>
            <a:ext cx="2083500" cy="877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Missing telemetry data or disrupted communication patterns.</a:t>
            </a:r>
            <a:endParaRPr/>
          </a:p>
        </p:txBody>
      </p:sp>
      <p:sp>
        <p:nvSpPr>
          <p:cNvPr id="531" name="Google Shape;531;p49"/>
          <p:cNvSpPr txBox="1"/>
          <p:nvPr/>
        </p:nvSpPr>
        <p:spPr>
          <a:xfrm>
            <a:off x="6410622" y="3095625"/>
            <a:ext cx="218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OTHER THAN</a:t>
            </a:r>
            <a:endParaRPr/>
          </a:p>
        </p:txBody>
      </p:sp>
      <p:sp>
        <p:nvSpPr>
          <p:cNvPr id="532" name="Google Shape;532;p49"/>
          <p:cNvSpPr txBox="1"/>
          <p:nvPr/>
        </p:nvSpPr>
        <p:spPr>
          <a:xfrm>
            <a:off x="6462712" y="3533775"/>
            <a:ext cx="2083500" cy="8775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Falsified data injection or unexpected function code usage.</a:t>
            </a:r>
            <a:endParaRPr/>
          </a:p>
        </p:txBody>
      </p:sp>
      <p:sp>
        <p:nvSpPr>
          <p:cNvPr id="533" name="Google Shape;533;p49"/>
          <p:cNvSpPr txBox="1"/>
          <p:nvPr/>
        </p:nvSpPr>
        <p:spPr>
          <a:xfrm>
            <a:off x="9227641" y="3095625"/>
            <a:ext cx="2187900" cy="3231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DEFF9A"/>
                </a:solidFill>
                <a:latin typeface="Urbanist"/>
                <a:ea typeface="Urbanist"/>
                <a:cs typeface="Urbanist"/>
                <a:sym typeface="Urbanist"/>
              </a:rPr>
              <a:t>AS WELL AS</a:t>
            </a:r>
            <a:endParaRPr/>
          </a:p>
        </p:txBody>
      </p:sp>
      <p:sp>
        <p:nvSpPr>
          <p:cNvPr id="534" name="Google Shape;534;p49"/>
          <p:cNvSpPr txBox="1"/>
          <p:nvPr/>
        </p:nvSpPr>
        <p:spPr>
          <a:xfrm>
            <a:off x="9279731" y="3533775"/>
            <a:ext cx="2083500" cy="1200600"/>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Unauthorized commands injected alongside legitimate traffic.</a:t>
            </a:r>
            <a:endParaRPr/>
          </a:p>
        </p:txBody>
      </p:sp>
      <p:sp>
        <p:nvSpPr>
          <p:cNvPr id="535" name="Google Shape;535;p49"/>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CHAZOP Guidewords</a:t>
            </a:r>
            <a:endParaRPr/>
          </a:p>
        </p:txBody>
      </p:sp>
      <p:sp>
        <p:nvSpPr>
          <p:cNvPr id="536" name="Google Shape;536;p49"/>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540"/>
        <p:cNvGrpSpPr/>
        <p:nvPr/>
      </p:nvGrpSpPr>
      <p:grpSpPr>
        <a:xfrm>
          <a:off x="0" y="0"/>
          <a:ext cx="0" cy="0"/>
          <a:chOff x="0" y="0"/>
          <a:chExt cx="0" cy="0"/>
        </a:xfrm>
      </p:grpSpPr>
      <p:pic>
        <p:nvPicPr>
          <p:cNvPr id="541" name="Google Shape;541;p5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42" name="Google Shape;542;p50" descr="image.png"/>
          <p:cNvPicPr preferRelativeResize="0"/>
          <p:nvPr/>
        </p:nvPicPr>
        <p:blipFill rotWithShape="1">
          <a:blip r:embed="rId4">
            <a:alphaModFix/>
          </a:blip>
          <a:srcRect/>
          <a:stretch/>
        </p:blipFill>
        <p:spPr>
          <a:xfrm>
            <a:off x="581025" y="2933700"/>
            <a:ext cx="5276850" cy="1828800"/>
          </a:xfrm>
          <a:prstGeom prst="rect">
            <a:avLst/>
          </a:prstGeom>
          <a:noFill/>
          <a:ln>
            <a:noFill/>
          </a:ln>
        </p:spPr>
      </p:pic>
      <p:pic>
        <p:nvPicPr>
          <p:cNvPr id="543" name="Google Shape;543;p50" descr="image.png"/>
          <p:cNvPicPr preferRelativeResize="0"/>
          <p:nvPr/>
        </p:nvPicPr>
        <p:blipFill rotWithShape="1">
          <a:blip r:embed="rId5">
            <a:alphaModFix/>
          </a:blip>
          <a:srcRect/>
          <a:stretch/>
        </p:blipFill>
        <p:spPr>
          <a:xfrm>
            <a:off x="6334125" y="2933700"/>
            <a:ext cx="5276850" cy="1828800"/>
          </a:xfrm>
          <a:prstGeom prst="rect">
            <a:avLst/>
          </a:prstGeom>
          <a:noFill/>
          <a:ln>
            <a:noFill/>
          </a:ln>
        </p:spPr>
      </p:pic>
      <p:sp>
        <p:nvSpPr>
          <p:cNvPr id="544" name="Google Shape;544;p50"/>
          <p:cNvSpPr txBox="1"/>
          <p:nvPr/>
        </p:nvSpPr>
        <p:spPr>
          <a:xfrm>
            <a:off x="876300" y="3228975"/>
            <a:ext cx="492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Urbanist"/>
                <a:ea typeface="Urbanist"/>
                <a:cs typeface="Urbanist"/>
                <a:sym typeface="Urbanist"/>
              </a:rPr>
              <a:t>Visibility Loss</a:t>
            </a:r>
            <a:endParaRPr/>
          </a:p>
        </p:txBody>
      </p:sp>
      <p:sp>
        <p:nvSpPr>
          <p:cNvPr id="545" name="Google Shape;545;p50"/>
          <p:cNvSpPr txBox="1"/>
          <p:nvPr/>
        </p:nvSpPr>
        <p:spPr>
          <a:xfrm>
            <a:off x="876300" y="3667125"/>
            <a:ext cx="4686300" cy="5541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"LESS" telemetry indicates stealthy attacks or collector failure, blinding operators to the physical process state.</a:t>
            </a:r>
            <a:endParaRPr/>
          </a:p>
        </p:txBody>
      </p:sp>
      <p:sp>
        <p:nvSpPr>
          <p:cNvPr id="546" name="Google Shape;546;p50"/>
          <p:cNvSpPr txBox="1"/>
          <p:nvPr/>
        </p:nvSpPr>
        <p:spPr>
          <a:xfrm>
            <a:off x="6629400" y="3228975"/>
            <a:ext cx="4920600" cy="323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DEFF9A"/>
                </a:solidFill>
                <a:latin typeface="Urbanist"/>
                <a:ea typeface="Urbanist"/>
                <a:cs typeface="Urbanist"/>
                <a:sym typeface="Urbanist"/>
              </a:rPr>
              <a:t>Manipulation Risks</a:t>
            </a:r>
            <a:endParaRPr/>
          </a:p>
        </p:txBody>
      </p:sp>
      <p:sp>
        <p:nvSpPr>
          <p:cNvPr id="547" name="Google Shape;547;p50"/>
          <p:cNvSpPr txBox="1"/>
          <p:nvPr/>
        </p:nvSpPr>
        <p:spPr>
          <a:xfrm>
            <a:off x="6629400" y="3667125"/>
            <a:ext cx="46863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94A3B8"/>
                </a:solidFill>
                <a:latin typeface="Lato"/>
                <a:ea typeface="Lato"/>
                <a:cs typeface="Lato"/>
                <a:sym typeface="Lato"/>
              </a:rPr>
              <a:t>"OTHER THAN" (Falsified Data) injection leads to incorrect operator decisions without triggering traditional alarms.</a:t>
            </a:r>
            <a:endParaRPr/>
          </a:p>
        </p:txBody>
      </p:sp>
      <p:sp>
        <p:nvSpPr>
          <p:cNvPr id="548" name="Google Shape;548;p50"/>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Historian Hazards</a:t>
            </a:r>
            <a:endParaRPr/>
          </a:p>
        </p:txBody>
      </p:sp>
      <p:sp>
        <p:nvSpPr>
          <p:cNvPr id="549" name="Google Shape;549;p50"/>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553"/>
        <p:cNvGrpSpPr/>
        <p:nvPr/>
      </p:nvGrpSpPr>
      <p:grpSpPr>
        <a:xfrm>
          <a:off x="0" y="0"/>
          <a:ext cx="0" cy="0"/>
          <a:chOff x="0" y="0"/>
          <a:chExt cx="0" cy="0"/>
        </a:xfrm>
      </p:grpSpPr>
      <p:pic>
        <p:nvPicPr>
          <p:cNvPr id="554" name="Google Shape;554;p51" descr="image.png"/>
          <p:cNvPicPr preferRelativeResize="0"/>
          <p:nvPr/>
        </p:nvPicPr>
        <p:blipFill rotWithShape="1">
          <a:blip r:embed="rId3">
            <a:alphaModFix/>
          </a:blip>
          <a:srcRect/>
          <a:stretch/>
        </p:blipFill>
        <p:spPr>
          <a:xfrm>
            <a:off x="0" y="0"/>
            <a:ext cx="12192000" cy="6858000"/>
          </a:xfrm>
          <a:prstGeom prst="rect">
            <a:avLst/>
          </a:prstGeom>
          <a:noFill/>
          <a:ln>
            <a:noFill/>
          </a:ln>
        </p:spPr>
      </p:pic>
      <p:graphicFrame>
        <p:nvGraphicFramePr>
          <p:cNvPr id="555" name="Google Shape;555;p51"/>
          <p:cNvGraphicFramePr/>
          <p:nvPr/>
        </p:nvGraphicFramePr>
        <p:xfrm>
          <a:off x="581025" y="2490787"/>
          <a:ext cx="3000000" cy="3000000"/>
        </p:xfrm>
        <a:graphic>
          <a:graphicData uri="http://schemas.openxmlformats.org/drawingml/2006/table">
            <a:tbl>
              <a:tblPr firstRow="1" bandRow="1">
                <a:noFill/>
                <a:tableStyleId>{EF4D5070-D421-4122-9760-A1DB0ECE04A5}</a:tableStyleId>
              </a:tblPr>
              <a:tblGrid>
                <a:gridCol w="1974800">
                  <a:extLst>
                    <a:ext uri="{9D8B030D-6E8A-4147-A177-3AD203B41FA5}">
                      <a16:colId xmlns:a16="http://schemas.microsoft.com/office/drawing/2014/main" val="20000"/>
                    </a:ext>
                  </a:extLst>
                </a:gridCol>
                <a:gridCol w="2109200">
                  <a:extLst>
                    <a:ext uri="{9D8B030D-6E8A-4147-A177-3AD203B41FA5}">
                      <a16:colId xmlns:a16="http://schemas.microsoft.com/office/drawing/2014/main" val="20001"/>
                    </a:ext>
                  </a:extLst>
                </a:gridCol>
                <a:gridCol w="3358600">
                  <a:extLst>
                    <a:ext uri="{9D8B030D-6E8A-4147-A177-3AD203B41FA5}">
                      <a16:colId xmlns:a16="http://schemas.microsoft.com/office/drawing/2014/main" val="20002"/>
                    </a:ext>
                  </a:extLst>
                </a:gridCol>
                <a:gridCol w="3587350">
                  <a:extLst>
                    <a:ext uri="{9D8B030D-6E8A-4147-A177-3AD203B41FA5}">
                      <a16:colId xmlns:a16="http://schemas.microsoft.com/office/drawing/2014/main" val="20003"/>
                    </a:ext>
                  </a:extLst>
                </a:gridCol>
              </a:tblGrid>
              <a:tr h="542925">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Node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Deviation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Cyber Cause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Detection Method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PLC (Process)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MORE (Water)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Modbus FC16 Attack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Telemetry spikes, Heatmaps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PLC (Breaker)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AS WELL AS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Scripted FC05 commands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Repeated state changes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556" name="Google Shape;556;p51"/>
          <p:cNvSpPr/>
          <p:nvPr/>
        </p:nvSpPr>
        <p:spPr>
          <a:xfrm>
            <a:off x="581025" y="3019425"/>
            <a:ext cx="19749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7" name="Google Shape;557;p51"/>
          <p:cNvSpPr/>
          <p:nvPr/>
        </p:nvSpPr>
        <p:spPr>
          <a:xfrm>
            <a:off x="2555825" y="3019425"/>
            <a:ext cx="210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8" name="Google Shape;558;p51"/>
          <p:cNvSpPr/>
          <p:nvPr/>
        </p:nvSpPr>
        <p:spPr>
          <a:xfrm>
            <a:off x="4665017" y="3019425"/>
            <a:ext cx="3358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59" name="Google Shape;559;p51"/>
          <p:cNvSpPr/>
          <p:nvPr/>
        </p:nvSpPr>
        <p:spPr>
          <a:xfrm>
            <a:off x="8023621" y="3019425"/>
            <a:ext cx="35874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0" name="Google Shape;560;p51"/>
          <p:cNvSpPr/>
          <p:nvPr/>
        </p:nvSpPr>
        <p:spPr>
          <a:xfrm>
            <a:off x="581025" y="3562350"/>
            <a:ext cx="19749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1" name="Google Shape;561;p51"/>
          <p:cNvSpPr/>
          <p:nvPr/>
        </p:nvSpPr>
        <p:spPr>
          <a:xfrm>
            <a:off x="2555825" y="3562350"/>
            <a:ext cx="210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2" name="Google Shape;562;p51"/>
          <p:cNvSpPr/>
          <p:nvPr/>
        </p:nvSpPr>
        <p:spPr>
          <a:xfrm>
            <a:off x="4665017" y="3562350"/>
            <a:ext cx="3358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3" name="Google Shape;563;p51"/>
          <p:cNvSpPr/>
          <p:nvPr/>
        </p:nvSpPr>
        <p:spPr>
          <a:xfrm>
            <a:off x="8023621" y="3562350"/>
            <a:ext cx="35874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4" name="Google Shape;564;p51"/>
          <p:cNvSpPr/>
          <p:nvPr/>
        </p:nvSpPr>
        <p:spPr>
          <a:xfrm>
            <a:off x="581025" y="4105275"/>
            <a:ext cx="19749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5" name="Google Shape;565;p51"/>
          <p:cNvSpPr/>
          <p:nvPr/>
        </p:nvSpPr>
        <p:spPr>
          <a:xfrm>
            <a:off x="2555825" y="4105275"/>
            <a:ext cx="210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6" name="Google Shape;566;p51"/>
          <p:cNvSpPr/>
          <p:nvPr/>
        </p:nvSpPr>
        <p:spPr>
          <a:xfrm>
            <a:off x="4665017" y="4105275"/>
            <a:ext cx="3358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7" name="Google Shape;567;p51"/>
          <p:cNvSpPr/>
          <p:nvPr/>
        </p:nvSpPr>
        <p:spPr>
          <a:xfrm>
            <a:off x="8023621" y="4105275"/>
            <a:ext cx="35874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8" name="Google Shape;568;p51"/>
          <p:cNvSpPr/>
          <p:nvPr/>
        </p:nvSpPr>
        <p:spPr>
          <a:xfrm>
            <a:off x="581025" y="4648200"/>
            <a:ext cx="19749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9" name="Google Shape;569;p51"/>
          <p:cNvSpPr/>
          <p:nvPr/>
        </p:nvSpPr>
        <p:spPr>
          <a:xfrm>
            <a:off x="2555825" y="4648200"/>
            <a:ext cx="210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0" name="Google Shape;570;p51"/>
          <p:cNvSpPr/>
          <p:nvPr/>
        </p:nvSpPr>
        <p:spPr>
          <a:xfrm>
            <a:off x="4665017" y="4648200"/>
            <a:ext cx="3358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1" name="Google Shape;571;p51"/>
          <p:cNvSpPr/>
          <p:nvPr/>
        </p:nvSpPr>
        <p:spPr>
          <a:xfrm>
            <a:off x="8023621" y="4648200"/>
            <a:ext cx="35874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2" name="Google Shape;572;p51"/>
          <p:cNvSpPr/>
          <p:nvPr/>
        </p:nvSpPr>
        <p:spPr>
          <a:xfrm>
            <a:off x="581025" y="5191125"/>
            <a:ext cx="19749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3" name="Google Shape;573;p51"/>
          <p:cNvSpPr/>
          <p:nvPr/>
        </p:nvSpPr>
        <p:spPr>
          <a:xfrm>
            <a:off x="2555825" y="5191125"/>
            <a:ext cx="21093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4" name="Google Shape;574;p51"/>
          <p:cNvSpPr/>
          <p:nvPr/>
        </p:nvSpPr>
        <p:spPr>
          <a:xfrm>
            <a:off x="4665017" y="5191125"/>
            <a:ext cx="3358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5" name="Google Shape;575;p51"/>
          <p:cNvSpPr/>
          <p:nvPr/>
        </p:nvSpPr>
        <p:spPr>
          <a:xfrm>
            <a:off x="8023621" y="5191125"/>
            <a:ext cx="35874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76" name="Google Shape;576;p51"/>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CHAZOP Matrix (1)</a:t>
            </a:r>
            <a:endParaRPr/>
          </a:p>
        </p:txBody>
      </p:sp>
      <p:sp>
        <p:nvSpPr>
          <p:cNvPr id="577" name="Google Shape;577;p51"/>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581"/>
        <p:cNvGrpSpPr/>
        <p:nvPr/>
      </p:nvGrpSpPr>
      <p:grpSpPr>
        <a:xfrm>
          <a:off x="0" y="0"/>
          <a:ext cx="0" cy="0"/>
          <a:chOff x="0" y="0"/>
          <a:chExt cx="0" cy="0"/>
        </a:xfrm>
      </p:grpSpPr>
      <p:pic>
        <p:nvPicPr>
          <p:cNvPr id="582" name="Google Shape;582;p5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583" name="Google Shape;583;p52"/>
          <p:cNvSpPr/>
          <p:nvPr/>
        </p:nvSpPr>
        <p:spPr>
          <a:xfrm>
            <a:off x="581025" y="2490787"/>
            <a:ext cx="11030100" cy="2714700"/>
          </a:xfrm>
          <a:prstGeom prst="roundRect">
            <a:avLst>
              <a:gd name="adj" fmla="val 0"/>
            </a:avLst>
          </a:prstGeom>
          <a:solidFill>
            <a:srgbClr val="0F172A"/>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584" name="Google Shape;584;p52"/>
          <p:cNvGraphicFramePr/>
          <p:nvPr/>
        </p:nvGraphicFramePr>
        <p:xfrm>
          <a:off x="581025" y="2490787"/>
          <a:ext cx="3000000" cy="3000000"/>
        </p:xfrm>
        <a:graphic>
          <a:graphicData uri="http://schemas.openxmlformats.org/drawingml/2006/table">
            <a:tbl>
              <a:tblPr firstRow="1" bandRow="1">
                <a:noFill/>
                <a:tableStyleId>{EF4D5070-D421-4122-9760-A1DB0ECE04A5}</a:tableStyleId>
              </a:tblPr>
              <a:tblGrid>
                <a:gridCol w="1913175">
                  <a:extLst>
                    <a:ext uri="{9D8B030D-6E8A-4147-A177-3AD203B41FA5}">
                      <a16:colId xmlns:a16="http://schemas.microsoft.com/office/drawing/2014/main" val="20000"/>
                    </a:ext>
                  </a:extLst>
                </a:gridCol>
                <a:gridCol w="2579925">
                  <a:extLst>
                    <a:ext uri="{9D8B030D-6E8A-4147-A177-3AD203B41FA5}">
                      <a16:colId xmlns:a16="http://schemas.microsoft.com/office/drawing/2014/main" val="20001"/>
                    </a:ext>
                  </a:extLst>
                </a:gridCol>
                <a:gridCol w="2942175">
                  <a:extLst>
                    <a:ext uri="{9D8B030D-6E8A-4147-A177-3AD203B41FA5}">
                      <a16:colId xmlns:a16="http://schemas.microsoft.com/office/drawing/2014/main" val="20002"/>
                    </a:ext>
                  </a:extLst>
                </a:gridCol>
                <a:gridCol w="3594650">
                  <a:extLst>
                    <a:ext uri="{9D8B030D-6E8A-4147-A177-3AD203B41FA5}">
                      <a16:colId xmlns:a16="http://schemas.microsoft.com/office/drawing/2014/main" val="20003"/>
                    </a:ext>
                  </a:extLst>
                </a:gridCol>
              </a:tblGrid>
              <a:tr h="542925">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Node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Deviation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Cyber Cause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Detection Method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Historian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LESS (Missing)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Collector disruption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Flatline monitoring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Historian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OTHER THAN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Data Replay / FDI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Correlation with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HMI / Proxy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AS WELL AS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Credential misuse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Wazuh alerts, Access logs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Engineering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MORE (Privilege)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Standing credentials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Session auditing</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85" name="Google Shape;585;p52"/>
          <p:cNvSpPr/>
          <p:nvPr/>
        </p:nvSpPr>
        <p:spPr>
          <a:xfrm>
            <a:off x="581025" y="3019425"/>
            <a:ext cx="1913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6" name="Google Shape;586;p52"/>
          <p:cNvSpPr/>
          <p:nvPr/>
        </p:nvSpPr>
        <p:spPr>
          <a:xfrm>
            <a:off x="2494210" y="3019425"/>
            <a:ext cx="2580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7" name="Google Shape;587;p52"/>
          <p:cNvSpPr/>
          <p:nvPr/>
        </p:nvSpPr>
        <p:spPr>
          <a:xfrm>
            <a:off x="5074146" y="3019425"/>
            <a:ext cx="2942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8" name="Google Shape;588;p52"/>
          <p:cNvSpPr/>
          <p:nvPr/>
        </p:nvSpPr>
        <p:spPr>
          <a:xfrm>
            <a:off x="8016329" y="3019425"/>
            <a:ext cx="35946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9" name="Google Shape;589;p52"/>
          <p:cNvSpPr/>
          <p:nvPr/>
        </p:nvSpPr>
        <p:spPr>
          <a:xfrm>
            <a:off x="581025" y="3562350"/>
            <a:ext cx="1913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0" name="Google Shape;590;p52"/>
          <p:cNvSpPr/>
          <p:nvPr/>
        </p:nvSpPr>
        <p:spPr>
          <a:xfrm>
            <a:off x="2494210" y="3562350"/>
            <a:ext cx="2580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1" name="Google Shape;591;p52"/>
          <p:cNvSpPr/>
          <p:nvPr/>
        </p:nvSpPr>
        <p:spPr>
          <a:xfrm>
            <a:off x="5074146" y="3562350"/>
            <a:ext cx="2942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2" name="Google Shape;592;p52"/>
          <p:cNvSpPr/>
          <p:nvPr/>
        </p:nvSpPr>
        <p:spPr>
          <a:xfrm>
            <a:off x="8016329" y="3562350"/>
            <a:ext cx="35946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3" name="Google Shape;593;p52"/>
          <p:cNvSpPr/>
          <p:nvPr/>
        </p:nvSpPr>
        <p:spPr>
          <a:xfrm>
            <a:off x="581025" y="4105275"/>
            <a:ext cx="1913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4" name="Google Shape;594;p52"/>
          <p:cNvSpPr/>
          <p:nvPr/>
        </p:nvSpPr>
        <p:spPr>
          <a:xfrm>
            <a:off x="2494210" y="4105275"/>
            <a:ext cx="2580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5" name="Google Shape;595;p52"/>
          <p:cNvSpPr/>
          <p:nvPr/>
        </p:nvSpPr>
        <p:spPr>
          <a:xfrm>
            <a:off x="5074146" y="4105275"/>
            <a:ext cx="2942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6" name="Google Shape;596;p52"/>
          <p:cNvSpPr/>
          <p:nvPr/>
        </p:nvSpPr>
        <p:spPr>
          <a:xfrm>
            <a:off x="8016329" y="4105275"/>
            <a:ext cx="35946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7" name="Google Shape;597;p52"/>
          <p:cNvSpPr/>
          <p:nvPr/>
        </p:nvSpPr>
        <p:spPr>
          <a:xfrm>
            <a:off x="581025" y="4648200"/>
            <a:ext cx="1913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8" name="Google Shape;598;p52"/>
          <p:cNvSpPr/>
          <p:nvPr/>
        </p:nvSpPr>
        <p:spPr>
          <a:xfrm>
            <a:off x="2494210" y="4648200"/>
            <a:ext cx="2580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9" name="Google Shape;599;p52"/>
          <p:cNvSpPr/>
          <p:nvPr/>
        </p:nvSpPr>
        <p:spPr>
          <a:xfrm>
            <a:off x="5074146" y="4648200"/>
            <a:ext cx="2942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0" name="Google Shape;600;p52"/>
          <p:cNvSpPr/>
          <p:nvPr/>
        </p:nvSpPr>
        <p:spPr>
          <a:xfrm>
            <a:off x="8016329" y="4648200"/>
            <a:ext cx="35946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1" name="Google Shape;601;p52"/>
          <p:cNvSpPr/>
          <p:nvPr/>
        </p:nvSpPr>
        <p:spPr>
          <a:xfrm>
            <a:off x="581025" y="5191125"/>
            <a:ext cx="1913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2" name="Google Shape;602;p52"/>
          <p:cNvSpPr/>
          <p:nvPr/>
        </p:nvSpPr>
        <p:spPr>
          <a:xfrm>
            <a:off x="2494210" y="5191125"/>
            <a:ext cx="2580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3" name="Google Shape;603;p52"/>
          <p:cNvSpPr/>
          <p:nvPr/>
        </p:nvSpPr>
        <p:spPr>
          <a:xfrm>
            <a:off x="5074146" y="5191125"/>
            <a:ext cx="29421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4" name="Google Shape;604;p52"/>
          <p:cNvSpPr/>
          <p:nvPr/>
        </p:nvSpPr>
        <p:spPr>
          <a:xfrm>
            <a:off x="8016329" y="5191125"/>
            <a:ext cx="35946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05" name="Google Shape;605;p52"/>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CHAZOP Matrix (2)</a:t>
            </a:r>
            <a:endParaRPr/>
          </a:p>
        </p:txBody>
      </p:sp>
      <p:sp>
        <p:nvSpPr>
          <p:cNvPr id="606" name="Google Shape;606;p52"/>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610"/>
        <p:cNvGrpSpPr/>
        <p:nvPr/>
      </p:nvGrpSpPr>
      <p:grpSpPr>
        <a:xfrm>
          <a:off x="0" y="0"/>
          <a:ext cx="0" cy="0"/>
          <a:chOff x="0" y="0"/>
          <a:chExt cx="0" cy="0"/>
        </a:xfrm>
      </p:grpSpPr>
      <p:pic>
        <p:nvPicPr>
          <p:cNvPr id="611" name="Google Shape;611;p5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12" name="Google Shape;612;p53"/>
          <p:cNvSpPr/>
          <p:nvPr/>
        </p:nvSpPr>
        <p:spPr>
          <a:xfrm>
            <a:off x="581025" y="2762250"/>
            <a:ext cx="11030100" cy="2028300"/>
          </a:xfrm>
          <a:prstGeom prst="roundRect">
            <a:avLst>
              <a:gd name="adj" fmla="val 0"/>
            </a:avLst>
          </a:prstGeom>
          <a:solidFill>
            <a:srgbClr val="0F172A"/>
          </a:solidFill>
          <a:ln w="9525" cap="flat" cmpd="sng">
            <a:solidFill>
              <a:srgbClr val="4A7DB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613" name="Google Shape;613;p53"/>
          <p:cNvGraphicFramePr/>
          <p:nvPr/>
        </p:nvGraphicFramePr>
        <p:xfrm>
          <a:off x="581100" y="2618725"/>
          <a:ext cx="3000000" cy="3000000"/>
        </p:xfrm>
        <a:graphic>
          <a:graphicData uri="http://schemas.openxmlformats.org/drawingml/2006/table">
            <a:tbl>
              <a:tblPr firstRow="1" bandRow="1">
                <a:noFill/>
                <a:tableStyleId>{EF4D5070-D421-4122-9760-A1DB0ECE04A5}</a:tableStyleId>
              </a:tblPr>
              <a:tblGrid>
                <a:gridCol w="1804850">
                  <a:extLst>
                    <a:ext uri="{9D8B030D-6E8A-4147-A177-3AD203B41FA5}">
                      <a16:colId xmlns:a16="http://schemas.microsoft.com/office/drawing/2014/main" val="20000"/>
                    </a:ext>
                  </a:extLst>
                </a:gridCol>
                <a:gridCol w="2644675">
                  <a:extLst>
                    <a:ext uri="{9D8B030D-6E8A-4147-A177-3AD203B41FA5}">
                      <a16:colId xmlns:a16="http://schemas.microsoft.com/office/drawing/2014/main" val="20001"/>
                    </a:ext>
                  </a:extLst>
                </a:gridCol>
                <a:gridCol w="3133425">
                  <a:extLst>
                    <a:ext uri="{9D8B030D-6E8A-4147-A177-3AD203B41FA5}">
                      <a16:colId xmlns:a16="http://schemas.microsoft.com/office/drawing/2014/main" val="20002"/>
                    </a:ext>
                  </a:extLst>
                </a:gridCol>
                <a:gridCol w="3447000">
                  <a:extLst>
                    <a:ext uri="{9D8B030D-6E8A-4147-A177-3AD203B41FA5}">
                      <a16:colId xmlns:a16="http://schemas.microsoft.com/office/drawing/2014/main" val="20003"/>
                    </a:ext>
                  </a:extLst>
                </a:gridCol>
              </a:tblGrid>
              <a:tr h="542925">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Node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Deviation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Cyber Cause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tc>
                  <a:txBody>
                    <a:bodyPr/>
                    <a:lstStyle/>
                    <a:p>
                      <a:pPr marL="0" marR="0" lvl="0" indent="0" algn="l" rtl="0">
                        <a:spcBef>
                          <a:spcPts val="0"/>
                        </a:spcBef>
                        <a:spcAft>
                          <a:spcPts val="0"/>
                        </a:spcAft>
                        <a:buNone/>
                      </a:pPr>
                      <a:r>
                        <a:rPr lang="en-US" sz="1500" b="1" i="0" u="none" strike="noStrike" cap="none">
                          <a:solidFill>
                            <a:srgbClr val="94A3B8"/>
                          </a:solidFill>
                          <a:latin typeface="Lato"/>
                          <a:ea typeface="Lato"/>
                          <a:cs typeface="Lato"/>
                          <a:sym typeface="Lato"/>
                        </a:rPr>
                        <a:t>Detection Method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E293B"/>
                    </a:solidFill>
                  </a:tcPr>
                </a:tc>
                <a:extLst>
                  <a:ext uri="{0D108BD9-81ED-4DB2-BD59-A6C34878D82A}">
                    <a16:rowId xmlns:a16="http://schemas.microsoft.com/office/drawing/2014/main" val="10000"/>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Firewall</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OTHER THAN (Path)</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Misconfigured rules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SIEM correlation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Telemetry</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NO (Data Loss)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Collector failure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Redundancy checks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42925">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System-Wide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AS WELL AS</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Attack Chain Propagation</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500" b="0" i="0" u="none" strike="noStrike" cap="none">
                          <a:solidFill>
                            <a:srgbClr val="94A3B8"/>
                          </a:solidFill>
                          <a:latin typeface="Lato"/>
                          <a:ea typeface="Lato"/>
                          <a:cs typeface="Lato"/>
                          <a:sym typeface="Lato"/>
                        </a:rPr>
                        <a:t>Integrated Telemetry + SIEM</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614" name="Google Shape;614;p53"/>
          <p:cNvSpPr/>
          <p:nvPr/>
        </p:nvSpPr>
        <p:spPr>
          <a:xfrm>
            <a:off x="581025" y="3290887"/>
            <a:ext cx="180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5" name="Google Shape;615;p53"/>
          <p:cNvSpPr/>
          <p:nvPr/>
        </p:nvSpPr>
        <p:spPr>
          <a:xfrm>
            <a:off x="2385863" y="3290887"/>
            <a:ext cx="264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6" name="Google Shape;616;p53"/>
          <p:cNvSpPr/>
          <p:nvPr/>
        </p:nvSpPr>
        <p:spPr>
          <a:xfrm>
            <a:off x="5030539" y="3290887"/>
            <a:ext cx="3133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7" name="Google Shape;617;p53"/>
          <p:cNvSpPr/>
          <p:nvPr/>
        </p:nvSpPr>
        <p:spPr>
          <a:xfrm>
            <a:off x="8163966" y="3290887"/>
            <a:ext cx="3447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8" name="Google Shape;618;p53"/>
          <p:cNvSpPr/>
          <p:nvPr/>
        </p:nvSpPr>
        <p:spPr>
          <a:xfrm>
            <a:off x="581025" y="3833812"/>
            <a:ext cx="180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9" name="Google Shape;619;p53"/>
          <p:cNvSpPr/>
          <p:nvPr/>
        </p:nvSpPr>
        <p:spPr>
          <a:xfrm>
            <a:off x="2385863" y="3833812"/>
            <a:ext cx="264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0" name="Google Shape;620;p53"/>
          <p:cNvSpPr/>
          <p:nvPr/>
        </p:nvSpPr>
        <p:spPr>
          <a:xfrm>
            <a:off x="5030539" y="3833812"/>
            <a:ext cx="3133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1" name="Google Shape;621;p53"/>
          <p:cNvSpPr/>
          <p:nvPr/>
        </p:nvSpPr>
        <p:spPr>
          <a:xfrm>
            <a:off x="8163966" y="3833812"/>
            <a:ext cx="3447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2" name="Google Shape;622;p53"/>
          <p:cNvSpPr/>
          <p:nvPr/>
        </p:nvSpPr>
        <p:spPr>
          <a:xfrm>
            <a:off x="581025" y="4376737"/>
            <a:ext cx="180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3" name="Google Shape;623;p53"/>
          <p:cNvSpPr/>
          <p:nvPr/>
        </p:nvSpPr>
        <p:spPr>
          <a:xfrm>
            <a:off x="2385863" y="4376737"/>
            <a:ext cx="264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4" name="Google Shape;624;p53"/>
          <p:cNvSpPr/>
          <p:nvPr/>
        </p:nvSpPr>
        <p:spPr>
          <a:xfrm>
            <a:off x="5030539" y="4376737"/>
            <a:ext cx="3133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5" name="Google Shape;625;p53"/>
          <p:cNvSpPr/>
          <p:nvPr/>
        </p:nvSpPr>
        <p:spPr>
          <a:xfrm>
            <a:off x="8163966" y="4376737"/>
            <a:ext cx="3447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6" name="Google Shape;626;p53"/>
          <p:cNvSpPr/>
          <p:nvPr/>
        </p:nvSpPr>
        <p:spPr>
          <a:xfrm>
            <a:off x="581025" y="4919662"/>
            <a:ext cx="180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7" name="Google Shape;627;p53"/>
          <p:cNvSpPr/>
          <p:nvPr/>
        </p:nvSpPr>
        <p:spPr>
          <a:xfrm>
            <a:off x="2385863" y="4919662"/>
            <a:ext cx="26448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8" name="Google Shape;628;p53"/>
          <p:cNvSpPr/>
          <p:nvPr/>
        </p:nvSpPr>
        <p:spPr>
          <a:xfrm>
            <a:off x="5030539" y="4919662"/>
            <a:ext cx="31335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29" name="Google Shape;629;p53"/>
          <p:cNvSpPr/>
          <p:nvPr/>
        </p:nvSpPr>
        <p:spPr>
          <a:xfrm>
            <a:off x="8163966" y="4919662"/>
            <a:ext cx="3447000" cy="9600"/>
          </a:xfrm>
          <a:prstGeom prst="rect">
            <a:avLst/>
          </a:prstGeom>
          <a:solidFill>
            <a:srgbClr val="1E293B"/>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30" name="Google Shape;630;p53"/>
          <p:cNvSpPr txBox="1"/>
          <p:nvPr/>
        </p:nvSpPr>
        <p:spPr>
          <a:xfrm>
            <a:off x="771525" y="581025"/>
            <a:ext cx="113814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CHAZOP Matrix (3)</a:t>
            </a:r>
            <a:endParaRPr/>
          </a:p>
        </p:txBody>
      </p:sp>
      <p:sp>
        <p:nvSpPr>
          <p:cNvPr id="631" name="Google Shape;631;p53"/>
          <p:cNvSpPr/>
          <p:nvPr/>
        </p:nvSpPr>
        <p:spPr>
          <a:xfrm>
            <a:off x="581025" y="581025"/>
            <a:ext cx="47700" cy="457200"/>
          </a:xfrm>
          <a:prstGeom prst="rect">
            <a:avLst/>
          </a:prstGeom>
          <a:solidFill>
            <a:srgbClr val="DEFF9A"/>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80808"/>
        </a:solidFill>
        <a:effectLst/>
      </p:bgPr>
    </p:bg>
    <p:spTree>
      <p:nvGrpSpPr>
        <p:cNvPr id="1" name="Shape 635"/>
        <p:cNvGrpSpPr/>
        <p:nvPr/>
      </p:nvGrpSpPr>
      <p:grpSpPr>
        <a:xfrm>
          <a:off x="0" y="0"/>
          <a:ext cx="0" cy="0"/>
          <a:chOff x="0" y="0"/>
          <a:chExt cx="0" cy="0"/>
        </a:xfrm>
      </p:grpSpPr>
      <p:pic>
        <p:nvPicPr>
          <p:cNvPr id="636" name="Google Shape;636;p5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37" name="Google Shape;637;p54"/>
          <p:cNvSpPr txBox="1"/>
          <p:nvPr/>
        </p:nvSpPr>
        <p:spPr>
          <a:xfrm>
            <a:off x="676275" y="2362795"/>
            <a:ext cx="5440800" cy="300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DEFF9A"/>
                </a:solidFill>
                <a:latin typeface="Urbanist SemiBold"/>
                <a:ea typeface="Urbanist SemiBold"/>
                <a:cs typeface="Urbanist SemiBold"/>
                <a:sym typeface="Urbanist SemiBold"/>
              </a:rPr>
              <a:t>Reverse Proxy Architecture</a:t>
            </a:r>
            <a:endParaRPr/>
          </a:p>
        </p:txBody>
      </p:sp>
      <p:sp>
        <p:nvSpPr>
          <p:cNvPr id="638" name="Google Shape;638;p54"/>
          <p:cNvSpPr txBox="1"/>
          <p:nvPr/>
        </p:nvSpPr>
        <p:spPr>
          <a:xfrm>
            <a:off x="676275" y="2848570"/>
            <a:ext cx="5181600" cy="5484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DAFFDE"/>
                </a:solidFill>
                <a:latin typeface="Lato"/>
                <a:ea typeface="Lato"/>
                <a:cs typeface="Lato"/>
                <a:sym typeface="Lato"/>
              </a:rPr>
              <a:t>Acts as an intermediary in the ICS DMZ to securely present read-only HMI dashboards to IT users.</a:t>
            </a:r>
            <a:endParaRPr/>
          </a:p>
        </p:txBody>
      </p:sp>
      <p:sp>
        <p:nvSpPr>
          <p:cNvPr id="639" name="Google Shape;639;p54"/>
          <p:cNvSpPr txBox="1"/>
          <p:nvPr/>
        </p:nvSpPr>
        <p:spPr>
          <a:xfrm>
            <a:off x="952500" y="3531989"/>
            <a:ext cx="1047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AFFDE"/>
                </a:solidFill>
                <a:latin typeface="Lato"/>
                <a:ea typeface="Lato"/>
                <a:cs typeface="Lato"/>
                <a:sym typeface="Lato"/>
              </a:rPr>
              <a:t>•</a:t>
            </a:r>
            <a:endParaRPr/>
          </a:p>
        </p:txBody>
      </p:sp>
      <p:sp>
        <p:nvSpPr>
          <p:cNvPr id="640" name="Google Shape;640;p54"/>
          <p:cNvSpPr txBox="1"/>
          <p:nvPr/>
        </p:nvSpPr>
        <p:spPr>
          <a:xfrm>
            <a:off x="1057275" y="3534370"/>
            <a:ext cx="48006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Lato"/>
                <a:ea typeface="Lato"/>
                <a:cs typeface="Lato"/>
                <a:sym typeface="Lato"/>
              </a:rPr>
              <a:t>TLS Encryption:</a:t>
            </a:r>
            <a:r>
              <a:rPr lang="en-US" sz="1425" b="0" i="0" u="none" strike="noStrike" cap="none">
                <a:solidFill>
                  <a:srgbClr val="DAFFDE"/>
                </a:solidFill>
                <a:latin typeface="Lato"/>
                <a:ea typeface="Lato"/>
                <a:cs typeface="Lato"/>
                <a:sym typeface="Lato"/>
              </a:rPr>
              <a:t> Encrypted transport for monitoring.</a:t>
            </a:r>
            <a:endParaRPr/>
          </a:p>
        </p:txBody>
      </p:sp>
      <p:sp>
        <p:nvSpPr>
          <p:cNvPr id="641" name="Google Shape;641;p54"/>
          <p:cNvSpPr txBox="1"/>
          <p:nvPr/>
        </p:nvSpPr>
        <p:spPr>
          <a:xfrm>
            <a:off x="952500" y="3898701"/>
            <a:ext cx="1047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AFFDE"/>
                </a:solidFill>
                <a:latin typeface="Lato"/>
                <a:ea typeface="Lato"/>
                <a:cs typeface="Lato"/>
                <a:sym typeface="Lato"/>
              </a:rPr>
              <a:t>•</a:t>
            </a:r>
            <a:endParaRPr/>
          </a:p>
        </p:txBody>
      </p:sp>
      <p:sp>
        <p:nvSpPr>
          <p:cNvPr id="642" name="Google Shape;642;p54"/>
          <p:cNvSpPr txBox="1"/>
          <p:nvPr/>
        </p:nvSpPr>
        <p:spPr>
          <a:xfrm>
            <a:off x="1057275" y="3901082"/>
            <a:ext cx="48006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Lato"/>
                <a:ea typeface="Lato"/>
                <a:cs typeface="Lato"/>
                <a:sym typeface="Lato"/>
              </a:rPr>
              <a:t>Authentication:</a:t>
            </a:r>
            <a:r>
              <a:rPr lang="en-US" sz="1425" b="0" i="0" u="none" strike="noStrike" cap="none">
                <a:solidFill>
                  <a:srgbClr val="DAFFDE"/>
                </a:solidFill>
                <a:latin typeface="Lato"/>
                <a:ea typeface="Lato"/>
                <a:cs typeface="Lato"/>
                <a:sym typeface="Lato"/>
              </a:rPr>
              <a:t> Prevents unauthorized HMI access.</a:t>
            </a:r>
            <a:endParaRPr/>
          </a:p>
        </p:txBody>
      </p:sp>
      <p:sp>
        <p:nvSpPr>
          <p:cNvPr id="643" name="Google Shape;643;p54"/>
          <p:cNvSpPr txBox="1"/>
          <p:nvPr/>
        </p:nvSpPr>
        <p:spPr>
          <a:xfrm>
            <a:off x="952500" y="4265414"/>
            <a:ext cx="104700" cy="21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25" b="0" i="0" u="none" strike="noStrike" cap="none">
                <a:solidFill>
                  <a:srgbClr val="DAFFDE"/>
                </a:solidFill>
                <a:latin typeface="Lato"/>
                <a:ea typeface="Lato"/>
                <a:cs typeface="Lato"/>
                <a:sym typeface="Lato"/>
              </a:rPr>
              <a:t>•</a:t>
            </a:r>
            <a:endParaRPr/>
          </a:p>
        </p:txBody>
      </p:sp>
      <p:sp>
        <p:nvSpPr>
          <p:cNvPr id="644" name="Google Shape;644;p54"/>
          <p:cNvSpPr txBox="1"/>
          <p:nvPr/>
        </p:nvSpPr>
        <p:spPr>
          <a:xfrm>
            <a:off x="1057275" y="4267795"/>
            <a:ext cx="4800600" cy="219300"/>
          </a:xfrm>
          <a:prstGeom prst="rect">
            <a:avLst/>
          </a:prstGeom>
          <a:noFill/>
          <a:ln>
            <a:noFill/>
          </a:ln>
        </p:spPr>
        <p:txBody>
          <a:bodyPr spcFirstLastPara="1" wrap="square" lIns="104775" tIns="0" rIns="0" bIns="0" anchor="t" anchorCtr="0">
            <a:spAutoFit/>
          </a:bodyPr>
          <a:lstStyle/>
          <a:p>
            <a:pPr marL="0" marR="0" lvl="0" indent="0" algn="l" rtl="0">
              <a:lnSpc>
                <a:spcPct val="149964"/>
              </a:lnSpc>
              <a:spcBef>
                <a:spcPts val="0"/>
              </a:spcBef>
              <a:spcAft>
                <a:spcPts val="0"/>
              </a:spcAft>
              <a:buNone/>
            </a:pPr>
            <a:r>
              <a:rPr lang="en-US" sz="1425" b="1" i="0" u="none" strike="noStrike" cap="none">
                <a:solidFill>
                  <a:srgbClr val="DAFFDE"/>
                </a:solidFill>
                <a:latin typeface="Lato"/>
                <a:ea typeface="Lato"/>
                <a:cs typeface="Lato"/>
                <a:sym typeface="Lato"/>
              </a:rPr>
              <a:t>Segment Isolation:</a:t>
            </a:r>
            <a:r>
              <a:rPr lang="en-US" sz="1425" b="0" i="0" u="none" strike="noStrike" cap="none">
                <a:solidFill>
                  <a:srgbClr val="DAFFDE"/>
                </a:solidFill>
                <a:latin typeface="Lato"/>
                <a:ea typeface="Lato"/>
                <a:cs typeface="Lato"/>
                <a:sym typeface="Lato"/>
              </a:rPr>
              <a:t> Blocks direct IT-to-OT routing.</a:t>
            </a:r>
            <a:endParaRPr/>
          </a:p>
        </p:txBody>
      </p:sp>
      <p:sp>
        <p:nvSpPr>
          <p:cNvPr id="645" name="Google Shape;645;p54"/>
          <p:cNvSpPr txBox="1"/>
          <p:nvPr/>
        </p:nvSpPr>
        <p:spPr>
          <a:xfrm>
            <a:off x="866775" y="485775"/>
            <a:ext cx="111813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0" i="0" u="none" strike="noStrike" cap="none">
                <a:solidFill>
                  <a:srgbClr val="F5F5F5"/>
                </a:solidFill>
                <a:latin typeface="Urbanist SemiBold"/>
                <a:ea typeface="Urbanist SemiBold"/>
                <a:cs typeface="Urbanist SemiBold"/>
                <a:sym typeface="Urbanist SemiBold"/>
              </a:rPr>
              <a:t>SECURITY EXTENSION: </a:t>
            </a:r>
            <a:r>
              <a:rPr lang="en-US" sz="3150" b="0" i="0" u="none" strike="noStrike" cap="none">
                <a:solidFill>
                  <a:srgbClr val="00E5FF"/>
                </a:solidFill>
                <a:latin typeface="Urbanist SemiBold"/>
                <a:ea typeface="Urbanist SemiBold"/>
                <a:cs typeface="Urbanist SemiBold"/>
                <a:sym typeface="Urbanist SemiBold"/>
              </a:rPr>
              <a:t>NGINX</a:t>
            </a:r>
            <a:endParaRPr/>
          </a:p>
        </p:txBody>
      </p:sp>
      <p:sp>
        <p:nvSpPr>
          <p:cNvPr id="646" name="Google Shape;646;p54"/>
          <p:cNvSpPr/>
          <p:nvPr/>
        </p:nvSpPr>
        <p:spPr>
          <a:xfrm>
            <a:off x="676275" y="485775"/>
            <a:ext cx="57300" cy="485700"/>
          </a:xfrm>
          <a:prstGeom prst="rect">
            <a:avLst/>
          </a:prstGeom>
          <a:solidFill>
            <a:srgbClr val="00E5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647" name="Google Shape;647;p54"/>
          <p:cNvPicPr preferRelativeResize="0"/>
          <p:nvPr/>
        </p:nvPicPr>
        <p:blipFill rotWithShape="1">
          <a:blip r:embed="rId4">
            <a:alphaModFix/>
          </a:blip>
          <a:srcRect t="39657"/>
          <a:stretch/>
        </p:blipFill>
        <p:spPr>
          <a:xfrm>
            <a:off x="733575" y="5183750"/>
            <a:ext cx="10572750" cy="10557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651"/>
        <p:cNvGrpSpPr/>
        <p:nvPr/>
      </p:nvGrpSpPr>
      <p:grpSpPr>
        <a:xfrm>
          <a:off x="0" y="0"/>
          <a:ext cx="0" cy="0"/>
          <a:chOff x="0" y="0"/>
          <a:chExt cx="0" cy="0"/>
        </a:xfrm>
      </p:grpSpPr>
      <p:pic>
        <p:nvPicPr>
          <p:cNvPr id="652" name="Google Shape;652;p5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53" name="Google Shape;653;p55" descr="image.png"/>
          <p:cNvPicPr preferRelativeResize="0"/>
          <p:nvPr/>
        </p:nvPicPr>
        <p:blipFill rotWithShape="1">
          <a:blip r:embed="rId4">
            <a:alphaModFix/>
          </a:blip>
          <a:srcRect/>
          <a:stretch/>
        </p:blipFill>
        <p:spPr>
          <a:xfrm>
            <a:off x="6286500" y="2014537"/>
            <a:ext cx="5324475" cy="3619500"/>
          </a:xfrm>
          <a:prstGeom prst="rect">
            <a:avLst/>
          </a:prstGeom>
          <a:noFill/>
          <a:ln>
            <a:noFill/>
          </a:ln>
        </p:spPr>
      </p:pic>
      <p:sp>
        <p:nvSpPr>
          <p:cNvPr id="654" name="Google Shape;654;p55"/>
          <p:cNvSpPr txBox="1"/>
          <p:nvPr/>
        </p:nvSpPr>
        <p:spPr>
          <a:xfrm>
            <a:off x="581025" y="2014537"/>
            <a:ext cx="5590698"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8BDF8"/>
                </a:solidFill>
                <a:latin typeface="Urbanist"/>
                <a:ea typeface="Urbanist"/>
                <a:cs typeface="Urbanist"/>
                <a:sym typeface="Urbanist"/>
              </a:rPr>
              <a:t>NGINX in the DMZ</a:t>
            </a:r>
            <a:endParaRPr/>
          </a:p>
        </p:txBody>
      </p:sp>
      <p:sp>
        <p:nvSpPr>
          <p:cNvPr id="655" name="Google Shape;655;p55"/>
          <p:cNvSpPr txBox="1"/>
          <p:nvPr/>
        </p:nvSpPr>
        <p:spPr>
          <a:xfrm>
            <a:off x="581025" y="2452687"/>
            <a:ext cx="532447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Prevents direct connectivity from the IT network to the OT control systems. Users interact only with the proxy layer.</a:t>
            </a:r>
            <a:endParaRPr/>
          </a:p>
        </p:txBody>
      </p:sp>
      <p:pic>
        <p:nvPicPr>
          <p:cNvPr id="656" name="Google Shape;656;p55" descr="image.png"/>
          <p:cNvPicPr preferRelativeResize="0"/>
          <p:nvPr/>
        </p:nvPicPr>
        <p:blipFill rotWithShape="1">
          <a:blip r:embed="rId5">
            <a:alphaModFix/>
          </a:blip>
          <a:srcRect/>
          <a:stretch/>
        </p:blipFill>
        <p:spPr>
          <a:xfrm>
            <a:off x="6296025" y="2024062"/>
            <a:ext cx="5305425" cy="3600450"/>
          </a:xfrm>
          <a:prstGeom prst="rect">
            <a:avLst/>
          </a:prstGeom>
          <a:noFill/>
          <a:ln>
            <a:noFill/>
          </a:ln>
        </p:spPr>
      </p:pic>
      <p:sp>
        <p:nvSpPr>
          <p:cNvPr id="657" name="Google Shape;657;p55"/>
          <p:cNvSpPr txBox="1"/>
          <p:nvPr/>
        </p:nvSpPr>
        <p:spPr>
          <a:xfrm>
            <a:off x="866775" y="310991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8FAFC"/>
                </a:solidFill>
                <a:latin typeface="Lato"/>
                <a:ea typeface="Lato"/>
                <a:cs typeface="Lato"/>
                <a:sym typeface="Lato"/>
              </a:rPr>
              <a:t>•</a:t>
            </a:r>
            <a:endParaRPr/>
          </a:p>
        </p:txBody>
      </p:sp>
      <p:sp>
        <p:nvSpPr>
          <p:cNvPr id="658" name="Google Shape;658;p55"/>
          <p:cNvSpPr txBox="1"/>
          <p:nvPr/>
        </p:nvSpPr>
        <p:spPr>
          <a:xfrm>
            <a:off x="962025" y="3109912"/>
            <a:ext cx="49434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Lato"/>
                <a:ea typeface="Lato"/>
                <a:cs typeface="Lato"/>
                <a:sym typeface="Lato"/>
              </a:rPr>
              <a:t>TLS Termination:</a:t>
            </a:r>
            <a:r>
              <a:rPr lang="en-US" sz="1350" b="0" i="0" u="none" strike="noStrike" cap="none">
                <a:solidFill>
                  <a:srgbClr val="F8FAFC"/>
                </a:solidFill>
                <a:latin typeface="Lato"/>
                <a:ea typeface="Lato"/>
                <a:cs typeface="Lato"/>
                <a:sym typeface="Lato"/>
              </a:rPr>
              <a:t> Ensures encrypted transport for HMI data.</a:t>
            </a:r>
            <a:endParaRPr/>
          </a:p>
        </p:txBody>
      </p:sp>
      <p:sp>
        <p:nvSpPr>
          <p:cNvPr id="659" name="Google Shape;659;p55"/>
          <p:cNvSpPr txBox="1"/>
          <p:nvPr/>
        </p:nvSpPr>
        <p:spPr>
          <a:xfrm>
            <a:off x="866775" y="3367087"/>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8FAFC"/>
                </a:solidFill>
                <a:latin typeface="Lato"/>
                <a:ea typeface="Lato"/>
                <a:cs typeface="Lato"/>
                <a:sym typeface="Lato"/>
              </a:rPr>
              <a:t>•</a:t>
            </a:r>
            <a:endParaRPr/>
          </a:p>
        </p:txBody>
      </p:sp>
      <p:sp>
        <p:nvSpPr>
          <p:cNvPr id="660" name="Google Shape;660;p55"/>
          <p:cNvSpPr txBox="1"/>
          <p:nvPr/>
        </p:nvSpPr>
        <p:spPr>
          <a:xfrm>
            <a:off x="962025" y="3367087"/>
            <a:ext cx="49434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Lato"/>
                <a:ea typeface="Lato"/>
                <a:cs typeface="Lato"/>
                <a:sym typeface="Lato"/>
              </a:rPr>
              <a:t>Authentication:</a:t>
            </a:r>
            <a:r>
              <a:rPr lang="en-US" sz="1350" b="0" i="0" u="none" strike="noStrike" cap="none">
                <a:solidFill>
                  <a:srgbClr val="F8FAFC"/>
                </a:solidFill>
                <a:latin typeface="Lato"/>
                <a:ea typeface="Lato"/>
                <a:cs typeface="Lato"/>
                <a:sym typeface="Lato"/>
              </a:rPr>
              <a:t> Adds a layer of access control before hitting OT.</a:t>
            </a:r>
            <a:endParaRPr/>
          </a:p>
        </p:txBody>
      </p:sp>
      <p:sp>
        <p:nvSpPr>
          <p:cNvPr id="661" name="Google Shape;661;p55"/>
          <p:cNvSpPr txBox="1"/>
          <p:nvPr/>
        </p:nvSpPr>
        <p:spPr>
          <a:xfrm>
            <a:off x="866775" y="3624262"/>
            <a:ext cx="95250"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0" i="0" u="none" strike="noStrike" cap="none">
                <a:solidFill>
                  <a:srgbClr val="F8FAFC"/>
                </a:solidFill>
                <a:latin typeface="Lato"/>
                <a:ea typeface="Lato"/>
                <a:cs typeface="Lato"/>
                <a:sym typeface="Lato"/>
              </a:rPr>
              <a:t>•</a:t>
            </a:r>
            <a:endParaRPr/>
          </a:p>
        </p:txBody>
      </p:sp>
      <p:sp>
        <p:nvSpPr>
          <p:cNvPr id="662" name="Google Shape;662;p55"/>
          <p:cNvSpPr txBox="1"/>
          <p:nvPr/>
        </p:nvSpPr>
        <p:spPr>
          <a:xfrm>
            <a:off x="962025" y="3624262"/>
            <a:ext cx="4943475" cy="257175"/>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F8FAFC"/>
                </a:solidFill>
                <a:latin typeface="Lato"/>
                <a:ea typeface="Lato"/>
                <a:cs typeface="Lato"/>
                <a:sym typeface="Lato"/>
              </a:rPr>
              <a:t>Read-Only:</a:t>
            </a:r>
            <a:r>
              <a:rPr lang="en-US" sz="1350" b="0" i="0" u="none" strike="noStrike" cap="none">
                <a:solidFill>
                  <a:srgbClr val="F8FAFC"/>
                </a:solidFill>
                <a:latin typeface="Lato"/>
                <a:ea typeface="Lato"/>
                <a:cs typeface="Lato"/>
                <a:sym typeface="Lato"/>
              </a:rPr>
              <a:t> Restricted to HMI dashboard visualization.</a:t>
            </a:r>
            <a:endParaRPr/>
          </a:p>
        </p:txBody>
      </p:sp>
      <p:sp>
        <p:nvSpPr>
          <p:cNvPr id="663" name="Google Shape;663;p55"/>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Extension: Secure HMI Proxy</a:t>
            </a:r>
            <a:endParaRPr/>
          </a:p>
        </p:txBody>
      </p:sp>
      <p:sp>
        <p:nvSpPr>
          <p:cNvPr id="664" name="Google Shape;664;p55"/>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668"/>
        <p:cNvGrpSpPr/>
        <p:nvPr/>
      </p:nvGrpSpPr>
      <p:grpSpPr>
        <a:xfrm>
          <a:off x="0" y="0"/>
          <a:ext cx="0" cy="0"/>
          <a:chOff x="0" y="0"/>
          <a:chExt cx="0" cy="0"/>
        </a:xfrm>
      </p:grpSpPr>
      <p:pic>
        <p:nvPicPr>
          <p:cNvPr id="669" name="Google Shape;669;p5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70" name="Google Shape;670;p56" descr="image.png"/>
          <p:cNvPicPr preferRelativeResize="0"/>
          <p:nvPr/>
        </p:nvPicPr>
        <p:blipFill rotWithShape="1">
          <a:blip r:embed="rId4">
            <a:alphaModFix/>
          </a:blip>
          <a:srcRect/>
          <a:stretch/>
        </p:blipFill>
        <p:spPr>
          <a:xfrm>
            <a:off x="581025" y="2786062"/>
            <a:ext cx="3549699" cy="2076450"/>
          </a:xfrm>
          <a:prstGeom prst="rect">
            <a:avLst/>
          </a:prstGeom>
          <a:noFill/>
          <a:ln>
            <a:noFill/>
          </a:ln>
        </p:spPr>
      </p:pic>
      <p:pic>
        <p:nvPicPr>
          <p:cNvPr id="671" name="Google Shape;671;p56" descr="image.png"/>
          <p:cNvPicPr preferRelativeResize="0"/>
          <p:nvPr/>
        </p:nvPicPr>
        <p:blipFill rotWithShape="1">
          <a:blip r:embed="rId5">
            <a:alphaModFix/>
          </a:blip>
          <a:srcRect/>
          <a:stretch/>
        </p:blipFill>
        <p:spPr>
          <a:xfrm>
            <a:off x="4321224" y="2786062"/>
            <a:ext cx="3549699" cy="2076450"/>
          </a:xfrm>
          <a:prstGeom prst="rect">
            <a:avLst/>
          </a:prstGeom>
          <a:noFill/>
          <a:ln>
            <a:noFill/>
          </a:ln>
        </p:spPr>
      </p:pic>
      <p:pic>
        <p:nvPicPr>
          <p:cNvPr id="672" name="Google Shape;672;p56" descr="image.png"/>
          <p:cNvPicPr preferRelativeResize="0"/>
          <p:nvPr/>
        </p:nvPicPr>
        <p:blipFill rotWithShape="1">
          <a:blip r:embed="rId6">
            <a:alphaModFix/>
          </a:blip>
          <a:srcRect/>
          <a:stretch/>
        </p:blipFill>
        <p:spPr>
          <a:xfrm>
            <a:off x="8061424" y="2786062"/>
            <a:ext cx="3549699" cy="2076450"/>
          </a:xfrm>
          <a:prstGeom prst="rect">
            <a:avLst/>
          </a:prstGeom>
          <a:noFill/>
          <a:ln>
            <a:noFill/>
          </a:ln>
        </p:spPr>
      </p:pic>
      <p:sp>
        <p:nvSpPr>
          <p:cNvPr id="673" name="Google Shape;673;p56"/>
          <p:cNvSpPr txBox="1"/>
          <p:nvPr/>
        </p:nvSpPr>
        <p:spPr>
          <a:xfrm>
            <a:off x="752315" y="3033712"/>
            <a:ext cx="320711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Closing Thoughts</a:t>
            </a:r>
            <a:endParaRPr/>
          </a:p>
        </p:txBody>
      </p:sp>
      <p:sp>
        <p:nvSpPr>
          <p:cNvPr id="674" name="Google Shape;674;p56"/>
          <p:cNvSpPr txBox="1"/>
          <p:nvPr/>
        </p:nvSpPr>
        <p:spPr>
          <a:xfrm>
            <a:off x="828675" y="3471862"/>
            <a:ext cx="3054399" cy="10287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Behavior-based analytics provide a critical security layer for modern ICS, moving beyond static signatures to capture methodology.</a:t>
            </a:r>
            <a:endParaRPr/>
          </a:p>
        </p:txBody>
      </p:sp>
      <p:sp>
        <p:nvSpPr>
          <p:cNvPr id="675" name="Google Shape;675;p56"/>
          <p:cNvSpPr txBox="1"/>
          <p:nvPr/>
        </p:nvSpPr>
        <p:spPr>
          <a:xfrm>
            <a:off x="4492514" y="3033712"/>
            <a:ext cx="320711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Future Research</a:t>
            </a:r>
            <a:endParaRPr/>
          </a:p>
        </p:txBody>
      </p:sp>
      <p:sp>
        <p:nvSpPr>
          <p:cNvPr id="676" name="Google Shape;676;p56"/>
          <p:cNvSpPr txBox="1"/>
          <p:nvPr/>
        </p:nvSpPr>
        <p:spPr>
          <a:xfrm>
            <a:off x="4568874" y="3471862"/>
            <a:ext cx="3054399"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Integration of Isolation Forest machine learning models for automated anomaly detection in high-speed DNP3 streams.</a:t>
            </a:r>
            <a:endParaRPr/>
          </a:p>
        </p:txBody>
      </p:sp>
      <p:sp>
        <p:nvSpPr>
          <p:cNvPr id="677" name="Google Shape;677;p56"/>
          <p:cNvSpPr txBox="1"/>
          <p:nvPr/>
        </p:nvSpPr>
        <p:spPr>
          <a:xfrm>
            <a:off x="8232714" y="3033712"/>
            <a:ext cx="3207119" cy="3238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38BDF8"/>
                </a:solidFill>
                <a:latin typeface="Urbanist"/>
                <a:ea typeface="Urbanist"/>
                <a:cs typeface="Urbanist"/>
                <a:sym typeface="Urbanist"/>
              </a:rPr>
              <a:t>Broader Impact</a:t>
            </a:r>
            <a:endParaRPr/>
          </a:p>
        </p:txBody>
      </p:sp>
      <p:sp>
        <p:nvSpPr>
          <p:cNvPr id="678" name="Google Shape;678;p56"/>
          <p:cNvSpPr txBox="1"/>
          <p:nvPr/>
        </p:nvSpPr>
        <p:spPr>
          <a:xfrm>
            <a:off x="8309074" y="3471862"/>
            <a:ext cx="3054399" cy="7715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94A3B8"/>
                </a:solidFill>
                <a:latin typeface="Lato"/>
                <a:ea typeface="Lato"/>
                <a:cs typeface="Lato"/>
                <a:sym typeface="Lato"/>
              </a:rPr>
              <a:t>The NYMEGA framework serves as a scalable blueprint for securing diverse critical infrastructure sites.</a:t>
            </a:r>
            <a:endParaRPr/>
          </a:p>
        </p:txBody>
      </p:sp>
      <p:sp>
        <p:nvSpPr>
          <p:cNvPr id="679" name="Google Shape;679;p56"/>
          <p:cNvSpPr txBox="1"/>
          <p:nvPr/>
        </p:nvSpPr>
        <p:spPr>
          <a:xfrm>
            <a:off x="771525" y="581025"/>
            <a:ext cx="11381422"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000" b="1" i="0" u="none" strike="noStrike" cap="none">
                <a:solidFill>
                  <a:srgbClr val="F8FAFC"/>
                </a:solidFill>
                <a:latin typeface="Urbanist"/>
                <a:ea typeface="Urbanist"/>
                <a:cs typeface="Urbanist"/>
                <a:sym typeface="Urbanist"/>
              </a:rPr>
              <a:t>Conclusion &amp; Future Work</a:t>
            </a:r>
            <a:endParaRPr/>
          </a:p>
        </p:txBody>
      </p:sp>
      <p:sp>
        <p:nvSpPr>
          <p:cNvPr id="680" name="Google Shape;680;p56"/>
          <p:cNvSpPr/>
          <p:nvPr/>
        </p:nvSpPr>
        <p:spPr>
          <a:xfrm>
            <a:off x="581025" y="581025"/>
            <a:ext cx="38100" cy="457200"/>
          </a:xfrm>
          <a:prstGeom prst="rect">
            <a:avLst/>
          </a:prstGeom>
          <a:solidFill>
            <a:srgbClr val="38BDF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Shape 684"/>
        <p:cNvGrpSpPr/>
        <p:nvPr/>
      </p:nvGrpSpPr>
      <p:grpSpPr>
        <a:xfrm>
          <a:off x="0" y="0"/>
          <a:ext cx="0" cy="0"/>
          <a:chOff x="0" y="0"/>
          <a:chExt cx="0" cy="0"/>
        </a:xfrm>
      </p:grpSpPr>
      <p:pic>
        <p:nvPicPr>
          <p:cNvPr id="685" name="Google Shape;685;p5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686" name="Google Shape;686;p57"/>
          <p:cNvSpPr txBox="1"/>
          <p:nvPr/>
        </p:nvSpPr>
        <p:spPr>
          <a:xfrm>
            <a:off x="4110751" y="2452687"/>
            <a:ext cx="3970496" cy="914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6000" b="1" i="0" u="none" strike="noStrike" cap="none">
                <a:solidFill>
                  <a:srgbClr val="38BDF8"/>
                </a:solidFill>
                <a:latin typeface="Urbanist"/>
                <a:ea typeface="Urbanist"/>
                <a:cs typeface="Urbanist"/>
                <a:sym typeface="Urbanist"/>
              </a:rPr>
              <a:t>Questions?</a:t>
            </a:r>
            <a:endParaRPr/>
          </a:p>
        </p:txBody>
      </p:sp>
      <p:sp>
        <p:nvSpPr>
          <p:cNvPr id="687" name="Google Shape;687;p57"/>
          <p:cNvSpPr txBox="1"/>
          <p:nvPr/>
        </p:nvSpPr>
        <p:spPr>
          <a:xfrm>
            <a:off x="4648200" y="3367087"/>
            <a:ext cx="2895600" cy="34290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800" b="0" i="0" u="none" strike="noStrike" cap="none">
                <a:solidFill>
                  <a:srgbClr val="94A3B8"/>
                </a:solidFill>
                <a:latin typeface="Lato"/>
                <a:ea typeface="Lato"/>
                <a:cs typeface="Lato"/>
                <a:sym typeface="Lato"/>
              </a:rPr>
              <a:t>Thank you for your attention.</a:t>
            </a:r>
            <a:endParaRPr/>
          </a:p>
        </p:txBody>
      </p:sp>
      <p:sp>
        <p:nvSpPr>
          <p:cNvPr id="688" name="Google Shape;688;p57"/>
          <p:cNvSpPr txBox="1"/>
          <p:nvPr/>
        </p:nvSpPr>
        <p:spPr>
          <a:xfrm>
            <a:off x="4000500" y="4205287"/>
            <a:ext cx="4191000" cy="2000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94A3B8"/>
                </a:solidFill>
                <a:latin typeface="Arial"/>
                <a:ea typeface="Arial"/>
                <a:cs typeface="Arial"/>
                <a:sym typeface="Arial"/>
              </a:rPr>
              <a:t>www.pace.edu/cybersecurity | contact@nymega-project.org</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2980</Words>
  <Application>Microsoft Office PowerPoint</Application>
  <PresentationFormat>Widescreen</PresentationFormat>
  <Paragraphs>428</Paragraphs>
  <Slides>33</Slides>
  <Notes>33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33</vt:i4>
      </vt:variant>
    </vt:vector>
  </HeadingPairs>
  <TitlesOfParts>
    <vt:vector size="40" baseType="lpstr">
      <vt:lpstr>Urbanist SemiBold</vt:lpstr>
      <vt:lpstr>Calibri</vt:lpstr>
      <vt:lpstr>Arial</vt:lpstr>
      <vt:lpstr>Urbanist</vt:lpstr>
      <vt:lpstr>Lato</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JEYTHA Sahana</cp:lastModifiedBy>
  <cp:revision>2</cp:revision>
  <dcterms:modified xsi:type="dcterms:W3CDTF">2026-05-11T16:34:13Z</dcterms:modified>
</cp:coreProperties>
</file>