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5" r:id="rId7"/>
    <p:sldId id="266" r:id="rId8"/>
    <p:sldId id="267" r:id="rId9"/>
    <p:sldId id="268"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89" autoAdjust="0"/>
    <p:restoredTop sz="93447" autoAdjust="0"/>
  </p:normalViewPr>
  <p:slideViewPr>
    <p:cSldViewPr snapToGrid="0" snapToObjects="1">
      <p:cViewPr>
        <p:scale>
          <a:sx n="96" d="100"/>
          <a:sy n="96" d="100"/>
        </p:scale>
        <p:origin x="328"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8789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OPENING
Greet the audience and set the scene immediately. Don't waste time on logistics.
Today I want to show you something that most enterprise security teams completely overlook — the networks that run our physical world. Power grids, water treatment plants, manufacturing floors — all running on protocols designed decades ago with zero security in mind. My project, the NYMEGA ICS Cyber Range, simulates exactly those environments and shows how we can detect attacks against them in real time."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DETECTION GAPS
This is your "problem statement" slide. Establish WHY this project matters before showing what you built. 
SAY: "Before I show you the solution, let me walk you through why ICS environments are so difficult to protect. There are four fundamental gaps that most organizations ignore completely."
WALK THROUGH EACH CARD:
1. NO PROTOCOL VISIBILITY — "A standard firewall sees Modbus TCP traffic and just lets it through. It has no idea whether that packet is a legitimate read or an attacker rewriting PLC registers. Function codes are invisible to it."
2. NO AUTHENTICATION — "Modbus was designed in 1979. There is literally no username, no password, no certificate. If you're on the network, you can command any PLC. That's the threat model we're dealing with."
3. NO SIEM CORRELATION — "Even if Snort generates an alert, without forwarding to a SIEM you have no way to correlate events, spot patterns, or trigger responses. Alerts die in a log file no one reads."
4. NO MITRE MAPPING — "Security teams speak MITRE ATT&amp;CK. ICS attacks need their own framework — ATT&amp;CK for ICS — and most SIEM platforms don't include it by default."
TRANSITION: "These are the four gaps my pipeline addresses. Let me show you the environment I built to test and validate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ENVIRONMENT ARCHITECTURE
SAY: "This is the NYMEGA ICS Cyber Range — four virtual machines, two network segments, simulating a real OT environment."
POINT TO EACH NODE:
- KALI (10.13.20.21): "This is our attacker — a Kali Linux machine simulating a threat actor who has gained access to the corporate network and is attempting to pivot into the OT segment."
- pfSense (10.13.20.240): "This is our ICS gateway — pfSense firewall running Snort IDS on the vtnet3 interface, inspecting all traffic destined for the OT network."
- Wazuh (10.13.20.17): "This is our SIEM — Wazuh 4.5.2 receiving Snort alerts via syslog on UDP 514, correlating events and generating classified alerts."
- DAM PLC (10.14.6.10): "This is the target — a simulated Programmable Logic Controller representing a dam water flow control system, listening on Modbus TCP port 1502."
EXPLAIN NETWORK SEGMENTS:
"Notice the two distinct networks — 10.13.20.0/24 is the IT network where our attacker lives, and 10.14.6.0/24 is the isolated OT field network. The pfSense firewall sits between them, which is where Snort does its inspection."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DETECTION PIPELINE
This is the technical heart of your presentation. Walk through each step clearly and slowly.
SAY: "Let me walk you through exactly how an attack travels through this pipeline from execution to SIEM alert."
STEP BY STEP:
1. ATTACK EXECUTED — "The attacker runs mbpoll — a command-line Modbus TCP client — sending a write command to the PLC on port 1502. This is a real tool used in legitimate ICS testing, and it's exactly what an attacker would use."
2. SNORT DETECTS — "Snort on pfSense intercepts the packet. Our custom rule inspects the Modbus Application Protocol header — specifically the function code byte at offset 7. If it matches FC03, FC06, or FC16, Snort fires an alert."
3. SYSLOG FORWARDED — "pfSense is configured to forward Snort alerts to Wazuh via UDP syslog on port 514. This is the bridge between the IDS and the SIEM."
4. WAZUH DECODES — "Wazuh receives the syslog message and runs it through our custom decoder. The prematch 'snort[' identifies it as a Snort alert, and the child decoder snort-modbus confirms it contains MODBUS in the message."
5. RULE FIRES — "The matching rule fires — 100501 for FC16, 100502 for FC06, 100510 for FC03, or 100530 for DoS — and the alert is written to alerts.json with severity level and MITRE technique ID."
POINT AT CODE: "The full pipeline in one line — mbpoll to Snort alert to pfSense syslog to Wazuh decoder to rule match to alerts.json."
KEY INSIGHT: "The whole chain happens in under a second. From attack to SIEM alert — real time detection."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FOUR ATTACKS OVERVIEW
SAY: "I executed four attacks against this environment, designed to simulate a realistic attacker progression — from quiet reconnaissance all the way to destroying availability. Let me walk you through each one."
01 — RECON: "First they look. FC03 reads registers silently. The attacker is mapping the process — what values are where, what setpoints are active, what the normal state looks like. This is intelligence gathering."
02 — PROBE: "Then they test. FC06 writes one value to one register. Small, targeted, hard to notice. They're verifying they have write access and seeing if anyone notices a small change."
03 — TAKEOVER: "Then they act. FC16 rewrites multiple registers simultaneously — setpoints, control values, safety thresholds — all at once. This is the moment of compromise."
04 — DESTRUCTION: "And if they want to prevent response, they flood the PLC. Hundreds of requests per minute. The PLC can't process legitimate operator commands anymore. Emergency shutdowns don't execute."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MITRE ATT&amp;CK FOR ICS MAPPING
This slide shows the academic and professional rigor of your work. It's what separates your project from "I set up Snort" to "I built a classified threat detection system."
SAY: "Every alert our pipeline generates is mapped to the MITRE ATT&amp;CK for ICS framework. This matters because it gives defenders shared language and threat context."
WALK THE TABLE:
- "FC03 maps to T0846 — Remote System Discovery under the Discovery tactic. The attacker is learning the environment before they strike."
- "FC06 and FC16 both map to T0831 — Manipulation of Control under Impair Process Control. One register or many, the intent is the same — change what the PLC believes it should be doing."
- "The DoS flood maps to T0814 under Inhibit Response Function. The goal isn't manipulation anymore — it's preventing any response at all."
EXPLAIN THE CHALLENGE YOU OVERCAME:
"Here's something important — Wazuh 4.5.2 does not include MITRE ATT&amp;CK for ICS techniques out of the box. The T08xx technique range simply doesn't exist in the default database. I had to inject them manually into Wazuh's SQLite mitre.db using Python. That's not documented anywhere — I had to figure that out."
POINT TO THREE TACTICS:
"Three distinct tactics covered: Discovery, Impair Process Control, and Inhibit Response Function. These map to the pre-attack, attack, and denial phases of the kill chain."
IF ASKED about other ATT&amp;CK for ICS techniques: "The full ICS framework covers 12 tactics and over 80 techniques. Our pipeline covers the most common Modbus attack patterns. Future work would expand to cover DNP3, EtherNet/IP, and additional function codes."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DETECTION GAPS FIXED
This is your "before and after" slide. It directly answers the question: what problem did you actually solve?
SAY: "Let me be direct about what this pipeline changes. For each of the four gaps I showed you at the start, here's exactly what we built to close it."
WALK EACH ROW:
1. PROTOCOL VISIBILITY: "Before — firewalls saw Modbus as generic TCP and let it through. After — Snort rules inspect the MBAP header and function code byte at the packet level. FC03, FC06, and FC16 are now individually detectable, not just 'Modbus traffic.'"
2. SIEM CORRELATION: "Before — Snort alerts existed in isolation on pfSense, visible only to someone SSH'd into the firewall. After — every alert is forwarded via syslog to Wazuh, decoded by our custom decoder chain, matched against hierarchical rules, and stored in alerts.json with full metadata."
3. FREQUENCY-BASED DOS DETECTION: "Before — a flood of write requests looked identical to normal traffic at high volume. After — Rule 100530 uses Wazuh's frequency correlation engine to count events over time. Ten FC06 alerts in 60 seconds is statistically abnormal and triggers a Level 13 DoS alert."
4. MITRE ATT&amp;CK FOR ICS: "Before — alerts had no threat classification. An analyst seeing a Snort alert for Modbus had no framework to interpret it. After — every alert carries a MITRE technique ID and tactic. T0831 tells a defender immediately: this is Manipulation of Control, Impair Process Control tactic."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RESULTS SUMMARY
Simple, confident delivery. Let the numbers speak. Don't over-explain.
SAY: "The results are simple. Four attacks executed. Four attacks detected. One hundred percent detection rate. Zero false negatives across every test run."
POINT TO THE STATS:
"4 attacks executed — FC03 recon, FC06 single write, FC16 multi-write, and Modbus DoS flood. All deliberate, all using real tools an attacker would use."
"4 attacks detected — every single one caught by the pipeline before it could persist unnoticed."
"100% detection rate — not a single attack slipped through."
"3 MITRE ICS techniques covered — T0831, T0814, T0846 — spanning three distinct attack tactics."
WALK THE TABLE QUICKLY:
"FC03 recon — Rule 100510, Level 7, T0846, detected. FC06 write — 100502, Level 10, T0831, detected. FC16 write — 100501, Level 12, T0831, detected. DoS flood — 100530, Level 13, T0814, detected."
CLOSE THE SLIDE:
"No attack went undetected. That's the headline. The bottom line of this entire project."
IF ASKED about false positives: "We focused on validating detection — false positive tuning would be the next step in a production deployment. The severity levels and specific match patterns are designed to minimize noise, but production tuning would require baseline traffic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CONCLUSION
Your closing. Be direct, be proud of what you built, and leave them with the one sentence that summarizes everything.
SAY: "Let me close with what this pipeline actually achieves."
READ THROUGH THE LIST WITH BRIEF COMMENTARY:
- "End-to-end detection — from the moment mbpoll sends a Modbus packet to the moment Wazuh generates a classified alert. Real time."
- "Custom Snort rules — these don't exist in any default ruleset. I wrote them specifically for Modbus function code detection."
- "Hierarchical Wazuh rules — 100500 as the parent, children refining by function code. This is the correct architecture. Without it, one rule swallows everything."
- "MITRE ATT&amp;CK for ICS — manually injected into Wazuh's database because it's not there by default. That's a gap in the tool that I identified and fixed."
- "Frequency-based DoS detection — behavioral correlation, not just signature matching. This is the difference between detecting an individual packet and detecting an attack pattern."
- PAUSE on the green row — "100% detection rate. Every attack caught. Zero missed. That's what this system delivers."
CLOSING LINE — say this slowly and clearly:
"No Modbus attack went undetected — reconnaissance, manipulation, full control takeover, and denial of service — all caught in real time."
THEN OPEN FOR QUESTIONS:
"I'm happy to walk through any part of the technical implementation, the rule logic, the decoder configuration, or the MITRE mapping in detail."
ANTICIPATED QUESTIONS TO PREPARE FOR:
- Why Wazuh and not Splunk/Elastic?
- How would this scale to a real production OT environment?
- What about encrypted Modbus or other ICS protocols?
- How did you handle the pfSense syslog format issues?
- What's the performance impact of Snort on the firewall?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en-IN"/>
          </a:p>
        </p:txBody>
      </p:sp>
      <p:sp>
        <p:nvSpPr>
          <p:cNvPr id="3" name="Shape 1"/>
          <p:cNvSpPr/>
          <p:nvPr/>
        </p:nvSpPr>
        <p:spPr>
          <a:xfrm>
            <a:off x="6583680" y="457200"/>
            <a:ext cx="2286000" cy="4114800"/>
          </a:xfrm>
          <a:prstGeom prst="rect">
            <a:avLst/>
          </a:prstGeom>
          <a:solidFill>
            <a:srgbClr val="0A1628">
              <a:alpha val="70000"/>
            </a:srgbClr>
          </a:solidFill>
          <a:ln w="12700">
            <a:solidFill>
              <a:srgbClr val="1B4F72"/>
            </a:solidFill>
            <a:prstDash val="solid"/>
          </a:ln>
        </p:spPr>
        <p:txBody>
          <a:bodyPr/>
          <a:lstStyle/>
          <a:p>
            <a:endParaRPr lang="en-IN"/>
          </a:p>
        </p:txBody>
      </p:sp>
      <p:sp>
        <p:nvSpPr>
          <p:cNvPr id="4" name="Shape 2"/>
          <p:cNvSpPr/>
          <p:nvPr/>
        </p:nvSpPr>
        <p:spPr>
          <a:xfrm>
            <a:off x="6858000" y="731520"/>
            <a:ext cx="1737360" cy="548640"/>
          </a:xfrm>
          <a:prstGeom prst="rect">
            <a:avLst/>
          </a:prstGeom>
          <a:solidFill>
            <a:srgbClr val="1B4F72">
              <a:alpha val="40000"/>
            </a:srgbClr>
          </a:solidFill>
          <a:ln w="12700">
            <a:solidFill>
              <a:srgbClr val="00B4D8"/>
            </a:solidFill>
            <a:prstDash val="solid"/>
          </a:ln>
        </p:spPr>
        <p:txBody>
          <a:bodyPr/>
          <a:lstStyle/>
          <a:p>
            <a:endParaRPr lang="en-IN"/>
          </a:p>
        </p:txBody>
      </p:sp>
      <p:sp>
        <p:nvSpPr>
          <p:cNvPr id="5" name="Shape 3"/>
          <p:cNvSpPr/>
          <p:nvPr/>
        </p:nvSpPr>
        <p:spPr>
          <a:xfrm>
            <a:off x="6858000" y="1463040"/>
            <a:ext cx="1737360" cy="548640"/>
          </a:xfrm>
          <a:prstGeom prst="rect">
            <a:avLst/>
          </a:prstGeom>
          <a:solidFill>
            <a:srgbClr val="1B4F72">
              <a:alpha val="40000"/>
            </a:srgbClr>
          </a:solidFill>
          <a:ln w="12700">
            <a:solidFill>
              <a:srgbClr val="00B4D8"/>
            </a:solidFill>
            <a:prstDash val="solid"/>
          </a:ln>
        </p:spPr>
        <p:txBody>
          <a:bodyPr/>
          <a:lstStyle/>
          <a:p>
            <a:endParaRPr lang="en-IN"/>
          </a:p>
        </p:txBody>
      </p:sp>
      <p:sp>
        <p:nvSpPr>
          <p:cNvPr id="6" name="Shape 4"/>
          <p:cNvSpPr/>
          <p:nvPr/>
        </p:nvSpPr>
        <p:spPr>
          <a:xfrm>
            <a:off x="6858000" y="2194560"/>
            <a:ext cx="1737360" cy="548640"/>
          </a:xfrm>
          <a:prstGeom prst="rect">
            <a:avLst/>
          </a:prstGeom>
          <a:solidFill>
            <a:srgbClr val="1B4F72">
              <a:alpha val="40000"/>
            </a:srgbClr>
          </a:solidFill>
          <a:ln w="12700">
            <a:solidFill>
              <a:srgbClr val="00B4D8"/>
            </a:solidFill>
            <a:prstDash val="solid"/>
          </a:ln>
        </p:spPr>
        <p:txBody>
          <a:bodyPr/>
          <a:lstStyle/>
          <a:p>
            <a:endParaRPr lang="en-IN"/>
          </a:p>
        </p:txBody>
      </p:sp>
      <p:sp>
        <p:nvSpPr>
          <p:cNvPr id="7" name="Shape 5"/>
          <p:cNvSpPr/>
          <p:nvPr/>
        </p:nvSpPr>
        <p:spPr>
          <a:xfrm>
            <a:off x="6858000" y="2926080"/>
            <a:ext cx="1737360" cy="548640"/>
          </a:xfrm>
          <a:prstGeom prst="rect">
            <a:avLst/>
          </a:prstGeom>
          <a:solidFill>
            <a:srgbClr val="1B4F72">
              <a:alpha val="40000"/>
            </a:srgbClr>
          </a:solidFill>
          <a:ln w="12700">
            <a:solidFill>
              <a:srgbClr val="00B4D8"/>
            </a:solidFill>
            <a:prstDash val="solid"/>
          </a:ln>
        </p:spPr>
        <p:txBody>
          <a:bodyPr/>
          <a:lstStyle/>
          <a:p>
            <a:endParaRPr lang="en-IN"/>
          </a:p>
        </p:txBody>
      </p:sp>
      <p:sp>
        <p:nvSpPr>
          <p:cNvPr id="8" name="Text 6"/>
          <p:cNvSpPr/>
          <p:nvPr/>
        </p:nvSpPr>
        <p:spPr>
          <a:xfrm>
            <a:off x="6858000" y="731520"/>
            <a:ext cx="1737360" cy="548640"/>
          </a:xfrm>
          <a:prstGeom prst="rect">
            <a:avLst/>
          </a:prstGeom>
          <a:noFill/>
          <a:ln/>
        </p:spPr>
        <p:txBody>
          <a:bodyPr wrap="square" rtlCol="0" anchor="ctr"/>
          <a:lstStyle/>
          <a:p>
            <a:pPr marL="0" indent="0" algn="ctr">
              <a:buNone/>
            </a:pPr>
            <a:r>
              <a:rPr lang="en-US" sz="900" b="1" dirty="0">
                <a:solidFill>
                  <a:srgbClr val="00B4D8"/>
                </a:solidFill>
              </a:rPr>
              <a:t>Snort IDS</a:t>
            </a:r>
            <a:endParaRPr lang="en-US" sz="900" dirty="0"/>
          </a:p>
        </p:txBody>
      </p:sp>
      <p:sp>
        <p:nvSpPr>
          <p:cNvPr id="9" name="Text 7"/>
          <p:cNvSpPr/>
          <p:nvPr/>
        </p:nvSpPr>
        <p:spPr>
          <a:xfrm>
            <a:off x="6858000" y="1463040"/>
            <a:ext cx="1737360" cy="548640"/>
          </a:xfrm>
          <a:prstGeom prst="rect">
            <a:avLst/>
          </a:prstGeom>
          <a:noFill/>
          <a:ln/>
        </p:spPr>
        <p:txBody>
          <a:bodyPr wrap="square" rtlCol="0" anchor="ctr"/>
          <a:lstStyle/>
          <a:p>
            <a:pPr marL="0" indent="0" algn="ctr">
              <a:buNone/>
            </a:pPr>
            <a:r>
              <a:rPr lang="en-US" sz="900" b="1" dirty="0">
                <a:solidFill>
                  <a:srgbClr val="00B4D8"/>
                </a:solidFill>
              </a:rPr>
              <a:t>pfSense FW</a:t>
            </a:r>
            <a:endParaRPr lang="en-US" sz="900" dirty="0"/>
          </a:p>
        </p:txBody>
      </p:sp>
      <p:sp>
        <p:nvSpPr>
          <p:cNvPr id="10" name="Text 8"/>
          <p:cNvSpPr/>
          <p:nvPr/>
        </p:nvSpPr>
        <p:spPr>
          <a:xfrm>
            <a:off x="6858000" y="2194560"/>
            <a:ext cx="1737360" cy="548640"/>
          </a:xfrm>
          <a:prstGeom prst="rect">
            <a:avLst/>
          </a:prstGeom>
          <a:noFill/>
          <a:ln/>
        </p:spPr>
        <p:txBody>
          <a:bodyPr wrap="square" rtlCol="0" anchor="ctr"/>
          <a:lstStyle/>
          <a:p>
            <a:pPr marL="0" indent="0" algn="ctr">
              <a:buNone/>
            </a:pPr>
            <a:r>
              <a:rPr lang="en-US" sz="900" b="1" dirty="0">
                <a:solidFill>
                  <a:srgbClr val="00B4D8"/>
                </a:solidFill>
              </a:rPr>
              <a:t>Wazuh SIEM</a:t>
            </a:r>
            <a:endParaRPr lang="en-US" sz="900" dirty="0"/>
          </a:p>
        </p:txBody>
      </p:sp>
      <p:sp>
        <p:nvSpPr>
          <p:cNvPr id="11" name="Text 9"/>
          <p:cNvSpPr/>
          <p:nvPr/>
        </p:nvSpPr>
        <p:spPr>
          <a:xfrm>
            <a:off x="6858000" y="2926080"/>
            <a:ext cx="1737360" cy="548640"/>
          </a:xfrm>
          <a:prstGeom prst="rect">
            <a:avLst/>
          </a:prstGeom>
          <a:noFill/>
          <a:ln/>
        </p:spPr>
        <p:txBody>
          <a:bodyPr wrap="square" rtlCol="0" anchor="ctr"/>
          <a:lstStyle/>
          <a:p>
            <a:pPr marL="0" indent="0" algn="ctr">
              <a:buNone/>
            </a:pPr>
            <a:r>
              <a:rPr lang="en-US" sz="900" b="1" dirty="0">
                <a:solidFill>
                  <a:srgbClr val="00B4D8"/>
                </a:solidFill>
              </a:rPr>
              <a:t>DAM PLC</a:t>
            </a:r>
            <a:endParaRPr lang="en-US" sz="900" dirty="0"/>
          </a:p>
        </p:txBody>
      </p:sp>
      <p:sp>
        <p:nvSpPr>
          <p:cNvPr id="12" name="Text 10"/>
          <p:cNvSpPr/>
          <p:nvPr/>
        </p:nvSpPr>
        <p:spPr>
          <a:xfrm>
            <a:off x="457200" y="457200"/>
            <a:ext cx="5943600" cy="777240"/>
          </a:xfrm>
          <a:prstGeom prst="rect">
            <a:avLst/>
          </a:prstGeom>
          <a:noFill/>
          <a:ln/>
        </p:spPr>
        <p:txBody>
          <a:bodyPr wrap="square" rtlCol="0" anchor="ctr"/>
          <a:lstStyle/>
          <a:p>
            <a:pPr marL="0" indent="0">
              <a:buNone/>
            </a:pPr>
            <a:r>
              <a:rPr lang="en-US" sz="4800" b="1" dirty="0">
                <a:solidFill>
                  <a:srgbClr val="FFFFFF"/>
                </a:solidFill>
              </a:rPr>
              <a:t>Securing Industrial</a:t>
            </a:r>
            <a:endParaRPr lang="en-US" sz="4800" dirty="0"/>
          </a:p>
        </p:txBody>
      </p:sp>
      <p:sp>
        <p:nvSpPr>
          <p:cNvPr id="13" name="Text 11"/>
          <p:cNvSpPr/>
          <p:nvPr/>
        </p:nvSpPr>
        <p:spPr>
          <a:xfrm>
            <a:off x="457200" y="1188720"/>
            <a:ext cx="5943600" cy="777240"/>
          </a:xfrm>
          <a:prstGeom prst="rect">
            <a:avLst/>
          </a:prstGeom>
          <a:noFill/>
          <a:ln/>
        </p:spPr>
        <p:txBody>
          <a:bodyPr wrap="square" rtlCol="0" anchor="ctr"/>
          <a:lstStyle/>
          <a:p>
            <a:pPr marL="0" indent="0">
              <a:buNone/>
            </a:pPr>
            <a:r>
              <a:rPr lang="en-US" sz="4800" b="1" dirty="0">
                <a:solidFill>
                  <a:srgbClr val="00B4D8"/>
                </a:solidFill>
              </a:rPr>
              <a:t>Control Systems</a:t>
            </a:r>
            <a:endParaRPr lang="en-US" sz="4800" dirty="0"/>
          </a:p>
        </p:txBody>
      </p:sp>
      <p:sp>
        <p:nvSpPr>
          <p:cNvPr id="14" name="Text 12"/>
          <p:cNvSpPr/>
          <p:nvPr/>
        </p:nvSpPr>
        <p:spPr>
          <a:xfrm>
            <a:off x="457200" y="2057400"/>
            <a:ext cx="5943600" cy="548640"/>
          </a:xfrm>
          <a:prstGeom prst="rect">
            <a:avLst/>
          </a:prstGeom>
          <a:noFill/>
          <a:ln/>
        </p:spPr>
        <p:txBody>
          <a:bodyPr wrap="square" rtlCol="0" anchor="ctr"/>
          <a:lstStyle/>
          <a:p>
            <a:pPr marL="0" indent="0">
              <a:buNone/>
            </a:pPr>
            <a:r>
              <a:rPr lang="en-US" sz="1400" i="1" dirty="0">
                <a:solidFill>
                  <a:srgbClr val="E8F0F7"/>
                </a:solidFill>
              </a:rPr>
              <a:t>Real-Time Attack Detection Using Snort IDS &amp; Wazuh SIEM</a:t>
            </a:r>
            <a:endParaRPr lang="en-US" sz="1400" dirty="0"/>
          </a:p>
        </p:txBody>
      </p:sp>
      <p:sp>
        <p:nvSpPr>
          <p:cNvPr id="15" name="Shape 13"/>
          <p:cNvSpPr/>
          <p:nvPr/>
        </p:nvSpPr>
        <p:spPr>
          <a:xfrm>
            <a:off x="457200" y="2788920"/>
            <a:ext cx="2743200" cy="36576"/>
          </a:xfrm>
          <a:prstGeom prst="rect">
            <a:avLst/>
          </a:prstGeom>
          <a:solidFill>
            <a:srgbClr val="00B4D8"/>
          </a:solidFill>
          <a:ln w="12700">
            <a:solidFill>
              <a:srgbClr val="00B4D8"/>
            </a:solidFill>
            <a:prstDash val="solid"/>
          </a:ln>
        </p:spPr>
        <p:txBody>
          <a:bodyPr/>
          <a:lstStyle/>
          <a:p>
            <a:endParaRPr lang="en-IN"/>
          </a:p>
        </p:txBody>
      </p:sp>
      <p:sp>
        <p:nvSpPr>
          <p:cNvPr id="16" name="Text 14"/>
          <p:cNvSpPr/>
          <p:nvPr/>
        </p:nvSpPr>
        <p:spPr>
          <a:xfrm>
            <a:off x="457200" y="2926080"/>
            <a:ext cx="5943600" cy="365760"/>
          </a:xfrm>
          <a:prstGeom prst="rect">
            <a:avLst/>
          </a:prstGeom>
          <a:noFill/>
          <a:ln/>
        </p:spPr>
        <p:txBody>
          <a:bodyPr wrap="square" rtlCol="0" anchor="ctr"/>
          <a:lstStyle/>
          <a:p>
            <a:pPr marL="0" indent="0">
              <a:buNone/>
            </a:pPr>
            <a:r>
              <a:rPr lang="en-US" sz="1200" dirty="0">
                <a:solidFill>
                  <a:srgbClr val="8FA3B1"/>
                </a:solidFill>
              </a:rPr>
              <a:t>Modbus TCP  ·  Snort IDS  ·  pfSense  ·  Wazuh SIEM  ·  MITRE ATT&amp;CK for ICS</a:t>
            </a:r>
            <a:endParaRPr lang="en-US" sz="1200" dirty="0"/>
          </a:p>
        </p:txBody>
      </p:sp>
      <p:sp>
        <p:nvSpPr>
          <p:cNvPr id="17" name="Text 15"/>
          <p:cNvSpPr/>
          <p:nvPr/>
        </p:nvSpPr>
        <p:spPr>
          <a:xfrm>
            <a:off x="457200" y="4480560"/>
            <a:ext cx="5486400" cy="365760"/>
          </a:xfrm>
          <a:prstGeom prst="rect">
            <a:avLst/>
          </a:prstGeom>
          <a:noFill/>
          <a:ln/>
        </p:spPr>
        <p:txBody>
          <a:bodyPr wrap="square" rtlCol="0" anchor="ctr"/>
          <a:lstStyle/>
          <a:p>
            <a:pPr marL="0" indent="0">
              <a:buNone/>
            </a:pPr>
            <a:r>
              <a:rPr lang="en-US" sz="1100" dirty="0">
                <a:solidFill>
                  <a:srgbClr val="8FA3B1"/>
                </a:solidFill>
              </a:rPr>
              <a:t>CYB691 · Spring 2026</a:t>
            </a:r>
            <a:endParaRPr lang="en-US" sz="1100" dirty="0"/>
          </a:p>
        </p:txBody>
      </p:sp>
      <p:sp>
        <p:nvSpPr>
          <p:cNvPr id="18" name="Shape 16"/>
          <p:cNvSpPr/>
          <p:nvPr/>
        </p:nvSpPr>
        <p:spPr>
          <a:xfrm>
            <a:off x="0" y="5093208"/>
            <a:ext cx="9144000" cy="50292"/>
          </a:xfrm>
          <a:prstGeom prst="rect">
            <a:avLst/>
          </a:prstGeom>
          <a:solidFill>
            <a:srgbClr val="00B4D8"/>
          </a:solidFill>
          <a:ln w="12700">
            <a:solidFill>
              <a:srgbClr val="00B4D8"/>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137160"/>
            <a:ext cx="8412480" cy="502920"/>
          </a:xfrm>
          <a:prstGeom prst="rect">
            <a:avLst/>
          </a:prstGeom>
          <a:noFill/>
          <a:ln/>
        </p:spPr>
        <p:txBody>
          <a:bodyPr wrap="square" rtlCol="0" anchor="ctr"/>
          <a:lstStyle/>
          <a:p>
            <a:pPr marL="0" indent="0">
              <a:buNone/>
            </a:pPr>
            <a:r>
              <a:rPr lang="en-US" sz="2600" b="1" dirty="0">
                <a:solidFill>
                  <a:srgbClr val="0D1B2A"/>
                </a:solidFill>
              </a:rPr>
              <a:t>Detection Gaps in ICS Environments</a:t>
            </a:r>
            <a:endParaRPr lang="en-US" sz="2600" dirty="0"/>
          </a:p>
        </p:txBody>
      </p:sp>
      <p:sp>
        <p:nvSpPr>
          <p:cNvPr id="4" name="Shape 2"/>
          <p:cNvSpPr/>
          <p:nvPr/>
        </p:nvSpPr>
        <p:spPr>
          <a:xfrm>
            <a:off x="365760" y="658368"/>
            <a:ext cx="8412480" cy="27432"/>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274320" y="914400"/>
            <a:ext cx="4023360" cy="1691640"/>
          </a:xfrm>
          <a:prstGeom prst="rect">
            <a:avLst/>
          </a:prstGeom>
          <a:solidFill>
            <a:srgbClr val="FFFFFF"/>
          </a:solidFill>
          <a:ln w="12700">
            <a:solidFill>
              <a:srgbClr val="D0DCE8"/>
            </a:solidFill>
            <a:prstDash val="solid"/>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74320" y="914400"/>
            <a:ext cx="64008" cy="1691640"/>
          </a:xfrm>
          <a:prstGeom prst="rect">
            <a:avLst/>
          </a:prstGeom>
          <a:solidFill>
            <a:srgbClr val="E63946"/>
          </a:solidFill>
          <a:ln w="12700">
            <a:solidFill>
              <a:srgbClr val="E63946"/>
            </a:solidFill>
            <a:prstDash val="solid"/>
          </a:ln>
        </p:spPr>
        <p:txBody>
          <a:bodyPr/>
          <a:lstStyle/>
          <a:p>
            <a:endParaRPr lang="en-IN"/>
          </a:p>
        </p:txBody>
      </p:sp>
      <p:sp>
        <p:nvSpPr>
          <p:cNvPr id="7" name="Text 5"/>
          <p:cNvSpPr/>
          <p:nvPr/>
        </p:nvSpPr>
        <p:spPr>
          <a:xfrm>
            <a:off x="411480" y="1024128"/>
            <a:ext cx="3749040" cy="347472"/>
          </a:xfrm>
          <a:prstGeom prst="rect">
            <a:avLst/>
          </a:prstGeom>
          <a:noFill/>
          <a:ln/>
        </p:spPr>
        <p:txBody>
          <a:bodyPr wrap="square" rtlCol="0" anchor="ctr"/>
          <a:lstStyle/>
          <a:p>
            <a:pPr marL="0" indent="0">
              <a:buNone/>
            </a:pPr>
            <a:r>
              <a:rPr lang="en-US" sz="1300" b="1" dirty="0">
                <a:solidFill>
                  <a:srgbClr val="0D1B2A"/>
                </a:solidFill>
              </a:rPr>
              <a:t>No Protocol Visibility</a:t>
            </a:r>
            <a:endParaRPr lang="en-US" sz="1300" dirty="0"/>
          </a:p>
        </p:txBody>
      </p:sp>
      <p:sp>
        <p:nvSpPr>
          <p:cNvPr id="8" name="Text 6"/>
          <p:cNvSpPr/>
          <p:nvPr/>
        </p:nvSpPr>
        <p:spPr>
          <a:xfrm>
            <a:off x="411480" y="1389888"/>
            <a:ext cx="3749040" cy="1097280"/>
          </a:xfrm>
          <a:prstGeom prst="rect">
            <a:avLst/>
          </a:prstGeom>
          <a:noFill/>
          <a:ln/>
        </p:spPr>
        <p:txBody>
          <a:bodyPr wrap="square" rtlCol="0" anchor="ctr"/>
          <a:lstStyle/>
          <a:p>
            <a:pPr marL="0" indent="0">
              <a:buNone/>
            </a:pPr>
            <a:r>
              <a:rPr lang="en-US" sz="1100" dirty="0">
                <a:solidFill>
                  <a:srgbClr val="334155"/>
                </a:solidFill>
              </a:rPr>
              <a:t>Traditional firewalls allow Modbus TCP through without inspecting function codes — any FC16 write looks identical to legitimate traffic.</a:t>
            </a:r>
            <a:endParaRPr lang="en-US" sz="1100" dirty="0"/>
          </a:p>
        </p:txBody>
      </p:sp>
      <p:sp>
        <p:nvSpPr>
          <p:cNvPr id="9" name="Shape 7"/>
          <p:cNvSpPr/>
          <p:nvPr/>
        </p:nvSpPr>
        <p:spPr>
          <a:xfrm>
            <a:off x="4709160" y="914400"/>
            <a:ext cx="4023360" cy="1691640"/>
          </a:xfrm>
          <a:prstGeom prst="rect">
            <a:avLst/>
          </a:prstGeom>
          <a:solidFill>
            <a:srgbClr val="FFFFFF"/>
          </a:solidFill>
          <a:ln w="12700">
            <a:solidFill>
              <a:srgbClr val="D0DCE8"/>
            </a:solidFill>
            <a:prstDash val="solid"/>
          </a:ln>
          <a:effectLst>
            <a:outerShdw blurRad="101600" dist="38100" dir="8100000" algn="bl" rotWithShape="0">
              <a:srgbClr val="000000">
                <a:alpha val="18000"/>
              </a:srgbClr>
            </a:outerShdw>
          </a:effectLst>
        </p:spPr>
        <p:txBody>
          <a:bodyPr/>
          <a:lstStyle/>
          <a:p>
            <a:endParaRPr lang="en-IN"/>
          </a:p>
        </p:txBody>
      </p:sp>
      <p:sp>
        <p:nvSpPr>
          <p:cNvPr id="10" name="Shape 8"/>
          <p:cNvSpPr/>
          <p:nvPr/>
        </p:nvSpPr>
        <p:spPr>
          <a:xfrm>
            <a:off x="4709160" y="914400"/>
            <a:ext cx="64008" cy="1691640"/>
          </a:xfrm>
          <a:prstGeom prst="rect">
            <a:avLst/>
          </a:prstGeom>
          <a:solidFill>
            <a:srgbClr val="F4A261"/>
          </a:solidFill>
          <a:ln w="12700">
            <a:solidFill>
              <a:srgbClr val="F4A261"/>
            </a:solidFill>
            <a:prstDash val="solid"/>
          </a:ln>
        </p:spPr>
        <p:txBody>
          <a:bodyPr/>
          <a:lstStyle/>
          <a:p>
            <a:endParaRPr lang="en-IN"/>
          </a:p>
        </p:txBody>
      </p:sp>
      <p:sp>
        <p:nvSpPr>
          <p:cNvPr id="11" name="Text 9"/>
          <p:cNvSpPr/>
          <p:nvPr/>
        </p:nvSpPr>
        <p:spPr>
          <a:xfrm>
            <a:off x="4846320" y="1024128"/>
            <a:ext cx="3749040" cy="347472"/>
          </a:xfrm>
          <a:prstGeom prst="rect">
            <a:avLst/>
          </a:prstGeom>
          <a:noFill/>
          <a:ln/>
        </p:spPr>
        <p:txBody>
          <a:bodyPr wrap="square" rtlCol="0" anchor="ctr"/>
          <a:lstStyle/>
          <a:p>
            <a:pPr marL="0" indent="0">
              <a:buNone/>
            </a:pPr>
            <a:r>
              <a:rPr lang="en-US" sz="1300" b="1" dirty="0">
                <a:solidFill>
                  <a:srgbClr val="0D1B2A"/>
                </a:solidFill>
              </a:rPr>
              <a:t>No Authentication</a:t>
            </a:r>
            <a:endParaRPr lang="en-US" sz="1300" dirty="0"/>
          </a:p>
        </p:txBody>
      </p:sp>
      <p:sp>
        <p:nvSpPr>
          <p:cNvPr id="12" name="Text 10"/>
          <p:cNvSpPr/>
          <p:nvPr/>
        </p:nvSpPr>
        <p:spPr>
          <a:xfrm>
            <a:off x="4846320" y="1389888"/>
            <a:ext cx="3749040" cy="1097280"/>
          </a:xfrm>
          <a:prstGeom prst="rect">
            <a:avLst/>
          </a:prstGeom>
          <a:noFill/>
          <a:ln/>
        </p:spPr>
        <p:txBody>
          <a:bodyPr wrap="square" rtlCol="0" anchor="ctr"/>
          <a:lstStyle/>
          <a:p>
            <a:pPr marL="0" indent="0">
              <a:buNone/>
            </a:pPr>
            <a:r>
              <a:rPr lang="en-US" sz="1100" dirty="0">
                <a:solidFill>
                  <a:srgbClr val="334155"/>
                </a:solidFill>
              </a:rPr>
              <a:t>Modbus has zero built-in authentication. Any device on the network can issue write commands to a PLC with no credentials required.</a:t>
            </a:r>
            <a:endParaRPr lang="en-US" sz="1100" dirty="0"/>
          </a:p>
        </p:txBody>
      </p:sp>
      <p:sp>
        <p:nvSpPr>
          <p:cNvPr id="13" name="Shape 11"/>
          <p:cNvSpPr/>
          <p:nvPr/>
        </p:nvSpPr>
        <p:spPr>
          <a:xfrm>
            <a:off x="274320" y="2834640"/>
            <a:ext cx="4023360" cy="1691640"/>
          </a:xfrm>
          <a:prstGeom prst="rect">
            <a:avLst/>
          </a:prstGeom>
          <a:solidFill>
            <a:srgbClr val="FFFFFF"/>
          </a:solidFill>
          <a:ln w="12700">
            <a:solidFill>
              <a:srgbClr val="D0DCE8"/>
            </a:solidFill>
            <a:prstDash val="solid"/>
          </a:ln>
          <a:effectLst>
            <a:outerShdw blurRad="101600" dist="38100" dir="8100000" algn="bl" rotWithShape="0">
              <a:srgbClr val="000000">
                <a:alpha val="18000"/>
              </a:srgbClr>
            </a:outerShdw>
          </a:effectLst>
        </p:spPr>
        <p:txBody>
          <a:bodyPr/>
          <a:lstStyle/>
          <a:p>
            <a:endParaRPr lang="en-IN"/>
          </a:p>
        </p:txBody>
      </p:sp>
      <p:sp>
        <p:nvSpPr>
          <p:cNvPr id="14" name="Shape 12"/>
          <p:cNvSpPr/>
          <p:nvPr/>
        </p:nvSpPr>
        <p:spPr>
          <a:xfrm>
            <a:off x="274320" y="2834640"/>
            <a:ext cx="64008" cy="1691640"/>
          </a:xfrm>
          <a:prstGeom prst="rect">
            <a:avLst/>
          </a:prstGeom>
          <a:solidFill>
            <a:srgbClr val="1B4F72"/>
          </a:solidFill>
          <a:ln w="12700">
            <a:solidFill>
              <a:srgbClr val="1B4F72"/>
            </a:solidFill>
            <a:prstDash val="solid"/>
          </a:ln>
        </p:spPr>
        <p:txBody>
          <a:bodyPr/>
          <a:lstStyle/>
          <a:p>
            <a:endParaRPr lang="en-IN"/>
          </a:p>
        </p:txBody>
      </p:sp>
      <p:sp>
        <p:nvSpPr>
          <p:cNvPr id="15" name="Text 13"/>
          <p:cNvSpPr/>
          <p:nvPr/>
        </p:nvSpPr>
        <p:spPr>
          <a:xfrm>
            <a:off x="411480" y="2944368"/>
            <a:ext cx="3749040" cy="347472"/>
          </a:xfrm>
          <a:prstGeom prst="rect">
            <a:avLst/>
          </a:prstGeom>
          <a:noFill/>
          <a:ln/>
        </p:spPr>
        <p:txBody>
          <a:bodyPr wrap="square" rtlCol="0" anchor="ctr"/>
          <a:lstStyle/>
          <a:p>
            <a:pPr marL="0" indent="0">
              <a:buNone/>
            </a:pPr>
            <a:r>
              <a:rPr lang="en-US" sz="1300" b="1" dirty="0">
                <a:solidFill>
                  <a:srgbClr val="0D1B2A"/>
                </a:solidFill>
              </a:rPr>
              <a:t>No SIEM Correlation</a:t>
            </a:r>
            <a:endParaRPr lang="en-US" sz="1300" dirty="0"/>
          </a:p>
        </p:txBody>
      </p:sp>
      <p:sp>
        <p:nvSpPr>
          <p:cNvPr id="16" name="Text 14"/>
          <p:cNvSpPr/>
          <p:nvPr/>
        </p:nvSpPr>
        <p:spPr>
          <a:xfrm>
            <a:off x="411480" y="3310128"/>
            <a:ext cx="3749040" cy="1097280"/>
          </a:xfrm>
          <a:prstGeom prst="rect">
            <a:avLst/>
          </a:prstGeom>
          <a:noFill/>
          <a:ln/>
        </p:spPr>
        <p:txBody>
          <a:bodyPr wrap="square" rtlCol="0" anchor="ctr"/>
          <a:lstStyle/>
          <a:p>
            <a:pPr marL="0" indent="0">
              <a:buNone/>
            </a:pPr>
            <a:r>
              <a:rPr lang="en-US" sz="1100" dirty="0">
                <a:solidFill>
                  <a:srgbClr val="334155"/>
                </a:solidFill>
              </a:rPr>
              <a:t>IDS alerts existed in isolation. Without SIEM forwarding, there was no way to correlate events, count frequency, or trigger automated responses.</a:t>
            </a:r>
            <a:endParaRPr lang="en-US" sz="1100" dirty="0"/>
          </a:p>
        </p:txBody>
      </p:sp>
      <p:sp>
        <p:nvSpPr>
          <p:cNvPr id="17" name="Shape 15"/>
          <p:cNvSpPr/>
          <p:nvPr/>
        </p:nvSpPr>
        <p:spPr>
          <a:xfrm>
            <a:off x="4709160" y="2834640"/>
            <a:ext cx="4023360" cy="1691640"/>
          </a:xfrm>
          <a:prstGeom prst="rect">
            <a:avLst/>
          </a:prstGeom>
          <a:solidFill>
            <a:srgbClr val="FFFFFF"/>
          </a:solidFill>
          <a:ln w="12700">
            <a:solidFill>
              <a:srgbClr val="D0DCE8"/>
            </a:solidFill>
            <a:prstDash val="solid"/>
          </a:ln>
          <a:effectLst>
            <a:outerShdw blurRad="101600" dist="38100" dir="8100000" algn="bl" rotWithShape="0">
              <a:srgbClr val="000000">
                <a:alpha val="18000"/>
              </a:srgbClr>
            </a:outerShdw>
          </a:effectLst>
        </p:spPr>
        <p:txBody>
          <a:bodyPr/>
          <a:lstStyle/>
          <a:p>
            <a:endParaRPr lang="en-IN"/>
          </a:p>
        </p:txBody>
      </p:sp>
      <p:sp>
        <p:nvSpPr>
          <p:cNvPr id="18" name="Shape 16"/>
          <p:cNvSpPr/>
          <p:nvPr/>
        </p:nvSpPr>
        <p:spPr>
          <a:xfrm>
            <a:off x="4709160" y="2834640"/>
            <a:ext cx="64008" cy="1691640"/>
          </a:xfrm>
          <a:prstGeom prst="rect">
            <a:avLst/>
          </a:prstGeom>
          <a:solidFill>
            <a:srgbClr val="0D1B2A"/>
          </a:solidFill>
          <a:ln w="12700">
            <a:solidFill>
              <a:srgbClr val="0D1B2A"/>
            </a:solidFill>
            <a:prstDash val="solid"/>
          </a:ln>
        </p:spPr>
        <p:txBody>
          <a:bodyPr/>
          <a:lstStyle/>
          <a:p>
            <a:endParaRPr lang="en-IN"/>
          </a:p>
        </p:txBody>
      </p:sp>
      <p:sp>
        <p:nvSpPr>
          <p:cNvPr id="19" name="Text 17"/>
          <p:cNvSpPr/>
          <p:nvPr/>
        </p:nvSpPr>
        <p:spPr>
          <a:xfrm>
            <a:off x="4846320" y="2944368"/>
            <a:ext cx="3749040" cy="347472"/>
          </a:xfrm>
          <a:prstGeom prst="rect">
            <a:avLst/>
          </a:prstGeom>
          <a:noFill/>
          <a:ln/>
        </p:spPr>
        <p:txBody>
          <a:bodyPr wrap="square" rtlCol="0" anchor="ctr"/>
          <a:lstStyle/>
          <a:p>
            <a:pPr marL="0" indent="0">
              <a:buNone/>
            </a:pPr>
            <a:r>
              <a:rPr lang="en-US" sz="1300" b="1" dirty="0">
                <a:solidFill>
                  <a:srgbClr val="0D1B2A"/>
                </a:solidFill>
              </a:rPr>
              <a:t>No MITRE Mapping</a:t>
            </a:r>
            <a:endParaRPr lang="en-US" sz="1300" dirty="0"/>
          </a:p>
        </p:txBody>
      </p:sp>
      <p:sp>
        <p:nvSpPr>
          <p:cNvPr id="20" name="Text 18"/>
          <p:cNvSpPr/>
          <p:nvPr/>
        </p:nvSpPr>
        <p:spPr>
          <a:xfrm>
            <a:off x="4846320" y="3310128"/>
            <a:ext cx="3749040" cy="1097280"/>
          </a:xfrm>
          <a:prstGeom prst="rect">
            <a:avLst/>
          </a:prstGeom>
          <a:noFill/>
          <a:ln/>
        </p:spPr>
        <p:txBody>
          <a:bodyPr wrap="square" rtlCol="0" anchor="ctr"/>
          <a:lstStyle/>
          <a:p>
            <a:pPr marL="0" indent="0">
              <a:buNone/>
            </a:pPr>
            <a:r>
              <a:rPr lang="en-US" sz="1100" dirty="0">
                <a:solidFill>
                  <a:srgbClr val="334155"/>
                </a:solidFill>
              </a:rPr>
              <a:t>Alerts had no threat context. Without ATT&amp;CK for ICS mapping, defenders couldn't classify attacks by tactic or technique.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37160"/>
            <a:ext cx="8412480" cy="502920"/>
          </a:xfrm>
          <a:prstGeom prst="rect">
            <a:avLst/>
          </a:prstGeom>
          <a:noFill/>
          <a:ln/>
        </p:spPr>
        <p:txBody>
          <a:bodyPr wrap="square" rtlCol="0" anchor="ctr"/>
          <a:lstStyle/>
          <a:p>
            <a:pPr marL="0" indent="0">
              <a:buNone/>
            </a:pPr>
            <a:r>
              <a:rPr lang="en-US" sz="2600" b="1" dirty="0">
                <a:solidFill>
                  <a:srgbClr val="FFFFFF"/>
                </a:solidFill>
              </a:rPr>
              <a:t>Environment Architecture</a:t>
            </a:r>
            <a:endParaRPr lang="en-US" sz="2600" dirty="0"/>
          </a:p>
        </p:txBody>
      </p:sp>
      <p:sp>
        <p:nvSpPr>
          <p:cNvPr id="4" name="Shape 2"/>
          <p:cNvSpPr/>
          <p:nvPr/>
        </p:nvSpPr>
        <p:spPr>
          <a:xfrm>
            <a:off x="365760" y="658368"/>
            <a:ext cx="8412480" cy="27432"/>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228600" y="914400"/>
            <a:ext cx="3108960" cy="1554480"/>
          </a:xfrm>
          <a:prstGeom prst="rect">
            <a:avLst/>
          </a:prstGeom>
          <a:solidFill>
            <a:srgbClr val="0D1B2A"/>
          </a:solidFill>
          <a:ln w="25400">
            <a:solidFill>
              <a:srgbClr val="E63946"/>
            </a:solidFill>
            <a:prstDash val="solid"/>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28600" y="914400"/>
            <a:ext cx="3108960" cy="347472"/>
          </a:xfrm>
          <a:prstGeom prst="rect">
            <a:avLst/>
          </a:prstGeom>
          <a:solidFill>
            <a:srgbClr val="E63946"/>
          </a:solidFill>
          <a:ln w="12700">
            <a:solidFill>
              <a:srgbClr val="E63946"/>
            </a:solidFill>
            <a:prstDash val="solid"/>
          </a:ln>
        </p:spPr>
        <p:txBody>
          <a:bodyPr/>
          <a:lstStyle/>
          <a:p>
            <a:endParaRPr lang="en-IN"/>
          </a:p>
        </p:txBody>
      </p:sp>
      <p:sp>
        <p:nvSpPr>
          <p:cNvPr id="7" name="Text 5"/>
          <p:cNvSpPr/>
          <p:nvPr/>
        </p:nvSpPr>
        <p:spPr>
          <a:xfrm>
            <a:off x="228600" y="914400"/>
            <a:ext cx="3108960" cy="347472"/>
          </a:xfrm>
          <a:prstGeom prst="rect">
            <a:avLst/>
          </a:prstGeom>
          <a:noFill/>
          <a:ln/>
        </p:spPr>
        <p:txBody>
          <a:bodyPr wrap="square" rtlCol="0" anchor="ctr"/>
          <a:lstStyle/>
          <a:p>
            <a:pPr marL="0" indent="0" algn="ctr">
              <a:buNone/>
            </a:pPr>
            <a:r>
              <a:rPr lang="en-US" sz="1300" b="1" dirty="0">
                <a:solidFill>
                  <a:srgbClr val="0D1B2A"/>
                </a:solidFill>
              </a:rPr>
              <a:t>Kali Attacker</a:t>
            </a:r>
            <a:endParaRPr lang="en-US" sz="1300" dirty="0"/>
          </a:p>
        </p:txBody>
      </p:sp>
      <p:sp>
        <p:nvSpPr>
          <p:cNvPr id="8" name="Text 6"/>
          <p:cNvSpPr/>
          <p:nvPr/>
        </p:nvSpPr>
        <p:spPr>
          <a:xfrm>
            <a:off x="228600" y="1325880"/>
            <a:ext cx="3108960" cy="320040"/>
          </a:xfrm>
          <a:prstGeom prst="rect">
            <a:avLst/>
          </a:prstGeom>
          <a:noFill/>
          <a:ln/>
        </p:spPr>
        <p:txBody>
          <a:bodyPr wrap="square" rtlCol="0" anchor="ctr"/>
          <a:lstStyle/>
          <a:p>
            <a:pPr marL="0" indent="0" algn="ctr">
              <a:buNone/>
            </a:pPr>
            <a:r>
              <a:rPr lang="en-US" sz="1400" b="1" dirty="0">
                <a:solidFill>
                  <a:srgbClr val="E63946"/>
                </a:solidFill>
              </a:rPr>
              <a:t>10.13.20.21</a:t>
            </a:r>
            <a:endParaRPr lang="en-US" sz="1400" dirty="0"/>
          </a:p>
        </p:txBody>
      </p:sp>
      <p:sp>
        <p:nvSpPr>
          <p:cNvPr id="9" name="Text 7"/>
          <p:cNvSpPr/>
          <p:nvPr/>
        </p:nvSpPr>
        <p:spPr>
          <a:xfrm>
            <a:off x="228600" y="1691640"/>
            <a:ext cx="3108960" cy="548640"/>
          </a:xfrm>
          <a:prstGeom prst="rect">
            <a:avLst/>
          </a:prstGeom>
          <a:noFill/>
          <a:ln/>
        </p:spPr>
        <p:txBody>
          <a:bodyPr wrap="square" rtlCol="0" anchor="ctr"/>
          <a:lstStyle/>
          <a:p>
            <a:pPr marL="0" indent="0" algn="ctr">
              <a:buNone/>
            </a:pPr>
            <a:r>
              <a:rPr lang="en-US" sz="1000" dirty="0">
                <a:solidFill>
                  <a:srgbClr val="8FA3B1"/>
                </a:solidFill>
              </a:rPr>
              <a:t>Attack Simulation</a:t>
            </a:r>
            <a:endParaRPr lang="en-US" sz="1000" dirty="0"/>
          </a:p>
        </p:txBody>
      </p:sp>
      <p:sp>
        <p:nvSpPr>
          <p:cNvPr id="10" name="Shape 8"/>
          <p:cNvSpPr/>
          <p:nvPr/>
        </p:nvSpPr>
        <p:spPr>
          <a:xfrm>
            <a:off x="2834640" y="914400"/>
            <a:ext cx="3108960" cy="1554480"/>
          </a:xfrm>
          <a:prstGeom prst="rect">
            <a:avLst/>
          </a:prstGeom>
          <a:solidFill>
            <a:srgbClr val="0D1B2A"/>
          </a:solidFill>
          <a:ln w="25400">
            <a:solidFill>
              <a:srgbClr val="F4A261"/>
            </a:solidFill>
            <a:prstDash val="solid"/>
          </a:ln>
          <a:effectLst>
            <a:outerShdw blurRad="101600" dist="38100" dir="8100000" algn="bl" rotWithShape="0">
              <a:srgbClr val="000000">
                <a:alpha val="18000"/>
              </a:srgbClr>
            </a:outerShdw>
          </a:effectLst>
        </p:spPr>
        <p:txBody>
          <a:bodyPr/>
          <a:lstStyle/>
          <a:p>
            <a:endParaRPr lang="en-IN"/>
          </a:p>
        </p:txBody>
      </p:sp>
      <p:sp>
        <p:nvSpPr>
          <p:cNvPr id="11" name="Shape 9"/>
          <p:cNvSpPr/>
          <p:nvPr/>
        </p:nvSpPr>
        <p:spPr>
          <a:xfrm>
            <a:off x="2834640" y="914400"/>
            <a:ext cx="3108960" cy="347472"/>
          </a:xfrm>
          <a:prstGeom prst="rect">
            <a:avLst/>
          </a:prstGeom>
          <a:solidFill>
            <a:srgbClr val="F4A261"/>
          </a:solidFill>
          <a:ln w="12700">
            <a:solidFill>
              <a:srgbClr val="F4A261"/>
            </a:solidFill>
            <a:prstDash val="solid"/>
          </a:ln>
        </p:spPr>
        <p:txBody>
          <a:bodyPr/>
          <a:lstStyle/>
          <a:p>
            <a:endParaRPr lang="en-IN"/>
          </a:p>
        </p:txBody>
      </p:sp>
      <p:sp>
        <p:nvSpPr>
          <p:cNvPr id="12" name="Text 10"/>
          <p:cNvSpPr/>
          <p:nvPr/>
        </p:nvSpPr>
        <p:spPr>
          <a:xfrm>
            <a:off x="2834640" y="914400"/>
            <a:ext cx="3108960" cy="347472"/>
          </a:xfrm>
          <a:prstGeom prst="rect">
            <a:avLst/>
          </a:prstGeom>
          <a:noFill/>
          <a:ln/>
        </p:spPr>
        <p:txBody>
          <a:bodyPr wrap="square" rtlCol="0" anchor="ctr"/>
          <a:lstStyle/>
          <a:p>
            <a:pPr marL="0" indent="0" algn="ctr">
              <a:buNone/>
            </a:pPr>
            <a:r>
              <a:rPr lang="en-US" sz="1300" b="1" dirty="0">
                <a:solidFill>
                  <a:srgbClr val="0D1B2A"/>
                </a:solidFill>
              </a:rPr>
              <a:t>pfSense + Snort</a:t>
            </a:r>
            <a:endParaRPr lang="en-US" sz="1300" dirty="0"/>
          </a:p>
        </p:txBody>
      </p:sp>
      <p:sp>
        <p:nvSpPr>
          <p:cNvPr id="13" name="Text 11"/>
          <p:cNvSpPr/>
          <p:nvPr/>
        </p:nvSpPr>
        <p:spPr>
          <a:xfrm>
            <a:off x="2834640" y="1325880"/>
            <a:ext cx="3108960" cy="320040"/>
          </a:xfrm>
          <a:prstGeom prst="rect">
            <a:avLst/>
          </a:prstGeom>
          <a:noFill/>
          <a:ln/>
        </p:spPr>
        <p:txBody>
          <a:bodyPr wrap="square" rtlCol="0" anchor="ctr"/>
          <a:lstStyle/>
          <a:p>
            <a:pPr marL="0" indent="0" algn="ctr">
              <a:buNone/>
            </a:pPr>
            <a:r>
              <a:rPr lang="en-US" sz="1400" b="1" dirty="0">
                <a:solidFill>
                  <a:srgbClr val="F4A261"/>
                </a:solidFill>
              </a:rPr>
              <a:t>10.13.20.240</a:t>
            </a:r>
            <a:endParaRPr lang="en-US" sz="1400" dirty="0"/>
          </a:p>
        </p:txBody>
      </p:sp>
      <p:sp>
        <p:nvSpPr>
          <p:cNvPr id="14" name="Text 12"/>
          <p:cNvSpPr/>
          <p:nvPr/>
        </p:nvSpPr>
        <p:spPr>
          <a:xfrm>
            <a:off x="2834640" y="1691640"/>
            <a:ext cx="3108960" cy="548640"/>
          </a:xfrm>
          <a:prstGeom prst="rect">
            <a:avLst/>
          </a:prstGeom>
          <a:noFill/>
          <a:ln/>
        </p:spPr>
        <p:txBody>
          <a:bodyPr wrap="square" rtlCol="0" anchor="ctr"/>
          <a:lstStyle/>
          <a:p>
            <a:pPr marL="0" indent="0" algn="ctr">
              <a:buNone/>
            </a:pPr>
            <a:r>
              <a:rPr lang="en-US" sz="1000" dirty="0">
                <a:solidFill>
                  <a:srgbClr val="8FA3B1"/>
                </a:solidFill>
              </a:rPr>
              <a:t>IDS / Firewall Gateway</a:t>
            </a:r>
            <a:endParaRPr lang="en-US" sz="1000" dirty="0"/>
          </a:p>
        </p:txBody>
      </p:sp>
      <p:sp>
        <p:nvSpPr>
          <p:cNvPr id="15" name="Shape 13"/>
          <p:cNvSpPr/>
          <p:nvPr/>
        </p:nvSpPr>
        <p:spPr>
          <a:xfrm>
            <a:off x="5486400" y="914400"/>
            <a:ext cx="3108960" cy="1554480"/>
          </a:xfrm>
          <a:prstGeom prst="rect">
            <a:avLst/>
          </a:prstGeom>
          <a:solidFill>
            <a:srgbClr val="0D1B2A"/>
          </a:solidFill>
          <a:ln w="25400">
            <a:solidFill>
              <a:srgbClr val="00B4D8"/>
            </a:solidFill>
            <a:prstDash val="solid"/>
          </a:ln>
          <a:effectLst>
            <a:outerShdw blurRad="101600" dist="38100" dir="8100000" algn="bl" rotWithShape="0">
              <a:srgbClr val="000000">
                <a:alpha val="18000"/>
              </a:srgbClr>
            </a:outerShdw>
          </a:effectLst>
        </p:spPr>
        <p:txBody>
          <a:bodyPr/>
          <a:lstStyle/>
          <a:p>
            <a:endParaRPr lang="en-IN"/>
          </a:p>
        </p:txBody>
      </p:sp>
      <p:sp>
        <p:nvSpPr>
          <p:cNvPr id="16" name="Shape 14"/>
          <p:cNvSpPr/>
          <p:nvPr/>
        </p:nvSpPr>
        <p:spPr>
          <a:xfrm>
            <a:off x="5486400" y="914400"/>
            <a:ext cx="3108960" cy="347472"/>
          </a:xfrm>
          <a:prstGeom prst="rect">
            <a:avLst/>
          </a:prstGeom>
          <a:solidFill>
            <a:srgbClr val="00B4D8"/>
          </a:solidFill>
          <a:ln w="12700">
            <a:solidFill>
              <a:srgbClr val="00B4D8"/>
            </a:solidFill>
            <a:prstDash val="solid"/>
          </a:ln>
        </p:spPr>
        <p:txBody>
          <a:bodyPr/>
          <a:lstStyle/>
          <a:p>
            <a:endParaRPr lang="en-IN"/>
          </a:p>
        </p:txBody>
      </p:sp>
      <p:sp>
        <p:nvSpPr>
          <p:cNvPr id="17" name="Text 15"/>
          <p:cNvSpPr/>
          <p:nvPr/>
        </p:nvSpPr>
        <p:spPr>
          <a:xfrm>
            <a:off x="5486400" y="914400"/>
            <a:ext cx="3108960" cy="347472"/>
          </a:xfrm>
          <a:prstGeom prst="rect">
            <a:avLst/>
          </a:prstGeom>
          <a:noFill/>
          <a:ln/>
        </p:spPr>
        <p:txBody>
          <a:bodyPr wrap="square" rtlCol="0" anchor="ctr"/>
          <a:lstStyle/>
          <a:p>
            <a:pPr marL="0" indent="0" algn="ctr">
              <a:buNone/>
            </a:pPr>
            <a:r>
              <a:rPr lang="en-US" sz="1300" b="1" dirty="0">
                <a:solidFill>
                  <a:srgbClr val="0D1B2A"/>
                </a:solidFill>
              </a:rPr>
              <a:t>Wazuh SIEM</a:t>
            </a:r>
            <a:endParaRPr lang="en-US" sz="1300" dirty="0"/>
          </a:p>
        </p:txBody>
      </p:sp>
      <p:sp>
        <p:nvSpPr>
          <p:cNvPr id="18" name="Text 16"/>
          <p:cNvSpPr/>
          <p:nvPr/>
        </p:nvSpPr>
        <p:spPr>
          <a:xfrm>
            <a:off x="5486400" y="1325880"/>
            <a:ext cx="3108960" cy="320040"/>
          </a:xfrm>
          <a:prstGeom prst="rect">
            <a:avLst/>
          </a:prstGeom>
          <a:noFill/>
          <a:ln/>
        </p:spPr>
        <p:txBody>
          <a:bodyPr wrap="square" rtlCol="0" anchor="ctr"/>
          <a:lstStyle/>
          <a:p>
            <a:pPr marL="0" indent="0" algn="ctr">
              <a:buNone/>
            </a:pPr>
            <a:r>
              <a:rPr lang="en-US" sz="1400" b="1" dirty="0">
                <a:solidFill>
                  <a:srgbClr val="00B4D8"/>
                </a:solidFill>
              </a:rPr>
              <a:t>10.13.20.17</a:t>
            </a:r>
            <a:endParaRPr lang="en-US" sz="1400" dirty="0"/>
          </a:p>
        </p:txBody>
      </p:sp>
      <p:sp>
        <p:nvSpPr>
          <p:cNvPr id="19" name="Text 17"/>
          <p:cNvSpPr/>
          <p:nvPr/>
        </p:nvSpPr>
        <p:spPr>
          <a:xfrm>
            <a:off x="5486400" y="1691640"/>
            <a:ext cx="3108960" cy="548640"/>
          </a:xfrm>
          <a:prstGeom prst="rect">
            <a:avLst/>
          </a:prstGeom>
          <a:noFill/>
          <a:ln/>
        </p:spPr>
        <p:txBody>
          <a:bodyPr wrap="square" rtlCol="0" anchor="ctr"/>
          <a:lstStyle/>
          <a:p>
            <a:pPr marL="0" indent="0" algn="ctr">
              <a:buNone/>
            </a:pPr>
            <a:r>
              <a:rPr lang="en-US" sz="1000" dirty="0">
                <a:solidFill>
                  <a:srgbClr val="8FA3B1"/>
                </a:solidFill>
              </a:rPr>
              <a:t>Alert Correlation</a:t>
            </a:r>
            <a:endParaRPr lang="en-US" sz="1000" dirty="0"/>
          </a:p>
        </p:txBody>
      </p:sp>
      <p:sp>
        <p:nvSpPr>
          <p:cNvPr id="20" name="Shape 18"/>
          <p:cNvSpPr/>
          <p:nvPr/>
        </p:nvSpPr>
        <p:spPr>
          <a:xfrm>
            <a:off x="2834640" y="3108960"/>
            <a:ext cx="3108960" cy="1554480"/>
          </a:xfrm>
          <a:prstGeom prst="rect">
            <a:avLst/>
          </a:prstGeom>
          <a:solidFill>
            <a:srgbClr val="0D1B2A"/>
          </a:solidFill>
          <a:ln w="25400">
            <a:solidFill>
              <a:srgbClr val="2DC653"/>
            </a:solidFill>
            <a:prstDash val="solid"/>
          </a:ln>
          <a:effectLst>
            <a:outerShdw blurRad="101600" dist="38100" dir="8100000" algn="bl" rotWithShape="0">
              <a:srgbClr val="000000">
                <a:alpha val="18000"/>
              </a:srgbClr>
            </a:outerShdw>
          </a:effectLst>
        </p:spPr>
        <p:txBody>
          <a:bodyPr/>
          <a:lstStyle/>
          <a:p>
            <a:endParaRPr lang="en-IN"/>
          </a:p>
        </p:txBody>
      </p:sp>
      <p:sp>
        <p:nvSpPr>
          <p:cNvPr id="21" name="Shape 19"/>
          <p:cNvSpPr/>
          <p:nvPr/>
        </p:nvSpPr>
        <p:spPr>
          <a:xfrm>
            <a:off x="2834640" y="3108960"/>
            <a:ext cx="3108960" cy="347472"/>
          </a:xfrm>
          <a:prstGeom prst="rect">
            <a:avLst/>
          </a:prstGeom>
          <a:solidFill>
            <a:srgbClr val="2DC653"/>
          </a:solidFill>
          <a:ln w="12700">
            <a:solidFill>
              <a:srgbClr val="2DC653"/>
            </a:solidFill>
            <a:prstDash val="solid"/>
          </a:ln>
        </p:spPr>
        <p:txBody>
          <a:bodyPr/>
          <a:lstStyle/>
          <a:p>
            <a:endParaRPr lang="en-IN"/>
          </a:p>
        </p:txBody>
      </p:sp>
      <p:sp>
        <p:nvSpPr>
          <p:cNvPr id="22" name="Text 20"/>
          <p:cNvSpPr/>
          <p:nvPr/>
        </p:nvSpPr>
        <p:spPr>
          <a:xfrm>
            <a:off x="2834640" y="3108960"/>
            <a:ext cx="3108960" cy="347472"/>
          </a:xfrm>
          <a:prstGeom prst="rect">
            <a:avLst/>
          </a:prstGeom>
          <a:noFill/>
          <a:ln/>
        </p:spPr>
        <p:txBody>
          <a:bodyPr wrap="square" rtlCol="0" anchor="ctr"/>
          <a:lstStyle/>
          <a:p>
            <a:pPr marL="0" indent="0" algn="ctr">
              <a:buNone/>
            </a:pPr>
            <a:r>
              <a:rPr lang="en-US" sz="1300" b="1" dirty="0">
                <a:solidFill>
                  <a:srgbClr val="0D1B2A"/>
                </a:solidFill>
              </a:rPr>
              <a:t>DAM PLC</a:t>
            </a:r>
            <a:endParaRPr lang="en-US" sz="1300" dirty="0"/>
          </a:p>
        </p:txBody>
      </p:sp>
      <p:sp>
        <p:nvSpPr>
          <p:cNvPr id="23" name="Text 21"/>
          <p:cNvSpPr/>
          <p:nvPr/>
        </p:nvSpPr>
        <p:spPr>
          <a:xfrm>
            <a:off x="2834640" y="3520440"/>
            <a:ext cx="3108960" cy="320040"/>
          </a:xfrm>
          <a:prstGeom prst="rect">
            <a:avLst/>
          </a:prstGeom>
          <a:noFill/>
          <a:ln/>
        </p:spPr>
        <p:txBody>
          <a:bodyPr wrap="square" rtlCol="0" anchor="ctr"/>
          <a:lstStyle/>
          <a:p>
            <a:pPr marL="0" indent="0" algn="ctr">
              <a:buNone/>
            </a:pPr>
            <a:r>
              <a:rPr lang="en-US" sz="1400" b="1" dirty="0">
                <a:solidFill>
                  <a:srgbClr val="2DC653"/>
                </a:solidFill>
              </a:rPr>
              <a:t>10.14.6.10</a:t>
            </a:r>
            <a:endParaRPr lang="en-US" sz="1400" dirty="0"/>
          </a:p>
        </p:txBody>
      </p:sp>
      <p:sp>
        <p:nvSpPr>
          <p:cNvPr id="24" name="Text 22"/>
          <p:cNvSpPr/>
          <p:nvPr/>
        </p:nvSpPr>
        <p:spPr>
          <a:xfrm>
            <a:off x="2834640" y="3886200"/>
            <a:ext cx="3108960" cy="548640"/>
          </a:xfrm>
          <a:prstGeom prst="rect">
            <a:avLst/>
          </a:prstGeom>
          <a:noFill/>
          <a:ln/>
        </p:spPr>
        <p:txBody>
          <a:bodyPr wrap="square" rtlCol="0" anchor="ctr"/>
          <a:lstStyle/>
          <a:p>
            <a:pPr marL="0" indent="0" algn="ctr">
              <a:buNone/>
            </a:pPr>
            <a:r>
              <a:rPr lang="en-US" sz="1000" dirty="0">
                <a:solidFill>
                  <a:srgbClr val="8FA3B1"/>
                </a:solidFill>
              </a:rPr>
              <a:t>Target OT Device</a:t>
            </a:r>
            <a:endParaRPr lang="en-US" sz="1000" dirty="0"/>
          </a:p>
        </p:txBody>
      </p:sp>
      <p:sp>
        <p:nvSpPr>
          <p:cNvPr id="25" name="Shape 23"/>
          <p:cNvSpPr/>
          <p:nvPr/>
        </p:nvSpPr>
        <p:spPr>
          <a:xfrm>
            <a:off x="3337560" y="1691640"/>
            <a:ext cx="0" cy="0"/>
          </a:xfrm>
          <a:prstGeom prst="line">
            <a:avLst/>
          </a:prstGeom>
          <a:noFill/>
          <a:ln w="25400">
            <a:solidFill>
              <a:srgbClr val="E63946"/>
            </a:solidFill>
            <a:prstDash val="solid"/>
          </a:ln>
        </p:spPr>
        <p:txBody>
          <a:bodyPr/>
          <a:lstStyle/>
          <a:p>
            <a:endParaRPr lang="en-IN"/>
          </a:p>
        </p:txBody>
      </p:sp>
      <p:sp>
        <p:nvSpPr>
          <p:cNvPr id="26" name="Text 24"/>
          <p:cNvSpPr/>
          <p:nvPr/>
        </p:nvSpPr>
        <p:spPr>
          <a:xfrm>
            <a:off x="914400" y="1463040"/>
            <a:ext cx="1828800" cy="457200"/>
          </a:xfrm>
          <a:prstGeom prst="rect">
            <a:avLst/>
          </a:prstGeom>
          <a:noFill/>
          <a:ln/>
        </p:spPr>
        <p:txBody>
          <a:bodyPr wrap="square" rtlCol="0" anchor="ctr"/>
          <a:lstStyle/>
          <a:p>
            <a:pPr marL="0" indent="0" algn="ctr">
              <a:buNone/>
            </a:pPr>
            <a:r>
              <a:rPr lang="en-US" sz="900" i="1" dirty="0">
                <a:solidFill>
                  <a:srgbClr val="E63946"/>
                </a:solidFill>
              </a:rPr>
              <a:t>Modbus TCP</a:t>
            </a:r>
            <a:endParaRPr lang="en-US" sz="900" dirty="0"/>
          </a:p>
          <a:p>
            <a:pPr marL="0" indent="0" algn="ctr">
              <a:buNone/>
            </a:pPr>
            <a:r>
              <a:rPr lang="en-US" sz="900" i="1" dirty="0">
                <a:solidFill>
                  <a:srgbClr val="E63946"/>
                </a:solidFill>
              </a:rPr>
              <a:t>Port 1502</a:t>
            </a:r>
            <a:endParaRPr lang="en-US" sz="900" dirty="0"/>
          </a:p>
        </p:txBody>
      </p:sp>
      <p:sp>
        <p:nvSpPr>
          <p:cNvPr id="27" name="Shape 25"/>
          <p:cNvSpPr/>
          <p:nvPr/>
        </p:nvSpPr>
        <p:spPr>
          <a:xfrm>
            <a:off x="5943600" y="1691640"/>
            <a:ext cx="0" cy="0"/>
          </a:xfrm>
          <a:prstGeom prst="line">
            <a:avLst/>
          </a:prstGeom>
          <a:noFill/>
          <a:ln w="25400">
            <a:solidFill>
              <a:srgbClr val="00B4D8"/>
            </a:solidFill>
            <a:prstDash val="solid"/>
          </a:ln>
        </p:spPr>
        <p:txBody>
          <a:bodyPr/>
          <a:lstStyle/>
          <a:p>
            <a:endParaRPr lang="en-IN"/>
          </a:p>
        </p:txBody>
      </p:sp>
      <p:sp>
        <p:nvSpPr>
          <p:cNvPr id="28" name="Text 26"/>
          <p:cNvSpPr/>
          <p:nvPr/>
        </p:nvSpPr>
        <p:spPr>
          <a:xfrm>
            <a:off x="5029200" y="1463040"/>
            <a:ext cx="1828800" cy="365760"/>
          </a:xfrm>
          <a:prstGeom prst="rect">
            <a:avLst/>
          </a:prstGeom>
          <a:noFill/>
          <a:ln/>
        </p:spPr>
        <p:txBody>
          <a:bodyPr wrap="square" rtlCol="0" anchor="ctr"/>
          <a:lstStyle/>
          <a:p>
            <a:pPr marL="0" indent="0" algn="ctr">
              <a:buNone/>
            </a:pPr>
            <a:r>
              <a:rPr lang="en-US" sz="900" i="1" dirty="0">
                <a:solidFill>
                  <a:srgbClr val="00B4D8"/>
                </a:solidFill>
              </a:rPr>
              <a:t>Syslog UDP 514</a:t>
            </a:r>
            <a:endParaRPr lang="en-US" sz="900" dirty="0"/>
          </a:p>
        </p:txBody>
      </p:sp>
      <p:sp>
        <p:nvSpPr>
          <p:cNvPr id="29" name="Shape 27"/>
          <p:cNvSpPr/>
          <p:nvPr/>
        </p:nvSpPr>
        <p:spPr>
          <a:xfrm>
            <a:off x="4389120" y="2468880"/>
            <a:ext cx="0" cy="640080"/>
          </a:xfrm>
          <a:prstGeom prst="line">
            <a:avLst/>
          </a:prstGeom>
          <a:noFill/>
          <a:ln w="25400">
            <a:solidFill>
              <a:srgbClr val="F4A261"/>
            </a:solidFill>
            <a:prstDash val="solid"/>
          </a:ln>
        </p:spPr>
        <p:txBody>
          <a:bodyPr/>
          <a:lstStyle/>
          <a:p>
            <a:endParaRPr lang="en-IN"/>
          </a:p>
        </p:txBody>
      </p:sp>
      <p:sp>
        <p:nvSpPr>
          <p:cNvPr id="30" name="Text 28"/>
          <p:cNvSpPr/>
          <p:nvPr/>
        </p:nvSpPr>
        <p:spPr>
          <a:xfrm>
            <a:off x="4572000" y="2743200"/>
            <a:ext cx="1645920" cy="457200"/>
          </a:xfrm>
          <a:prstGeom prst="rect">
            <a:avLst/>
          </a:prstGeom>
          <a:noFill/>
          <a:ln/>
        </p:spPr>
        <p:txBody>
          <a:bodyPr wrap="square" rtlCol="0" anchor="ctr"/>
          <a:lstStyle/>
          <a:p>
            <a:pPr marL="0" indent="0">
              <a:buNone/>
            </a:pPr>
            <a:r>
              <a:rPr lang="en-US" sz="900" i="1" dirty="0">
                <a:solidFill>
                  <a:srgbClr val="F4A261"/>
                </a:solidFill>
              </a:rPr>
              <a:t>OT Network</a:t>
            </a:r>
            <a:endParaRPr lang="en-US" sz="900" dirty="0"/>
          </a:p>
          <a:p>
            <a:pPr marL="0" indent="0">
              <a:buNone/>
            </a:pPr>
            <a:r>
              <a:rPr lang="en-US" sz="900" i="1" dirty="0">
                <a:solidFill>
                  <a:srgbClr val="F4A261"/>
                </a:solidFill>
              </a:rPr>
              <a:t>10.14.6.0/24</a:t>
            </a:r>
            <a:endParaRPr lang="en-US" sz="900" dirty="0"/>
          </a:p>
        </p:txBody>
      </p:sp>
      <p:sp>
        <p:nvSpPr>
          <p:cNvPr id="31" name="Shape 29"/>
          <p:cNvSpPr/>
          <p:nvPr/>
        </p:nvSpPr>
        <p:spPr>
          <a:xfrm>
            <a:off x="228600" y="4480560"/>
            <a:ext cx="5303520" cy="365760"/>
          </a:xfrm>
          <a:prstGeom prst="rect">
            <a:avLst/>
          </a:prstGeom>
          <a:solidFill>
            <a:srgbClr val="1B4F72">
              <a:alpha val="60000"/>
            </a:srgbClr>
          </a:solidFill>
          <a:ln w="12700">
            <a:solidFill>
              <a:srgbClr val="1B4F72"/>
            </a:solidFill>
            <a:prstDash val="solid"/>
          </a:ln>
        </p:spPr>
        <p:txBody>
          <a:bodyPr/>
          <a:lstStyle/>
          <a:p>
            <a:endParaRPr lang="en-IN"/>
          </a:p>
        </p:txBody>
      </p:sp>
      <p:sp>
        <p:nvSpPr>
          <p:cNvPr id="32" name="Text 30"/>
          <p:cNvSpPr/>
          <p:nvPr/>
        </p:nvSpPr>
        <p:spPr>
          <a:xfrm>
            <a:off x="228600" y="4480560"/>
            <a:ext cx="5303520" cy="365760"/>
          </a:xfrm>
          <a:prstGeom prst="rect">
            <a:avLst/>
          </a:prstGeom>
          <a:noFill/>
          <a:ln/>
        </p:spPr>
        <p:txBody>
          <a:bodyPr wrap="square" rtlCol="0" anchor="ctr"/>
          <a:lstStyle/>
          <a:p>
            <a:pPr marL="0" indent="0" algn="ctr">
              <a:buNone/>
            </a:pPr>
            <a:r>
              <a:rPr lang="en-US" sz="1000" dirty="0">
                <a:solidFill>
                  <a:srgbClr val="00B4D8"/>
                </a:solidFill>
              </a:rPr>
              <a:t>IT / Corporate Network  —  10.13.20.0/24</a:t>
            </a:r>
            <a:endParaRPr lang="en-US" sz="1000" dirty="0"/>
          </a:p>
        </p:txBody>
      </p:sp>
      <p:sp>
        <p:nvSpPr>
          <p:cNvPr id="33" name="Shape 31"/>
          <p:cNvSpPr/>
          <p:nvPr/>
        </p:nvSpPr>
        <p:spPr>
          <a:xfrm>
            <a:off x="5669280" y="4480560"/>
            <a:ext cx="3200400" cy="365760"/>
          </a:xfrm>
          <a:prstGeom prst="rect">
            <a:avLst/>
          </a:prstGeom>
          <a:solidFill>
            <a:srgbClr val="1B3A2A">
              <a:alpha val="60000"/>
            </a:srgbClr>
          </a:solidFill>
          <a:ln w="12700">
            <a:solidFill>
              <a:srgbClr val="2DC653"/>
            </a:solidFill>
            <a:prstDash val="solid"/>
          </a:ln>
        </p:spPr>
        <p:txBody>
          <a:bodyPr/>
          <a:lstStyle/>
          <a:p>
            <a:endParaRPr lang="en-IN"/>
          </a:p>
        </p:txBody>
      </p:sp>
      <p:sp>
        <p:nvSpPr>
          <p:cNvPr id="34" name="Text 32"/>
          <p:cNvSpPr/>
          <p:nvPr/>
        </p:nvSpPr>
        <p:spPr>
          <a:xfrm>
            <a:off x="5669280" y="4480560"/>
            <a:ext cx="3200400" cy="365760"/>
          </a:xfrm>
          <a:prstGeom prst="rect">
            <a:avLst/>
          </a:prstGeom>
          <a:noFill/>
          <a:ln/>
        </p:spPr>
        <p:txBody>
          <a:bodyPr wrap="square" rtlCol="0" anchor="ctr"/>
          <a:lstStyle/>
          <a:p>
            <a:pPr marL="0" indent="0" algn="ctr">
              <a:buNone/>
            </a:pPr>
            <a:r>
              <a:rPr lang="en-US" sz="1000" dirty="0">
                <a:solidFill>
                  <a:srgbClr val="2DC653"/>
                </a:solidFill>
              </a:rPr>
              <a:t>OT Field Network  —  10.14.6.0/24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137160"/>
            <a:ext cx="8412480" cy="502920"/>
          </a:xfrm>
          <a:prstGeom prst="rect">
            <a:avLst/>
          </a:prstGeom>
          <a:noFill/>
          <a:ln/>
        </p:spPr>
        <p:txBody>
          <a:bodyPr wrap="square" rtlCol="0" anchor="ctr"/>
          <a:lstStyle/>
          <a:p>
            <a:pPr marL="0" indent="0">
              <a:buNone/>
            </a:pPr>
            <a:r>
              <a:rPr lang="en-US" sz="2600" b="1" dirty="0">
                <a:solidFill>
                  <a:srgbClr val="0D1B2A"/>
                </a:solidFill>
              </a:rPr>
              <a:t>The Detection Pipeline</a:t>
            </a:r>
            <a:endParaRPr lang="en-US" sz="2600" dirty="0"/>
          </a:p>
        </p:txBody>
      </p:sp>
      <p:sp>
        <p:nvSpPr>
          <p:cNvPr id="4" name="Shape 2"/>
          <p:cNvSpPr/>
          <p:nvPr/>
        </p:nvSpPr>
        <p:spPr>
          <a:xfrm>
            <a:off x="365760" y="658368"/>
            <a:ext cx="8412480" cy="27432"/>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228600" y="1005840"/>
            <a:ext cx="1508760" cy="1508760"/>
          </a:xfrm>
          <a:prstGeom prst="rect">
            <a:avLst/>
          </a:prstGeom>
          <a:solidFill>
            <a:srgbClr val="FFFFFF"/>
          </a:solidFill>
          <a:ln w="25400">
            <a:solidFill>
              <a:srgbClr val="E63946"/>
            </a:solidFill>
            <a:prstDash val="solid"/>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731520" y="685800"/>
            <a:ext cx="502920" cy="502920"/>
          </a:xfrm>
          <a:prstGeom prst="ellipse">
            <a:avLst/>
          </a:prstGeom>
          <a:solidFill>
            <a:srgbClr val="E63946"/>
          </a:solidFill>
          <a:ln w="12700">
            <a:solidFill>
              <a:srgbClr val="E63946"/>
            </a:solidFill>
            <a:prstDash val="solid"/>
          </a:ln>
        </p:spPr>
        <p:txBody>
          <a:bodyPr/>
          <a:lstStyle/>
          <a:p>
            <a:endParaRPr lang="en-IN"/>
          </a:p>
        </p:txBody>
      </p:sp>
      <p:sp>
        <p:nvSpPr>
          <p:cNvPr id="7" name="Text 5"/>
          <p:cNvSpPr/>
          <p:nvPr/>
        </p:nvSpPr>
        <p:spPr>
          <a:xfrm>
            <a:off x="731520" y="685800"/>
            <a:ext cx="502920" cy="50292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8" name="Text 6"/>
          <p:cNvSpPr/>
          <p:nvPr/>
        </p:nvSpPr>
        <p:spPr>
          <a:xfrm>
            <a:off x="228600" y="1097280"/>
            <a:ext cx="1508760" cy="411480"/>
          </a:xfrm>
          <a:prstGeom prst="rect">
            <a:avLst/>
          </a:prstGeom>
          <a:noFill/>
          <a:ln/>
        </p:spPr>
        <p:txBody>
          <a:bodyPr wrap="square" rtlCol="0" anchor="ctr"/>
          <a:lstStyle/>
          <a:p>
            <a:pPr marL="0" indent="0" algn="ctr">
              <a:buNone/>
            </a:pPr>
            <a:r>
              <a:rPr lang="en-US" sz="1100" b="1" dirty="0">
                <a:solidFill>
                  <a:srgbClr val="0D1B2A"/>
                </a:solidFill>
              </a:rPr>
              <a:t>Attack Executed</a:t>
            </a:r>
            <a:endParaRPr lang="en-US" sz="1100" dirty="0"/>
          </a:p>
        </p:txBody>
      </p:sp>
      <p:sp>
        <p:nvSpPr>
          <p:cNvPr id="9" name="Text 7"/>
          <p:cNvSpPr/>
          <p:nvPr/>
        </p:nvSpPr>
        <p:spPr>
          <a:xfrm>
            <a:off x="228600" y="1536192"/>
            <a:ext cx="1508760" cy="822960"/>
          </a:xfrm>
          <a:prstGeom prst="rect">
            <a:avLst/>
          </a:prstGeom>
          <a:noFill/>
          <a:ln/>
        </p:spPr>
        <p:txBody>
          <a:bodyPr wrap="square" rtlCol="0" anchor="ctr"/>
          <a:lstStyle/>
          <a:p>
            <a:pPr marL="0" indent="0" algn="ctr">
              <a:buNone/>
            </a:pPr>
            <a:r>
              <a:rPr lang="en-US" sz="950" dirty="0">
                <a:solidFill>
                  <a:srgbClr val="475569"/>
                </a:solidFill>
              </a:rPr>
              <a:t>mbpoll sends Modbus TCP</a:t>
            </a:r>
            <a:endParaRPr lang="en-US" sz="950" dirty="0"/>
          </a:p>
          <a:p>
            <a:pPr marL="0" indent="0" algn="ctr">
              <a:buNone/>
            </a:pPr>
            <a:r>
              <a:rPr lang="en-US" sz="950" dirty="0">
                <a:solidFill>
                  <a:srgbClr val="475569"/>
                </a:solidFill>
              </a:rPr>
              <a:t>to PLC port 1502</a:t>
            </a:r>
            <a:endParaRPr lang="en-US" sz="950" dirty="0"/>
          </a:p>
        </p:txBody>
      </p:sp>
      <p:sp>
        <p:nvSpPr>
          <p:cNvPr id="10" name="Shape 8"/>
          <p:cNvSpPr/>
          <p:nvPr/>
        </p:nvSpPr>
        <p:spPr>
          <a:xfrm>
            <a:off x="1737360" y="1764792"/>
            <a:ext cx="228600" cy="0"/>
          </a:xfrm>
          <a:prstGeom prst="line">
            <a:avLst/>
          </a:prstGeom>
          <a:noFill/>
          <a:ln w="25400">
            <a:solidFill>
              <a:srgbClr val="0D1B2A"/>
            </a:solidFill>
            <a:prstDash val="solid"/>
          </a:ln>
        </p:spPr>
        <p:txBody>
          <a:bodyPr/>
          <a:lstStyle/>
          <a:p>
            <a:endParaRPr lang="en-IN"/>
          </a:p>
        </p:txBody>
      </p:sp>
      <p:sp>
        <p:nvSpPr>
          <p:cNvPr id="11" name="Text 9"/>
          <p:cNvSpPr/>
          <p:nvPr/>
        </p:nvSpPr>
        <p:spPr>
          <a:xfrm>
            <a:off x="1801368" y="1627632"/>
            <a:ext cx="182880" cy="274320"/>
          </a:xfrm>
          <a:prstGeom prst="rect">
            <a:avLst/>
          </a:prstGeom>
          <a:noFill/>
          <a:ln/>
        </p:spPr>
        <p:txBody>
          <a:bodyPr wrap="square" rtlCol="0" anchor="ctr"/>
          <a:lstStyle/>
          <a:p>
            <a:pPr marL="0" indent="0">
              <a:buNone/>
            </a:pPr>
            <a:r>
              <a:rPr lang="en-US" sz="1400" b="1" dirty="0">
                <a:solidFill>
                  <a:srgbClr val="0D1B2A"/>
                </a:solidFill>
              </a:rPr>
              <a:t>→</a:t>
            </a:r>
            <a:endParaRPr lang="en-US" sz="1400" dirty="0"/>
          </a:p>
        </p:txBody>
      </p:sp>
      <p:sp>
        <p:nvSpPr>
          <p:cNvPr id="12" name="Shape 10"/>
          <p:cNvSpPr/>
          <p:nvPr/>
        </p:nvSpPr>
        <p:spPr>
          <a:xfrm>
            <a:off x="1965960" y="1005840"/>
            <a:ext cx="1508760" cy="1508760"/>
          </a:xfrm>
          <a:prstGeom prst="rect">
            <a:avLst/>
          </a:prstGeom>
          <a:solidFill>
            <a:srgbClr val="FFFFFF"/>
          </a:solidFill>
          <a:ln w="25400">
            <a:solidFill>
              <a:srgbClr val="F4A261"/>
            </a:solidFill>
            <a:prstDash val="solid"/>
          </a:ln>
          <a:effectLst>
            <a:outerShdw blurRad="101600" dist="38100" dir="8100000" algn="bl" rotWithShape="0">
              <a:srgbClr val="000000">
                <a:alpha val="18000"/>
              </a:srgbClr>
            </a:outerShdw>
          </a:effectLst>
        </p:spPr>
        <p:txBody>
          <a:bodyPr/>
          <a:lstStyle/>
          <a:p>
            <a:endParaRPr lang="en-IN"/>
          </a:p>
        </p:txBody>
      </p:sp>
      <p:sp>
        <p:nvSpPr>
          <p:cNvPr id="13" name="Shape 11"/>
          <p:cNvSpPr/>
          <p:nvPr/>
        </p:nvSpPr>
        <p:spPr>
          <a:xfrm>
            <a:off x="2468880" y="685800"/>
            <a:ext cx="502920" cy="502920"/>
          </a:xfrm>
          <a:prstGeom prst="ellipse">
            <a:avLst/>
          </a:prstGeom>
          <a:solidFill>
            <a:srgbClr val="F4A261"/>
          </a:solidFill>
          <a:ln w="12700">
            <a:solidFill>
              <a:srgbClr val="F4A261"/>
            </a:solidFill>
            <a:prstDash val="solid"/>
          </a:ln>
        </p:spPr>
        <p:txBody>
          <a:bodyPr/>
          <a:lstStyle/>
          <a:p>
            <a:endParaRPr lang="en-IN"/>
          </a:p>
        </p:txBody>
      </p:sp>
      <p:sp>
        <p:nvSpPr>
          <p:cNvPr id="14" name="Text 12"/>
          <p:cNvSpPr/>
          <p:nvPr/>
        </p:nvSpPr>
        <p:spPr>
          <a:xfrm>
            <a:off x="2468880" y="685800"/>
            <a:ext cx="502920" cy="50292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5" name="Text 13"/>
          <p:cNvSpPr/>
          <p:nvPr/>
        </p:nvSpPr>
        <p:spPr>
          <a:xfrm>
            <a:off x="1965960" y="1097280"/>
            <a:ext cx="1508760" cy="411480"/>
          </a:xfrm>
          <a:prstGeom prst="rect">
            <a:avLst/>
          </a:prstGeom>
          <a:noFill/>
          <a:ln/>
        </p:spPr>
        <p:txBody>
          <a:bodyPr wrap="square" rtlCol="0" anchor="ctr"/>
          <a:lstStyle/>
          <a:p>
            <a:pPr marL="0" indent="0" algn="ctr">
              <a:buNone/>
            </a:pPr>
            <a:r>
              <a:rPr lang="en-US" sz="1100" b="1" dirty="0">
                <a:solidFill>
                  <a:srgbClr val="0D1B2A"/>
                </a:solidFill>
              </a:rPr>
              <a:t>Snort Detects</a:t>
            </a:r>
            <a:endParaRPr lang="en-US" sz="1100" dirty="0"/>
          </a:p>
        </p:txBody>
      </p:sp>
      <p:sp>
        <p:nvSpPr>
          <p:cNvPr id="16" name="Text 14"/>
          <p:cNvSpPr/>
          <p:nvPr/>
        </p:nvSpPr>
        <p:spPr>
          <a:xfrm>
            <a:off x="1965960" y="1536192"/>
            <a:ext cx="1508760" cy="822960"/>
          </a:xfrm>
          <a:prstGeom prst="rect">
            <a:avLst/>
          </a:prstGeom>
          <a:noFill/>
          <a:ln/>
        </p:spPr>
        <p:txBody>
          <a:bodyPr wrap="square" rtlCol="0" anchor="ctr"/>
          <a:lstStyle/>
          <a:p>
            <a:pPr marL="0" indent="0" algn="ctr">
              <a:buNone/>
            </a:pPr>
            <a:r>
              <a:rPr lang="en-US" sz="950" dirty="0">
                <a:solidFill>
                  <a:srgbClr val="475569"/>
                </a:solidFill>
              </a:rPr>
              <a:t>Custom rules match</a:t>
            </a:r>
            <a:endParaRPr lang="en-US" sz="950" dirty="0"/>
          </a:p>
          <a:p>
            <a:pPr marL="0" indent="0" algn="ctr">
              <a:buNone/>
            </a:pPr>
            <a:r>
              <a:rPr lang="en-US" sz="950" dirty="0">
                <a:solidFill>
                  <a:srgbClr val="475569"/>
                </a:solidFill>
              </a:rPr>
              <a:t>FC03/FC06/FC16 payload</a:t>
            </a:r>
            <a:endParaRPr lang="en-US" sz="950" dirty="0"/>
          </a:p>
        </p:txBody>
      </p:sp>
      <p:sp>
        <p:nvSpPr>
          <p:cNvPr id="17" name="Shape 15"/>
          <p:cNvSpPr/>
          <p:nvPr/>
        </p:nvSpPr>
        <p:spPr>
          <a:xfrm>
            <a:off x="3474720" y="1764792"/>
            <a:ext cx="228600" cy="0"/>
          </a:xfrm>
          <a:prstGeom prst="line">
            <a:avLst/>
          </a:prstGeom>
          <a:noFill/>
          <a:ln w="25400">
            <a:solidFill>
              <a:srgbClr val="0D1B2A"/>
            </a:solidFill>
            <a:prstDash val="solid"/>
          </a:ln>
        </p:spPr>
        <p:txBody>
          <a:bodyPr/>
          <a:lstStyle/>
          <a:p>
            <a:endParaRPr lang="en-IN"/>
          </a:p>
        </p:txBody>
      </p:sp>
      <p:sp>
        <p:nvSpPr>
          <p:cNvPr id="18" name="Text 16"/>
          <p:cNvSpPr/>
          <p:nvPr/>
        </p:nvSpPr>
        <p:spPr>
          <a:xfrm>
            <a:off x="3538728" y="1627632"/>
            <a:ext cx="182880" cy="274320"/>
          </a:xfrm>
          <a:prstGeom prst="rect">
            <a:avLst/>
          </a:prstGeom>
          <a:noFill/>
          <a:ln/>
        </p:spPr>
        <p:txBody>
          <a:bodyPr wrap="square" rtlCol="0" anchor="ctr"/>
          <a:lstStyle/>
          <a:p>
            <a:pPr marL="0" indent="0">
              <a:buNone/>
            </a:pPr>
            <a:r>
              <a:rPr lang="en-US" sz="1400" b="1" dirty="0">
                <a:solidFill>
                  <a:srgbClr val="0D1B2A"/>
                </a:solidFill>
              </a:rPr>
              <a:t>→</a:t>
            </a:r>
            <a:endParaRPr lang="en-US" sz="1400" dirty="0"/>
          </a:p>
        </p:txBody>
      </p:sp>
      <p:sp>
        <p:nvSpPr>
          <p:cNvPr id="19" name="Shape 17"/>
          <p:cNvSpPr/>
          <p:nvPr/>
        </p:nvSpPr>
        <p:spPr>
          <a:xfrm>
            <a:off x="3703320" y="1005840"/>
            <a:ext cx="1508760" cy="1508760"/>
          </a:xfrm>
          <a:prstGeom prst="rect">
            <a:avLst/>
          </a:prstGeom>
          <a:solidFill>
            <a:srgbClr val="FFFFFF"/>
          </a:solidFill>
          <a:ln w="25400">
            <a:solidFill>
              <a:srgbClr val="1B4F72"/>
            </a:solidFill>
            <a:prstDash val="solid"/>
          </a:ln>
          <a:effectLst>
            <a:outerShdw blurRad="101600" dist="38100" dir="8100000" algn="bl" rotWithShape="0">
              <a:srgbClr val="000000">
                <a:alpha val="18000"/>
              </a:srgbClr>
            </a:outerShdw>
          </a:effectLst>
        </p:spPr>
        <p:txBody>
          <a:bodyPr/>
          <a:lstStyle/>
          <a:p>
            <a:endParaRPr lang="en-IN"/>
          </a:p>
        </p:txBody>
      </p:sp>
      <p:sp>
        <p:nvSpPr>
          <p:cNvPr id="20" name="Shape 18"/>
          <p:cNvSpPr/>
          <p:nvPr/>
        </p:nvSpPr>
        <p:spPr>
          <a:xfrm>
            <a:off x="4206240" y="685800"/>
            <a:ext cx="502920" cy="502920"/>
          </a:xfrm>
          <a:prstGeom prst="ellipse">
            <a:avLst/>
          </a:prstGeom>
          <a:solidFill>
            <a:srgbClr val="1B4F72"/>
          </a:solidFill>
          <a:ln w="12700">
            <a:solidFill>
              <a:srgbClr val="1B4F72"/>
            </a:solidFill>
            <a:prstDash val="solid"/>
          </a:ln>
        </p:spPr>
        <p:txBody>
          <a:bodyPr/>
          <a:lstStyle/>
          <a:p>
            <a:endParaRPr lang="en-IN"/>
          </a:p>
        </p:txBody>
      </p:sp>
      <p:sp>
        <p:nvSpPr>
          <p:cNvPr id="21" name="Text 19"/>
          <p:cNvSpPr/>
          <p:nvPr/>
        </p:nvSpPr>
        <p:spPr>
          <a:xfrm>
            <a:off x="4206240" y="685800"/>
            <a:ext cx="502920" cy="50292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2" name="Text 20"/>
          <p:cNvSpPr/>
          <p:nvPr/>
        </p:nvSpPr>
        <p:spPr>
          <a:xfrm>
            <a:off x="3703320" y="1097280"/>
            <a:ext cx="1508760" cy="411480"/>
          </a:xfrm>
          <a:prstGeom prst="rect">
            <a:avLst/>
          </a:prstGeom>
          <a:noFill/>
          <a:ln/>
        </p:spPr>
        <p:txBody>
          <a:bodyPr wrap="square" rtlCol="0" anchor="ctr"/>
          <a:lstStyle/>
          <a:p>
            <a:pPr marL="0" indent="0" algn="ctr">
              <a:buNone/>
            </a:pPr>
            <a:r>
              <a:rPr lang="en-US" sz="1100" b="1" dirty="0">
                <a:solidFill>
                  <a:srgbClr val="0D1B2A"/>
                </a:solidFill>
              </a:rPr>
              <a:t>Syslog Forwarded</a:t>
            </a:r>
            <a:endParaRPr lang="en-US" sz="1100" dirty="0"/>
          </a:p>
        </p:txBody>
      </p:sp>
      <p:sp>
        <p:nvSpPr>
          <p:cNvPr id="23" name="Text 21"/>
          <p:cNvSpPr/>
          <p:nvPr/>
        </p:nvSpPr>
        <p:spPr>
          <a:xfrm>
            <a:off x="3703320" y="1536192"/>
            <a:ext cx="1508760" cy="822960"/>
          </a:xfrm>
          <a:prstGeom prst="rect">
            <a:avLst/>
          </a:prstGeom>
          <a:noFill/>
          <a:ln/>
        </p:spPr>
        <p:txBody>
          <a:bodyPr wrap="square" rtlCol="0" anchor="ctr"/>
          <a:lstStyle/>
          <a:p>
            <a:pPr marL="0" indent="0" algn="ctr">
              <a:buNone/>
            </a:pPr>
            <a:r>
              <a:rPr lang="en-US" sz="950" dirty="0">
                <a:solidFill>
                  <a:srgbClr val="475569"/>
                </a:solidFill>
              </a:rPr>
              <a:t>pfSense sends alert</a:t>
            </a:r>
            <a:endParaRPr lang="en-US" sz="950" dirty="0"/>
          </a:p>
          <a:p>
            <a:pPr marL="0" indent="0" algn="ctr">
              <a:buNone/>
            </a:pPr>
            <a:r>
              <a:rPr lang="en-US" sz="950" dirty="0">
                <a:solidFill>
                  <a:srgbClr val="475569"/>
                </a:solidFill>
              </a:rPr>
              <a:t>to Wazuh UDP 514</a:t>
            </a:r>
            <a:endParaRPr lang="en-US" sz="950" dirty="0"/>
          </a:p>
        </p:txBody>
      </p:sp>
      <p:sp>
        <p:nvSpPr>
          <p:cNvPr id="24" name="Shape 22"/>
          <p:cNvSpPr/>
          <p:nvPr/>
        </p:nvSpPr>
        <p:spPr>
          <a:xfrm>
            <a:off x="5212080" y="1764792"/>
            <a:ext cx="228600" cy="0"/>
          </a:xfrm>
          <a:prstGeom prst="line">
            <a:avLst/>
          </a:prstGeom>
          <a:noFill/>
          <a:ln w="25400">
            <a:solidFill>
              <a:srgbClr val="0D1B2A"/>
            </a:solidFill>
            <a:prstDash val="solid"/>
          </a:ln>
        </p:spPr>
        <p:txBody>
          <a:bodyPr/>
          <a:lstStyle/>
          <a:p>
            <a:endParaRPr lang="en-IN"/>
          </a:p>
        </p:txBody>
      </p:sp>
      <p:sp>
        <p:nvSpPr>
          <p:cNvPr id="25" name="Text 23"/>
          <p:cNvSpPr/>
          <p:nvPr/>
        </p:nvSpPr>
        <p:spPr>
          <a:xfrm>
            <a:off x="5276088" y="1627632"/>
            <a:ext cx="182880" cy="274320"/>
          </a:xfrm>
          <a:prstGeom prst="rect">
            <a:avLst/>
          </a:prstGeom>
          <a:noFill/>
          <a:ln/>
        </p:spPr>
        <p:txBody>
          <a:bodyPr wrap="square" rtlCol="0" anchor="ctr"/>
          <a:lstStyle/>
          <a:p>
            <a:pPr marL="0" indent="0">
              <a:buNone/>
            </a:pPr>
            <a:r>
              <a:rPr lang="en-US" sz="1400" b="1" dirty="0">
                <a:solidFill>
                  <a:srgbClr val="0D1B2A"/>
                </a:solidFill>
              </a:rPr>
              <a:t>→</a:t>
            </a:r>
            <a:endParaRPr lang="en-US" sz="1400" dirty="0"/>
          </a:p>
        </p:txBody>
      </p:sp>
      <p:sp>
        <p:nvSpPr>
          <p:cNvPr id="26" name="Shape 24"/>
          <p:cNvSpPr/>
          <p:nvPr/>
        </p:nvSpPr>
        <p:spPr>
          <a:xfrm>
            <a:off x="5440680" y="1005840"/>
            <a:ext cx="1508760" cy="1508760"/>
          </a:xfrm>
          <a:prstGeom prst="rect">
            <a:avLst/>
          </a:prstGeom>
          <a:solidFill>
            <a:srgbClr val="FFFFFF"/>
          </a:solidFill>
          <a:ln w="25400">
            <a:solidFill>
              <a:srgbClr val="00B4D8"/>
            </a:solidFill>
            <a:prstDash val="solid"/>
          </a:ln>
          <a:effectLst>
            <a:outerShdw blurRad="101600" dist="38100" dir="8100000" algn="bl" rotWithShape="0">
              <a:srgbClr val="000000">
                <a:alpha val="18000"/>
              </a:srgbClr>
            </a:outerShdw>
          </a:effectLst>
        </p:spPr>
        <p:txBody>
          <a:bodyPr/>
          <a:lstStyle/>
          <a:p>
            <a:endParaRPr lang="en-IN"/>
          </a:p>
        </p:txBody>
      </p:sp>
      <p:sp>
        <p:nvSpPr>
          <p:cNvPr id="27" name="Shape 25"/>
          <p:cNvSpPr/>
          <p:nvPr/>
        </p:nvSpPr>
        <p:spPr>
          <a:xfrm>
            <a:off x="5943600" y="685800"/>
            <a:ext cx="502920" cy="502920"/>
          </a:xfrm>
          <a:prstGeom prst="ellipse">
            <a:avLst/>
          </a:prstGeom>
          <a:solidFill>
            <a:srgbClr val="00B4D8"/>
          </a:solidFill>
          <a:ln w="12700">
            <a:solidFill>
              <a:srgbClr val="00B4D8"/>
            </a:solidFill>
            <a:prstDash val="solid"/>
          </a:ln>
        </p:spPr>
        <p:txBody>
          <a:bodyPr/>
          <a:lstStyle/>
          <a:p>
            <a:endParaRPr lang="en-IN"/>
          </a:p>
        </p:txBody>
      </p:sp>
      <p:sp>
        <p:nvSpPr>
          <p:cNvPr id="28" name="Text 26"/>
          <p:cNvSpPr/>
          <p:nvPr/>
        </p:nvSpPr>
        <p:spPr>
          <a:xfrm>
            <a:off x="5943600" y="685800"/>
            <a:ext cx="502920" cy="50292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9" name="Text 27"/>
          <p:cNvSpPr/>
          <p:nvPr/>
        </p:nvSpPr>
        <p:spPr>
          <a:xfrm>
            <a:off x="5440680" y="1097280"/>
            <a:ext cx="1508760" cy="411480"/>
          </a:xfrm>
          <a:prstGeom prst="rect">
            <a:avLst/>
          </a:prstGeom>
          <a:noFill/>
          <a:ln/>
        </p:spPr>
        <p:txBody>
          <a:bodyPr wrap="square" rtlCol="0" anchor="ctr"/>
          <a:lstStyle/>
          <a:p>
            <a:pPr marL="0" indent="0" algn="ctr">
              <a:buNone/>
            </a:pPr>
            <a:r>
              <a:rPr lang="en-US" sz="1100" b="1" dirty="0">
                <a:solidFill>
                  <a:srgbClr val="0D1B2A"/>
                </a:solidFill>
              </a:rPr>
              <a:t>Wazuh Decodes</a:t>
            </a:r>
            <a:endParaRPr lang="en-US" sz="1100" dirty="0"/>
          </a:p>
        </p:txBody>
      </p:sp>
      <p:sp>
        <p:nvSpPr>
          <p:cNvPr id="30" name="Text 28"/>
          <p:cNvSpPr/>
          <p:nvPr/>
        </p:nvSpPr>
        <p:spPr>
          <a:xfrm>
            <a:off x="5440680" y="1536192"/>
            <a:ext cx="1508760" cy="822960"/>
          </a:xfrm>
          <a:prstGeom prst="rect">
            <a:avLst/>
          </a:prstGeom>
          <a:noFill/>
          <a:ln/>
        </p:spPr>
        <p:txBody>
          <a:bodyPr wrap="square" rtlCol="0" anchor="ctr"/>
          <a:lstStyle/>
          <a:p>
            <a:pPr marL="0" indent="0" algn="ctr">
              <a:buNone/>
            </a:pPr>
            <a:r>
              <a:rPr lang="en-US" sz="950" dirty="0">
                <a:solidFill>
                  <a:srgbClr val="475569"/>
                </a:solidFill>
              </a:rPr>
              <a:t>snort decoder matches</a:t>
            </a:r>
            <a:endParaRPr lang="en-US" sz="950" dirty="0"/>
          </a:p>
          <a:p>
            <a:pPr marL="0" indent="0" algn="ctr">
              <a:buNone/>
            </a:pPr>
            <a:r>
              <a:rPr lang="en-US" sz="950" dirty="0">
                <a:solidFill>
                  <a:srgbClr val="475569"/>
                </a:solidFill>
              </a:rPr>
              <a:t>prematch snort[</a:t>
            </a:r>
            <a:endParaRPr lang="en-US" sz="950" dirty="0"/>
          </a:p>
        </p:txBody>
      </p:sp>
      <p:sp>
        <p:nvSpPr>
          <p:cNvPr id="31" name="Shape 29"/>
          <p:cNvSpPr/>
          <p:nvPr/>
        </p:nvSpPr>
        <p:spPr>
          <a:xfrm>
            <a:off x="6949440" y="1764792"/>
            <a:ext cx="228600" cy="0"/>
          </a:xfrm>
          <a:prstGeom prst="line">
            <a:avLst/>
          </a:prstGeom>
          <a:noFill/>
          <a:ln w="25400">
            <a:solidFill>
              <a:srgbClr val="0D1B2A"/>
            </a:solidFill>
            <a:prstDash val="solid"/>
          </a:ln>
        </p:spPr>
        <p:txBody>
          <a:bodyPr/>
          <a:lstStyle/>
          <a:p>
            <a:endParaRPr lang="en-IN"/>
          </a:p>
        </p:txBody>
      </p:sp>
      <p:sp>
        <p:nvSpPr>
          <p:cNvPr id="32" name="Text 30"/>
          <p:cNvSpPr/>
          <p:nvPr/>
        </p:nvSpPr>
        <p:spPr>
          <a:xfrm>
            <a:off x="7013448" y="1627632"/>
            <a:ext cx="182880" cy="274320"/>
          </a:xfrm>
          <a:prstGeom prst="rect">
            <a:avLst/>
          </a:prstGeom>
          <a:noFill/>
          <a:ln/>
        </p:spPr>
        <p:txBody>
          <a:bodyPr wrap="square" rtlCol="0" anchor="ctr"/>
          <a:lstStyle/>
          <a:p>
            <a:pPr marL="0" indent="0">
              <a:buNone/>
            </a:pPr>
            <a:r>
              <a:rPr lang="en-US" sz="1400" b="1" dirty="0">
                <a:solidFill>
                  <a:srgbClr val="0D1B2A"/>
                </a:solidFill>
              </a:rPr>
              <a:t>→</a:t>
            </a:r>
            <a:endParaRPr lang="en-US" sz="1400" dirty="0"/>
          </a:p>
        </p:txBody>
      </p:sp>
      <p:sp>
        <p:nvSpPr>
          <p:cNvPr id="33" name="Shape 31"/>
          <p:cNvSpPr/>
          <p:nvPr/>
        </p:nvSpPr>
        <p:spPr>
          <a:xfrm>
            <a:off x="7178040" y="1005840"/>
            <a:ext cx="1508760" cy="1508760"/>
          </a:xfrm>
          <a:prstGeom prst="rect">
            <a:avLst/>
          </a:prstGeom>
          <a:solidFill>
            <a:srgbClr val="FFFFFF"/>
          </a:solidFill>
          <a:ln w="25400">
            <a:solidFill>
              <a:srgbClr val="2DC653"/>
            </a:solidFill>
            <a:prstDash val="solid"/>
          </a:ln>
          <a:effectLst>
            <a:outerShdw blurRad="101600" dist="38100" dir="8100000" algn="bl" rotWithShape="0">
              <a:srgbClr val="000000">
                <a:alpha val="18000"/>
              </a:srgbClr>
            </a:outerShdw>
          </a:effectLst>
        </p:spPr>
        <p:txBody>
          <a:bodyPr/>
          <a:lstStyle/>
          <a:p>
            <a:endParaRPr lang="en-IN"/>
          </a:p>
        </p:txBody>
      </p:sp>
      <p:sp>
        <p:nvSpPr>
          <p:cNvPr id="34" name="Shape 32"/>
          <p:cNvSpPr/>
          <p:nvPr/>
        </p:nvSpPr>
        <p:spPr>
          <a:xfrm>
            <a:off x="7680960" y="685800"/>
            <a:ext cx="502920" cy="502920"/>
          </a:xfrm>
          <a:prstGeom prst="ellipse">
            <a:avLst/>
          </a:prstGeom>
          <a:solidFill>
            <a:srgbClr val="2DC653"/>
          </a:solidFill>
          <a:ln w="12700">
            <a:solidFill>
              <a:srgbClr val="2DC653"/>
            </a:solidFill>
            <a:prstDash val="solid"/>
          </a:ln>
        </p:spPr>
        <p:txBody>
          <a:bodyPr/>
          <a:lstStyle/>
          <a:p>
            <a:endParaRPr lang="en-IN"/>
          </a:p>
        </p:txBody>
      </p:sp>
      <p:sp>
        <p:nvSpPr>
          <p:cNvPr id="35" name="Text 33"/>
          <p:cNvSpPr/>
          <p:nvPr/>
        </p:nvSpPr>
        <p:spPr>
          <a:xfrm>
            <a:off x="7680960" y="685800"/>
            <a:ext cx="502920" cy="50292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36" name="Text 34"/>
          <p:cNvSpPr/>
          <p:nvPr/>
        </p:nvSpPr>
        <p:spPr>
          <a:xfrm>
            <a:off x="7178040" y="1097280"/>
            <a:ext cx="1508760" cy="411480"/>
          </a:xfrm>
          <a:prstGeom prst="rect">
            <a:avLst/>
          </a:prstGeom>
          <a:noFill/>
          <a:ln/>
        </p:spPr>
        <p:txBody>
          <a:bodyPr wrap="square" rtlCol="0" anchor="ctr"/>
          <a:lstStyle/>
          <a:p>
            <a:pPr marL="0" indent="0" algn="ctr">
              <a:buNone/>
            </a:pPr>
            <a:r>
              <a:rPr lang="en-US" sz="1100" b="1" dirty="0">
                <a:solidFill>
                  <a:srgbClr val="0D1B2A"/>
                </a:solidFill>
              </a:rPr>
              <a:t>Rule Fires</a:t>
            </a:r>
            <a:endParaRPr lang="en-US" sz="1100" dirty="0"/>
          </a:p>
        </p:txBody>
      </p:sp>
      <p:sp>
        <p:nvSpPr>
          <p:cNvPr id="37" name="Text 35"/>
          <p:cNvSpPr/>
          <p:nvPr/>
        </p:nvSpPr>
        <p:spPr>
          <a:xfrm>
            <a:off x="7178040" y="1536192"/>
            <a:ext cx="1508760" cy="822960"/>
          </a:xfrm>
          <a:prstGeom prst="rect">
            <a:avLst/>
          </a:prstGeom>
          <a:noFill/>
          <a:ln/>
        </p:spPr>
        <p:txBody>
          <a:bodyPr wrap="square" rtlCol="0" anchor="ctr"/>
          <a:lstStyle/>
          <a:p>
            <a:pPr marL="0" indent="0" algn="ctr">
              <a:buNone/>
            </a:pPr>
            <a:r>
              <a:rPr lang="en-US" sz="950" dirty="0">
                <a:solidFill>
                  <a:srgbClr val="475569"/>
                </a:solidFill>
              </a:rPr>
              <a:t>100501/100502/100510</a:t>
            </a:r>
            <a:endParaRPr lang="en-US" sz="950" dirty="0"/>
          </a:p>
          <a:p>
            <a:pPr marL="0" indent="0" algn="ctr">
              <a:buNone/>
            </a:pPr>
            <a:r>
              <a:rPr lang="en-US" sz="950" dirty="0">
                <a:solidFill>
                  <a:srgbClr val="475569"/>
                </a:solidFill>
              </a:rPr>
              <a:t>/100530 alert generated</a:t>
            </a:r>
            <a:endParaRPr lang="en-US" sz="950" dirty="0"/>
          </a:p>
        </p:txBody>
      </p:sp>
      <p:sp>
        <p:nvSpPr>
          <p:cNvPr id="38" name="Shape 36"/>
          <p:cNvSpPr/>
          <p:nvPr/>
        </p:nvSpPr>
        <p:spPr>
          <a:xfrm>
            <a:off x="365760" y="2834640"/>
            <a:ext cx="8412480" cy="1920240"/>
          </a:xfrm>
          <a:prstGeom prst="rect">
            <a:avLst/>
          </a:prstGeom>
          <a:solidFill>
            <a:srgbClr val="0D1B2A"/>
          </a:solidFill>
          <a:ln w="12700">
            <a:solidFill>
              <a:srgbClr val="1B4F72"/>
            </a:solidFill>
            <a:prstDash val="solid"/>
          </a:ln>
        </p:spPr>
        <p:txBody>
          <a:bodyPr/>
          <a:lstStyle/>
          <a:p>
            <a:endParaRPr lang="en-IN"/>
          </a:p>
        </p:txBody>
      </p:sp>
      <p:sp>
        <p:nvSpPr>
          <p:cNvPr id="39" name="Text 37"/>
          <p:cNvSpPr/>
          <p:nvPr/>
        </p:nvSpPr>
        <p:spPr>
          <a:xfrm>
            <a:off x="548640" y="2926080"/>
            <a:ext cx="8046720" cy="1645920"/>
          </a:xfrm>
          <a:prstGeom prst="rect">
            <a:avLst/>
          </a:prstGeom>
          <a:noFill/>
          <a:ln/>
        </p:spPr>
        <p:txBody>
          <a:bodyPr wrap="square" rtlCol="0" anchor="ctr"/>
          <a:lstStyle/>
          <a:p>
            <a:pPr marL="0" indent="0">
              <a:buNone/>
            </a:pPr>
            <a:r>
              <a:rPr lang="en-US" sz="1100" dirty="0">
                <a:solidFill>
                  <a:srgbClr val="8FA3B1"/>
                </a:solidFill>
                <a:latin typeface="Courier New" pitchFamily="34" charset="0"/>
                <a:ea typeface="Courier New" pitchFamily="34" charset="-122"/>
                <a:cs typeface="Courier New" pitchFamily="34" charset="-120"/>
              </a:rPr>
              <a:t># Full Pipeline Flow
</a:t>
            </a:r>
            <a:r>
              <a:rPr lang="en-US" sz="1100" b="1" dirty="0">
                <a:solidFill>
                  <a:srgbClr val="F4A261"/>
                </a:solidFill>
                <a:latin typeface="Courier New" pitchFamily="34" charset="0"/>
                <a:ea typeface="Courier New" pitchFamily="34" charset="-122"/>
                <a:cs typeface="Courier New" pitchFamily="34" charset="-120"/>
              </a:rPr>
              <a:t>mbpoll</a:t>
            </a:r>
            <a:r>
              <a:rPr lang="en-US" sz="1100" dirty="0">
                <a:solidFill>
                  <a:srgbClr val="FFFFFF"/>
                </a:solidFill>
                <a:latin typeface="Courier New" pitchFamily="34" charset="0"/>
                <a:ea typeface="Courier New" pitchFamily="34" charset="-122"/>
                <a:cs typeface="Courier New" pitchFamily="34" charset="-120"/>
              </a:rPr>
              <a:t> -m tcp -p 1502 10.14.6.10  →  </a:t>
            </a:r>
            <a:r>
              <a:rPr lang="en-US" sz="1100" b="1" dirty="0">
                <a:solidFill>
                  <a:srgbClr val="E63946"/>
                </a:solidFill>
                <a:latin typeface="Courier New" pitchFamily="34" charset="0"/>
                <a:ea typeface="Courier New" pitchFamily="34" charset="-122"/>
                <a:cs typeface="Courier New" pitchFamily="34" charset="-120"/>
              </a:rPr>
              <a:t>Snort Alert</a:t>
            </a:r>
            <a:r>
              <a:rPr lang="en-US" sz="1100" dirty="0">
                <a:solidFill>
                  <a:srgbClr val="FFFFFF"/>
                </a:solidFill>
                <a:latin typeface="Courier New" pitchFamily="34" charset="0"/>
                <a:ea typeface="Courier New" pitchFamily="34" charset="-122"/>
                <a:cs typeface="Courier New" pitchFamily="34" charset="-120"/>
              </a:rPr>
              <a:t>  →  </a:t>
            </a:r>
            <a:r>
              <a:rPr lang="en-US" sz="1100" dirty="0">
                <a:solidFill>
                  <a:srgbClr val="F4A261"/>
                </a:solidFill>
                <a:latin typeface="Courier New" pitchFamily="34" charset="0"/>
                <a:ea typeface="Courier New" pitchFamily="34" charset="-122"/>
                <a:cs typeface="Courier New" pitchFamily="34" charset="-120"/>
              </a:rPr>
              <a:t>pfSense Syslog UDP:514</a:t>
            </a:r>
            <a:r>
              <a:rPr lang="en-US" sz="1100" dirty="0">
                <a:solidFill>
                  <a:srgbClr val="000000"/>
                </a:solidFill>
                <a:latin typeface="Courier New" pitchFamily="34" charset="0"/>
                <a:ea typeface="Courier New" pitchFamily="34" charset="-122"/>
                <a:cs typeface="Courier New" pitchFamily="34" charset="-120"/>
              </a:rPr>
              <a:t>
</a:t>
            </a:r>
            <a:endParaRPr lang="en-US" sz="1100" dirty="0"/>
          </a:p>
          <a:p>
            <a:pPr marL="0" indent="0">
              <a:buNone/>
            </a:pPr>
            <a:r>
              <a:rPr lang="en-US" sz="1100" b="1" dirty="0">
                <a:solidFill>
                  <a:srgbClr val="00B4D8"/>
                </a:solidFill>
                <a:latin typeface="Courier New" pitchFamily="34" charset="0"/>
                <a:ea typeface="Courier New" pitchFamily="34" charset="-122"/>
                <a:cs typeface="Courier New" pitchFamily="34" charset="-120"/>
              </a:rPr>
              <a:t>Wazuh Decoder</a:t>
            </a:r>
            <a:r>
              <a:rPr lang="en-US" sz="1100" dirty="0">
                <a:solidFill>
                  <a:srgbClr val="FFFFFF"/>
                </a:solidFill>
                <a:latin typeface="Courier New" pitchFamily="34" charset="0"/>
                <a:ea typeface="Courier New" pitchFamily="34" charset="-122"/>
                <a:cs typeface="Courier New" pitchFamily="34" charset="-120"/>
              </a:rPr>
              <a:t> (snort[)  →  </a:t>
            </a:r>
            <a:r>
              <a:rPr lang="en-US" sz="1100" b="1" dirty="0">
                <a:solidFill>
                  <a:srgbClr val="2DC653"/>
                </a:solidFill>
                <a:latin typeface="Courier New" pitchFamily="34" charset="0"/>
                <a:ea typeface="Courier New" pitchFamily="34" charset="-122"/>
                <a:cs typeface="Courier New" pitchFamily="34" charset="-120"/>
              </a:rPr>
              <a:t>Rule Match</a:t>
            </a:r>
            <a:r>
              <a:rPr lang="en-US" sz="1100" dirty="0">
                <a:solidFill>
                  <a:srgbClr val="FFFFFF"/>
                </a:solidFill>
                <a:latin typeface="Courier New" pitchFamily="34" charset="0"/>
                <a:ea typeface="Courier New" pitchFamily="34" charset="-122"/>
                <a:cs typeface="Courier New" pitchFamily="34" charset="-120"/>
              </a:rPr>
              <a:t>  →  </a:t>
            </a:r>
            <a:r>
              <a:rPr lang="en-US" sz="1100" dirty="0">
                <a:solidFill>
                  <a:srgbClr val="00B4D8"/>
                </a:solidFill>
                <a:latin typeface="Courier New" pitchFamily="34" charset="0"/>
                <a:ea typeface="Courier New" pitchFamily="34" charset="-122"/>
                <a:cs typeface="Courier New" pitchFamily="34" charset="-120"/>
              </a:rPr>
              <a:t>alerts.json</a:t>
            </a:r>
            <a:r>
              <a:rPr lang="en-US" sz="1100" dirty="0">
                <a:solidFill>
                  <a:srgbClr val="8FA3B1"/>
                </a:solidFill>
                <a:latin typeface="Courier New" pitchFamily="34" charset="0"/>
                <a:ea typeface="Courier New" pitchFamily="34" charset="-122"/>
                <a:cs typeface="Courier New" pitchFamily="34" charset="-120"/>
              </a:rPr>
              <a:t> + MITRE ATT&amp;CK for ICS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37160"/>
            <a:ext cx="8412480" cy="502920"/>
          </a:xfrm>
          <a:prstGeom prst="rect">
            <a:avLst/>
          </a:prstGeom>
          <a:noFill/>
          <a:ln/>
        </p:spPr>
        <p:txBody>
          <a:bodyPr wrap="square" rtlCol="0" anchor="ctr"/>
          <a:lstStyle/>
          <a:p>
            <a:pPr marL="0" indent="0">
              <a:buNone/>
            </a:pPr>
            <a:r>
              <a:rPr lang="en-US" sz="2600" b="1" dirty="0">
                <a:solidFill>
                  <a:srgbClr val="FFFFFF"/>
                </a:solidFill>
              </a:rPr>
              <a:t>Four Attack Scenarios</a:t>
            </a:r>
            <a:endParaRPr lang="en-US" sz="2600" dirty="0"/>
          </a:p>
        </p:txBody>
      </p:sp>
      <p:sp>
        <p:nvSpPr>
          <p:cNvPr id="4" name="Shape 2"/>
          <p:cNvSpPr/>
          <p:nvPr/>
        </p:nvSpPr>
        <p:spPr>
          <a:xfrm>
            <a:off x="365760" y="658368"/>
            <a:ext cx="8412480" cy="27432"/>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228600" y="822960"/>
            <a:ext cx="4023360" cy="1783080"/>
          </a:xfrm>
          <a:prstGeom prst="rect">
            <a:avLst/>
          </a:prstGeom>
          <a:solidFill>
            <a:srgbClr val="0A1628"/>
          </a:solidFill>
          <a:ln w="19050">
            <a:solidFill>
              <a:srgbClr val="1B4F72"/>
            </a:solidFill>
            <a:prstDash val="solid"/>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28600" y="822960"/>
            <a:ext cx="594360" cy="1783080"/>
          </a:xfrm>
          <a:prstGeom prst="rect">
            <a:avLst/>
          </a:prstGeom>
          <a:solidFill>
            <a:srgbClr val="1B4F72"/>
          </a:solidFill>
          <a:ln w="12700">
            <a:solidFill>
              <a:srgbClr val="1B4F72"/>
            </a:solidFill>
            <a:prstDash val="solid"/>
          </a:ln>
        </p:spPr>
        <p:txBody>
          <a:bodyPr/>
          <a:lstStyle/>
          <a:p>
            <a:endParaRPr lang="en-IN"/>
          </a:p>
        </p:txBody>
      </p:sp>
      <p:sp>
        <p:nvSpPr>
          <p:cNvPr id="7" name="Text 5"/>
          <p:cNvSpPr/>
          <p:nvPr/>
        </p:nvSpPr>
        <p:spPr>
          <a:xfrm>
            <a:off x="228600" y="822960"/>
            <a:ext cx="594360" cy="822960"/>
          </a:xfrm>
          <a:prstGeom prst="rect">
            <a:avLst/>
          </a:prstGeom>
          <a:noFill/>
          <a:ln/>
        </p:spPr>
        <p:txBody>
          <a:bodyPr wrap="square" rtlCol="0" anchor="ctr"/>
          <a:lstStyle/>
          <a:p>
            <a:pPr marL="0" indent="0" algn="ctr">
              <a:buNone/>
            </a:pPr>
            <a:r>
              <a:rPr lang="en-US" sz="2200" b="1" dirty="0">
                <a:solidFill>
                  <a:srgbClr val="0D1B2A"/>
                </a:solidFill>
              </a:rPr>
              <a:t>01</a:t>
            </a:r>
            <a:endParaRPr lang="en-US" sz="2200" dirty="0"/>
          </a:p>
        </p:txBody>
      </p:sp>
      <p:sp>
        <p:nvSpPr>
          <p:cNvPr id="8" name="Text 6"/>
          <p:cNvSpPr/>
          <p:nvPr/>
        </p:nvSpPr>
        <p:spPr>
          <a:xfrm>
            <a:off x="228600" y="1645920"/>
            <a:ext cx="594360" cy="960120"/>
          </a:xfrm>
          <a:prstGeom prst="rect">
            <a:avLst/>
          </a:prstGeom>
          <a:noFill/>
          <a:ln/>
        </p:spPr>
        <p:txBody>
          <a:bodyPr wrap="square" rtlCol="0" anchor="ctr"/>
          <a:lstStyle/>
          <a:p>
            <a:pPr marL="0" indent="0" algn="ctr">
              <a:buNone/>
            </a:pPr>
            <a:r>
              <a:rPr lang="en-US" sz="1000" b="1" dirty="0">
                <a:solidFill>
                  <a:srgbClr val="0D1B2A"/>
                </a:solidFill>
              </a:rPr>
              <a:t>FC03</a:t>
            </a:r>
            <a:endParaRPr lang="en-US" sz="1000" dirty="0"/>
          </a:p>
        </p:txBody>
      </p:sp>
      <p:sp>
        <p:nvSpPr>
          <p:cNvPr id="9" name="Text 7"/>
          <p:cNvSpPr/>
          <p:nvPr/>
        </p:nvSpPr>
        <p:spPr>
          <a:xfrm>
            <a:off x="914400" y="914400"/>
            <a:ext cx="3200400" cy="384048"/>
          </a:xfrm>
          <a:prstGeom prst="rect">
            <a:avLst/>
          </a:prstGeom>
          <a:noFill/>
          <a:ln/>
        </p:spPr>
        <p:txBody>
          <a:bodyPr wrap="square" rtlCol="0" anchor="ctr"/>
          <a:lstStyle/>
          <a:p>
            <a:pPr marL="0" indent="0">
              <a:buNone/>
            </a:pPr>
            <a:r>
              <a:rPr lang="en-US" sz="1400" b="1" dirty="0">
                <a:solidFill>
                  <a:srgbClr val="FFFFFF"/>
                </a:solidFill>
              </a:rPr>
              <a:t>Read Reconnaissance</a:t>
            </a:r>
            <a:endParaRPr lang="en-US" sz="1400" dirty="0"/>
          </a:p>
        </p:txBody>
      </p:sp>
      <p:sp>
        <p:nvSpPr>
          <p:cNvPr id="10" name="Text 8"/>
          <p:cNvSpPr/>
          <p:nvPr/>
        </p:nvSpPr>
        <p:spPr>
          <a:xfrm>
            <a:off x="914400" y="1325880"/>
            <a:ext cx="3200400" cy="329184"/>
          </a:xfrm>
          <a:prstGeom prst="rect">
            <a:avLst/>
          </a:prstGeom>
          <a:noFill/>
          <a:ln/>
        </p:spPr>
        <p:txBody>
          <a:bodyPr wrap="square" rtlCol="0" anchor="ctr"/>
          <a:lstStyle/>
          <a:p>
            <a:pPr marL="0" indent="0">
              <a:buNone/>
            </a:pPr>
            <a:r>
              <a:rPr lang="en-US" sz="1000" i="1" dirty="0">
                <a:solidFill>
                  <a:srgbClr val="1B4F72"/>
                </a:solidFill>
              </a:rPr>
              <a:t>T0846 — Remote System Discovery</a:t>
            </a:r>
            <a:endParaRPr lang="en-US" sz="1000" dirty="0"/>
          </a:p>
        </p:txBody>
      </p:sp>
      <p:sp>
        <p:nvSpPr>
          <p:cNvPr id="11" name="Text 9"/>
          <p:cNvSpPr/>
          <p:nvPr/>
        </p:nvSpPr>
        <p:spPr>
          <a:xfrm>
            <a:off x="914400" y="1691640"/>
            <a:ext cx="1828800" cy="320040"/>
          </a:xfrm>
          <a:prstGeom prst="rect">
            <a:avLst/>
          </a:prstGeom>
          <a:noFill/>
          <a:ln/>
        </p:spPr>
        <p:txBody>
          <a:bodyPr wrap="square" rtlCol="0" anchor="ctr"/>
          <a:lstStyle/>
          <a:p>
            <a:pPr marL="0" indent="0">
              <a:buNone/>
            </a:pPr>
            <a:r>
              <a:rPr lang="en-US" sz="1000" dirty="0">
                <a:solidFill>
                  <a:srgbClr val="00B4D8"/>
                </a:solidFill>
              </a:rPr>
              <a:t>Rule: 100510  L7</a:t>
            </a:r>
            <a:endParaRPr lang="en-US" sz="1000" dirty="0"/>
          </a:p>
        </p:txBody>
      </p:sp>
      <p:sp>
        <p:nvSpPr>
          <p:cNvPr id="12" name="Text 10"/>
          <p:cNvSpPr/>
          <p:nvPr/>
        </p:nvSpPr>
        <p:spPr>
          <a:xfrm>
            <a:off x="914400" y="2057400"/>
            <a:ext cx="3017520" cy="320040"/>
          </a:xfrm>
          <a:prstGeom prst="rect">
            <a:avLst/>
          </a:prstGeom>
          <a:noFill/>
          <a:ln/>
        </p:spPr>
        <p:txBody>
          <a:bodyPr wrap="square" rtlCol="0" anchor="ctr"/>
          <a:lstStyle/>
          <a:p>
            <a:pPr marL="0" indent="0">
              <a:buNone/>
            </a:pPr>
            <a:r>
              <a:rPr lang="en-US" sz="1000" dirty="0">
                <a:solidFill>
                  <a:srgbClr val="8FA3B1"/>
                </a:solidFill>
              </a:rPr>
              <a:t>Tactic: Discovery</a:t>
            </a:r>
            <a:endParaRPr lang="en-US" sz="1000" dirty="0"/>
          </a:p>
        </p:txBody>
      </p:sp>
      <p:sp>
        <p:nvSpPr>
          <p:cNvPr id="13" name="Shape 11"/>
          <p:cNvSpPr/>
          <p:nvPr/>
        </p:nvSpPr>
        <p:spPr>
          <a:xfrm>
            <a:off x="2880360" y="1645920"/>
            <a:ext cx="1234440" cy="685800"/>
          </a:xfrm>
          <a:prstGeom prst="rect">
            <a:avLst/>
          </a:prstGeom>
          <a:solidFill>
            <a:srgbClr val="0D1B2A"/>
          </a:solidFill>
          <a:ln w="12700">
            <a:solidFill>
              <a:srgbClr val="2DC653"/>
            </a:solidFill>
            <a:prstDash val="solid"/>
          </a:ln>
        </p:spPr>
        <p:txBody>
          <a:bodyPr/>
          <a:lstStyle/>
          <a:p>
            <a:endParaRPr lang="en-IN"/>
          </a:p>
        </p:txBody>
      </p:sp>
      <p:sp>
        <p:nvSpPr>
          <p:cNvPr id="14" name="Text 12"/>
          <p:cNvSpPr/>
          <p:nvPr/>
        </p:nvSpPr>
        <p:spPr>
          <a:xfrm>
            <a:off x="2880360" y="1645920"/>
            <a:ext cx="1234440" cy="685800"/>
          </a:xfrm>
          <a:prstGeom prst="rect">
            <a:avLst/>
          </a:prstGeom>
          <a:noFill/>
          <a:ln/>
        </p:spPr>
        <p:txBody>
          <a:bodyPr wrap="square" rtlCol="0" anchor="ctr"/>
          <a:lstStyle/>
          <a:p>
            <a:pPr marL="0" indent="0" algn="ctr">
              <a:buNone/>
            </a:pPr>
            <a:r>
              <a:rPr lang="en-US" sz="900" b="1" dirty="0">
                <a:solidFill>
                  <a:srgbClr val="2DC653"/>
                </a:solidFill>
              </a:rPr>
              <a:t>✓ DETECTED</a:t>
            </a:r>
            <a:endParaRPr lang="en-US" sz="900" dirty="0"/>
          </a:p>
        </p:txBody>
      </p:sp>
      <p:sp>
        <p:nvSpPr>
          <p:cNvPr id="15" name="Shape 13"/>
          <p:cNvSpPr/>
          <p:nvPr/>
        </p:nvSpPr>
        <p:spPr>
          <a:xfrm>
            <a:off x="4663440" y="822960"/>
            <a:ext cx="4023360" cy="1783080"/>
          </a:xfrm>
          <a:prstGeom prst="rect">
            <a:avLst/>
          </a:prstGeom>
          <a:solidFill>
            <a:srgbClr val="0A1628"/>
          </a:solidFill>
          <a:ln w="19050">
            <a:solidFill>
              <a:srgbClr val="F4A261"/>
            </a:solidFill>
            <a:prstDash val="solid"/>
          </a:ln>
          <a:effectLst>
            <a:outerShdw blurRad="101600" dist="38100" dir="8100000" algn="bl" rotWithShape="0">
              <a:srgbClr val="000000">
                <a:alpha val="18000"/>
              </a:srgbClr>
            </a:outerShdw>
          </a:effectLst>
        </p:spPr>
        <p:txBody>
          <a:bodyPr/>
          <a:lstStyle/>
          <a:p>
            <a:endParaRPr lang="en-IN"/>
          </a:p>
        </p:txBody>
      </p:sp>
      <p:sp>
        <p:nvSpPr>
          <p:cNvPr id="16" name="Shape 14"/>
          <p:cNvSpPr/>
          <p:nvPr/>
        </p:nvSpPr>
        <p:spPr>
          <a:xfrm>
            <a:off x="4663440" y="822960"/>
            <a:ext cx="594360" cy="1783080"/>
          </a:xfrm>
          <a:prstGeom prst="rect">
            <a:avLst/>
          </a:prstGeom>
          <a:solidFill>
            <a:srgbClr val="F4A261"/>
          </a:solidFill>
          <a:ln w="12700">
            <a:solidFill>
              <a:srgbClr val="F4A261"/>
            </a:solidFill>
            <a:prstDash val="solid"/>
          </a:ln>
        </p:spPr>
        <p:txBody>
          <a:bodyPr/>
          <a:lstStyle/>
          <a:p>
            <a:endParaRPr lang="en-IN"/>
          </a:p>
        </p:txBody>
      </p:sp>
      <p:sp>
        <p:nvSpPr>
          <p:cNvPr id="17" name="Text 15"/>
          <p:cNvSpPr/>
          <p:nvPr/>
        </p:nvSpPr>
        <p:spPr>
          <a:xfrm>
            <a:off x="4663440" y="822960"/>
            <a:ext cx="594360" cy="822960"/>
          </a:xfrm>
          <a:prstGeom prst="rect">
            <a:avLst/>
          </a:prstGeom>
          <a:noFill/>
          <a:ln/>
        </p:spPr>
        <p:txBody>
          <a:bodyPr wrap="square" rtlCol="0" anchor="ctr"/>
          <a:lstStyle/>
          <a:p>
            <a:pPr marL="0" indent="0" algn="ctr">
              <a:buNone/>
            </a:pPr>
            <a:r>
              <a:rPr lang="en-US" sz="2200" b="1" dirty="0">
                <a:solidFill>
                  <a:srgbClr val="0D1B2A"/>
                </a:solidFill>
              </a:rPr>
              <a:t>02</a:t>
            </a:r>
            <a:endParaRPr lang="en-US" sz="2200" dirty="0"/>
          </a:p>
        </p:txBody>
      </p:sp>
      <p:sp>
        <p:nvSpPr>
          <p:cNvPr id="18" name="Text 16"/>
          <p:cNvSpPr/>
          <p:nvPr/>
        </p:nvSpPr>
        <p:spPr>
          <a:xfrm>
            <a:off x="4663440" y="1645920"/>
            <a:ext cx="594360" cy="960120"/>
          </a:xfrm>
          <a:prstGeom prst="rect">
            <a:avLst/>
          </a:prstGeom>
          <a:noFill/>
          <a:ln/>
        </p:spPr>
        <p:txBody>
          <a:bodyPr wrap="square" rtlCol="0" anchor="ctr"/>
          <a:lstStyle/>
          <a:p>
            <a:pPr marL="0" indent="0" algn="ctr">
              <a:buNone/>
            </a:pPr>
            <a:r>
              <a:rPr lang="en-US" sz="1000" b="1" dirty="0">
                <a:solidFill>
                  <a:srgbClr val="0D1B2A"/>
                </a:solidFill>
              </a:rPr>
              <a:t>FC06</a:t>
            </a:r>
            <a:endParaRPr lang="en-US" sz="1000" dirty="0"/>
          </a:p>
        </p:txBody>
      </p:sp>
      <p:sp>
        <p:nvSpPr>
          <p:cNvPr id="19" name="Text 17"/>
          <p:cNvSpPr/>
          <p:nvPr/>
        </p:nvSpPr>
        <p:spPr>
          <a:xfrm>
            <a:off x="5349240" y="914400"/>
            <a:ext cx="3200400" cy="384048"/>
          </a:xfrm>
          <a:prstGeom prst="rect">
            <a:avLst/>
          </a:prstGeom>
          <a:noFill/>
          <a:ln/>
        </p:spPr>
        <p:txBody>
          <a:bodyPr wrap="square" rtlCol="0" anchor="ctr"/>
          <a:lstStyle/>
          <a:p>
            <a:pPr marL="0" indent="0">
              <a:buNone/>
            </a:pPr>
            <a:r>
              <a:rPr lang="en-US" sz="1400" b="1" dirty="0">
                <a:solidFill>
                  <a:srgbClr val="FFFFFF"/>
                </a:solidFill>
              </a:rPr>
              <a:t>Single Register Write</a:t>
            </a:r>
            <a:endParaRPr lang="en-US" sz="1400" dirty="0"/>
          </a:p>
        </p:txBody>
      </p:sp>
      <p:sp>
        <p:nvSpPr>
          <p:cNvPr id="20" name="Text 18"/>
          <p:cNvSpPr/>
          <p:nvPr/>
        </p:nvSpPr>
        <p:spPr>
          <a:xfrm>
            <a:off x="5349240" y="1325880"/>
            <a:ext cx="3200400" cy="329184"/>
          </a:xfrm>
          <a:prstGeom prst="rect">
            <a:avLst/>
          </a:prstGeom>
          <a:noFill/>
          <a:ln/>
        </p:spPr>
        <p:txBody>
          <a:bodyPr wrap="square" rtlCol="0" anchor="ctr"/>
          <a:lstStyle/>
          <a:p>
            <a:pPr marL="0" indent="0">
              <a:buNone/>
            </a:pPr>
            <a:r>
              <a:rPr lang="en-US" sz="1000" i="1" dirty="0">
                <a:solidFill>
                  <a:srgbClr val="F4A261"/>
                </a:solidFill>
              </a:rPr>
              <a:t>T0831 — Manipulation of Control</a:t>
            </a:r>
            <a:endParaRPr lang="en-US" sz="1000" dirty="0"/>
          </a:p>
        </p:txBody>
      </p:sp>
      <p:sp>
        <p:nvSpPr>
          <p:cNvPr id="21" name="Text 19"/>
          <p:cNvSpPr/>
          <p:nvPr/>
        </p:nvSpPr>
        <p:spPr>
          <a:xfrm>
            <a:off x="5349240" y="1691640"/>
            <a:ext cx="1828800" cy="320040"/>
          </a:xfrm>
          <a:prstGeom prst="rect">
            <a:avLst/>
          </a:prstGeom>
          <a:noFill/>
          <a:ln/>
        </p:spPr>
        <p:txBody>
          <a:bodyPr wrap="square" rtlCol="0" anchor="ctr"/>
          <a:lstStyle/>
          <a:p>
            <a:pPr marL="0" indent="0">
              <a:buNone/>
            </a:pPr>
            <a:r>
              <a:rPr lang="en-US" sz="1000" dirty="0">
                <a:solidFill>
                  <a:srgbClr val="00B4D8"/>
                </a:solidFill>
              </a:rPr>
              <a:t>Rule: 100502  L10</a:t>
            </a:r>
            <a:endParaRPr lang="en-US" sz="1000" dirty="0"/>
          </a:p>
        </p:txBody>
      </p:sp>
      <p:sp>
        <p:nvSpPr>
          <p:cNvPr id="22" name="Text 20"/>
          <p:cNvSpPr/>
          <p:nvPr/>
        </p:nvSpPr>
        <p:spPr>
          <a:xfrm>
            <a:off x="5349240" y="2057400"/>
            <a:ext cx="3017520" cy="320040"/>
          </a:xfrm>
          <a:prstGeom prst="rect">
            <a:avLst/>
          </a:prstGeom>
          <a:noFill/>
          <a:ln/>
        </p:spPr>
        <p:txBody>
          <a:bodyPr wrap="square" rtlCol="0" anchor="ctr"/>
          <a:lstStyle/>
          <a:p>
            <a:pPr marL="0" indent="0">
              <a:buNone/>
            </a:pPr>
            <a:r>
              <a:rPr lang="en-US" sz="1000" dirty="0">
                <a:solidFill>
                  <a:srgbClr val="8FA3B1"/>
                </a:solidFill>
              </a:rPr>
              <a:t>Tactic: Impair Process</a:t>
            </a:r>
            <a:endParaRPr lang="en-US" sz="1000" dirty="0"/>
          </a:p>
        </p:txBody>
      </p:sp>
      <p:sp>
        <p:nvSpPr>
          <p:cNvPr id="23" name="Shape 21"/>
          <p:cNvSpPr/>
          <p:nvPr/>
        </p:nvSpPr>
        <p:spPr>
          <a:xfrm>
            <a:off x="7315200" y="1645920"/>
            <a:ext cx="1234440" cy="685800"/>
          </a:xfrm>
          <a:prstGeom prst="rect">
            <a:avLst/>
          </a:prstGeom>
          <a:solidFill>
            <a:srgbClr val="0D1B2A"/>
          </a:solidFill>
          <a:ln w="12700">
            <a:solidFill>
              <a:srgbClr val="2DC653"/>
            </a:solidFill>
            <a:prstDash val="solid"/>
          </a:ln>
        </p:spPr>
        <p:txBody>
          <a:bodyPr/>
          <a:lstStyle/>
          <a:p>
            <a:endParaRPr lang="en-IN"/>
          </a:p>
        </p:txBody>
      </p:sp>
      <p:sp>
        <p:nvSpPr>
          <p:cNvPr id="24" name="Text 22"/>
          <p:cNvSpPr/>
          <p:nvPr/>
        </p:nvSpPr>
        <p:spPr>
          <a:xfrm>
            <a:off x="7315200" y="1645920"/>
            <a:ext cx="1234440" cy="685800"/>
          </a:xfrm>
          <a:prstGeom prst="rect">
            <a:avLst/>
          </a:prstGeom>
          <a:noFill/>
          <a:ln/>
        </p:spPr>
        <p:txBody>
          <a:bodyPr wrap="square" rtlCol="0" anchor="ctr"/>
          <a:lstStyle/>
          <a:p>
            <a:pPr marL="0" indent="0" algn="ctr">
              <a:buNone/>
            </a:pPr>
            <a:r>
              <a:rPr lang="en-US" sz="900" b="1" dirty="0">
                <a:solidFill>
                  <a:srgbClr val="2DC653"/>
                </a:solidFill>
              </a:rPr>
              <a:t>✓ DETECTED</a:t>
            </a:r>
            <a:endParaRPr lang="en-US" sz="900" dirty="0"/>
          </a:p>
        </p:txBody>
      </p:sp>
      <p:sp>
        <p:nvSpPr>
          <p:cNvPr id="25" name="Shape 23"/>
          <p:cNvSpPr/>
          <p:nvPr/>
        </p:nvSpPr>
        <p:spPr>
          <a:xfrm>
            <a:off x="228600" y="2834640"/>
            <a:ext cx="4023360" cy="1783080"/>
          </a:xfrm>
          <a:prstGeom prst="rect">
            <a:avLst/>
          </a:prstGeom>
          <a:solidFill>
            <a:srgbClr val="0A1628"/>
          </a:solidFill>
          <a:ln w="19050">
            <a:solidFill>
              <a:srgbClr val="E63946"/>
            </a:solidFill>
            <a:prstDash val="solid"/>
          </a:ln>
          <a:effectLst>
            <a:outerShdw blurRad="101600" dist="38100" dir="8100000" algn="bl" rotWithShape="0">
              <a:srgbClr val="000000">
                <a:alpha val="18000"/>
              </a:srgbClr>
            </a:outerShdw>
          </a:effectLst>
        </p:spPr>
        <p:txBody>
          <a:bodyPr/>
          <a:lstStyle/>
          <a:p>
            <a:endParaRPr lang="en-IN"/>
          </a:p>
        </p:txBody>
      </p:sp>
      <p:sp>
        <p:nvSpPr>
          <p:cNvPr id="26" name="Shape 24"/>
          <p:cNvSpPr/>
          <p:nvPr/>
        </p:nvSpPr>
        <p:spPr>
          <a:xfrm>
            <a:off x="228600" y="2834640"/>
            <a:ext cx="594360" cy="1783080"/>
          </a:xfrm>
          <a:prstGeom prst="rect">
            <a:avLst/>
          </a:prstGeom>
          <a:solidFill>
            <a:srgbClr val="E63946"/>
          </a:solidFill>
          <a:ln w="12700">
            <a:solidFill>
              <a:srgbClr val="E63946"/>
            </a:solidFill>
            <a:prstDash val="solid"/>
          </a:ln>
        </p:spPr>
        <p:txBody>
          <a:bodyPr/>
          <a:lstStyle/>
          <a:p>
            <a:endParaRPr lang="en-IN"/>
          </a:p>
        </p:txBody>
      </p:sp>
      <p:sp>
        <p:nvSpPr>
          <p:cNvPr id="27" name="Text 25"/>
          <p:cNvSpPr/>
          <p:nvPr/>
        </p:nvSpPr>
        <p:spPr>
          <a:xfrm>
            <a:off x="228600" y="2834640"/>
            <a:ext cx="594360" cy="822960"/>
          </a:xfrm>
          <a:prstGeom prst="rect">
            <a:avLst/>
          </a:prstGeom>
          <a:noFill/>
          <a:ln/>
        </p:spPr>
        <p:txBody>
          <a:bodyPr wrap="square" rtlCol="0" anchor="ctr"/>
          <a:lstStyle/>
          <a:p>
            <a:pPr marL="0" indent="0" algn="ctr">
              <a:buNone/>
            </a:pPr>
            <a:r>
              <a:rPr lang="en-US" sz="2200" b="1" dirty="0">
                <a:solidFill>
                  <a:srgbClr val="0D1B2A"/>
                </a:solidFill>
              </a:rPr>
              <a:t>03</a:t>
            </a:r>
            <a:endParaRPr lang="en-US" sz="2200" dirty="0"/>
          </a:p>
        </p:txBody>
      </p:sp>
      <p:sp>
        <p:nvSpPr>
          <p:cNvPr id="28" name="Text 26"/>
          <p:cNvSpPr/>
          <p:nvPr/>
        </p:nvSpPr>
        <p:spPr>
          <a:xfrm>
            <a:off x="228600" y="3657600"/>
            <a:ext cx="594360" cy="960120"/>
          </a:xfrm>
          <a:prstGeom prst="rect">
            <a:avLst/>
          </a:prstGeom>
          <a:noFill/>
          <a:ln/>
        </p:spPr>
        <p:txBody>
          <a:bodyPr wrap="square" rtlCol="0" anchor="ctr"/>
          <a:lstStyle/>
          <a:p>
            <a:pPr marL="0" indent="0" algn="ctr">
              <a:buNone/>
            </a:pPr>
            <a:r>
              <a:rPr lang="en-US" sz="1000" b="1" dirty="0">
                <a:solidFill>
                  <a:srgbClr val="0D1B2A"/>
                </a:solidFill>
              </a:rPr>
              <a:t>FC16</a:t>
            </a:r>
            <a:endParaRPr lang="en-US" sz="1000" dirty="0"/>
          </a:p>
        </p:txBody>
      </p:sp>
      <p:sp>
        <p:nvSpPr>
          <p:cNvPr id="29" name="Text 27"/>
          <p:cNvSpPr/>
          <p:nvPr/>
        </p:nvSpPr>
        <p:spPr>
          <a:xfrm>
            <a:off x="914400" y="2926080"/>
            <a:ext cx="3200400" cy="384048"/>
          </a:xfrm>
          <a:prstGeom prst="rect">
            <a:avLst/>
          </a:prstGeom>
          <a:noFill/>
          <a:ln/>
        </p:spPr>
        <p:txBody>
          <a:bodyPr wrap="square" rtlCol="0" anchor="ctr"/>
          <a:lstStyle/>
          <a:p>
            <a:pPr marL="0" indent="0">
              <a:buNone/>
            </a:pPr>
            <a:r>
              <a:rPr lang="en-US" sz="1400" b="1" dirty="0">
                <a:solidFill>
                  <a:srgbClr val="FFFFFF"/>
                </a:solidFill>
              </a:rPr>
              <a:t>Multi-Register Write</a:t>
            </a:r>
            <a:endParaRPr lang="en-US" sz="1400" dirty="0"/>
          </a:p>
        </p:txBody>
      </p:sp>
      <p:sp>
        <p:nvSpPr>
          <p:cNvPr id="30" name="Text 28"/>
          <p:cNvSpPr/>
          <p:nvPr/>
        </p:nvSpPr>
        <p:spPr>
          <a:xfrm>
            <a:off x="914400" y="3337560"/>
            <a:ext cx="3200400" cy="329184"/>
          </a:xfrm>
          <a:prstGeom prst="rect">
            <a:avLst/>
          </a:prstGeom>
          <a:noFill/>
          <a:ln/>
        </p:spPr>
        <p:txBody>
          <a:bodyPr wrap="square" rtlCol="0" anchor="ctr"/>
          <a:lstStyle/>
          <a:p>
            <a:pPr marL="0" indent="0">
              <a:buNone/>
            </a:pPr>
            <a:r>
              <a:rPr lang="en-US" sz="1000" i="1" dirty="0">
                <a:solidFill>
                  <a:srgbClr val="E63946"/>
                </a:solidFill>
              </a:rPr>
              <a:t>T0831 — Manipulation of Control</a:t>
            </a:r>
            <a:endParaRPr lang="en-US" sz="1000" dirty="0"/>
          </a:p>
        </p:txBody>
      </p:sp>
      <p:sp>
        <p:nvSpPr>
          <p:cNvPr id="31" name="Text 29"/>
          <p:cNvSpPr/>
          <p:nvPr/>
        </p:nvSpPr>
        <p:spPr>
          <a:xfrm>
            <a:off x="914400" y="3703320"/>
            <a:ext cx="1828800" cy="320040"/>
          </a:xfrm>
          <a:prstGeom prst="rect">
            <a:avLst/>
          </a:prstGeom>
          <a:noFill/>
          <a:ln/>
        </p:spPr>
        <p:txBody>
          <a:bodyPr wrap="square" rtlCol="0" anchor="ctr"/>
          <a:lstStyle/>
          <a:p>
            <a:pPr marL="0" indent="0">
              <a:buNone/>
            </a:pPr>
            <a:r>
              <a:rPr lang="en-US" sz="1000" dirty="0">
                <a:solidFill>
                  <a:srgbClr val="00B4D8"/>
                </a:solidFill>
              </a:rPr>
              <a:t>Rule: 100501  L12</a:t>
            </a:r>
            <a:endParaRPr lang="en-US" sz="1000" dirty="0"/>
          </a:p>
        </p:txBody>
      </p:sp>
      <p:sp>
        <p:nvSpPr>
          <p:cNvPr id="32" name="Text 30"/>
          <p:cNvSpPr/>
          <p:nvPr/>
        </p:nvSpPr>
        <p:spPr>
          <a:xfrm>
            <a:off x="914400" y="4069080"/>
            <a:ext cx="3017520" cy="320040"/>
          </a:xfrm>
          <a:prstGeom prst="rect">
            <a:avLst/>
          </a:prstGeom>
          <a:noFill/>
          <a:ln/>
        </p:spPr>
        <p:txBody>
          <a:bodyPr wrap="square" rtlCol="0" anchor="ctr"/>
          <a:lstStyle/>
          <a:p>
            <a:pPr marL="0" indent="0">
              <a:buNone/>
            </a:pPr>
            <a:r>
              <a:rPr lang="en-US" sz="1000" dirty="0">
                <a:solidFill>
                  <a:srgbClr val="8FA3B1"/>
                </a:solidFill>
              </a:rPr>
              <a:t>Tactic: Impair Process</a:t>
            </a:r>
            <a:endParaRPr lang="en-US" sz="1000" dirty="0"/>
          </a:p>
        </p:txBody>
      </p:sp>
      <p:sp>
        <p:nvSpPr>
          <p:cNvPr id="33" name="Shape 31"/>
          <p:cNvSpPr/>
          <p:nvPr/>
        </p:nvSpPr>
        <p:spPr>
          <a:xfrm>
            <a:off x="2880360" y="3657600"/>
            <a:ext cx="1234440" cy="685800"/>
          </a:xfrm>
          <a:prstGeom prst="rect">
            <a:avLst/>
          </a:prstGeom>
          <a:solidFill>
            <a:srgbClr val="0D1B2A"/>
          </a:solidFill>
          <a:ln w="12700">
            <a:solidFill>
              <a:srgbClr val="2DC653"/>
            </a:solidFill>
            <a:prstDash val="solid"/>
          </a:ln>
        </p:spPr>
        <p:txBody>
          <a:bodyPr/>
          <a:lstStyle/>
          <a:p>
            <a:endParaRPr lang="en-IN"/>
          </a:p>
        </p:txBody>
      </p:sp>
      <p:sp>
        <p:nvSpPr>
          <p:cNvPr id="34" name="Text 32"/>
          <p:cNvSpPr/>
          <p:nvPr/>
        </p:nvSpPr>
        <p:spPr>
          <a:xfrm>
            <a:off x="2880360" y="3657600"/>
            <a:ext cx="1234440" cy="685800"/>
          </a:xfrm>
          <a:prstGeom prst="rect">
            <a:avLst/>
          </a:prstGeom>
          <a:noFill/>
          <a:ln/>
        </p:spPr>
        <p:txBody>
          <a:bodyPr wrap="square" rtlCol="0" anchor="ctr"/>
          <a:lstStyle/>
          <a:p>
            <a:pPr marL="0" indent="0" algn="ctr">
              <a:buNone/>
            </a:pPr>
            <a:r>
              <a:rPr lang="en-US" sz="900" b="1" dirty="0">
                <a:solidFill>
                  <a:srgbClr val="2DC653"/>
                </a:solidFill>
              </a:rPr>
              <a:t>✓ DETECTED</a:t>
            </a:r>
            <a:endParaRPr lang="en-US" sz="900" dirty="0"/>
          </a:p>
        </p:txBody>
      </p:sp>
      <p:sp>
        <p:nvSpPr>
          <p:cNvPr id="35" name="Shape 33"/>
          <p:cNvSpPr/>
          <p:nvPr/>
        </p:nvSpPr>
        <p:spPr>
          <a:xfrm>
            <a:off x="4663440" y="2834640"/>
            <a:ext cx="4023360" cy="1783080"/>
          </a:xfrm>
          <a:prstGeom prst="rect">
            <a:avLst/>
          </a:prstGeom>
          <a:solidFill>
            <a:srgbClr val="0A1628"/>
          </a:solidFill>
          <a:ln w="19050">
            <a:solidFill>
              <a:srgbClr val="E040FB"/>
            </a:solidFill>
            <a:prstDash val="solid"/>
          </a:ln>
          <a:effectLst>
            <a:outerShdw blurRad="101600" dist="38100" dir="8100000" algn="bl" rotWithShape="0">
              <a:srgbClr val="000000">
                <a:alpha val="18000"/>
              </a:srgbClr>
            </a:outerShdw>
          </a:effectLst>
        </p:spPr>
        <p:txBody>
          <a:bodyPr/>
          <a:lstStyle/>
          <a:p>
            <a:endParaRPr lang="en-IN"/>
          </a:p>
        </p:txBody>
      </p:sp>
      <p:sp>
        <p:nvSpPr>
          <p:cNvPr id="36" name="Shape 34"/>
          <p:cNvSpPr/>
          <p:nvPr/>
        </p:nvSpPr>
        <p:spPr>
          <a:xfrm>
            <a:off x="4663440" y="2834640"/>
            <a:ext cx="594360" cy="1783080"/>
          </a:xfrm>
          <a:prstGeom prst="rect">
            <a:avLst/>
          </a:prstGeom>
          <a:solidFill>
            <a:srgbClr val="E040FB"/>
          </a:solidFill>
          <a:ln w="12700">
            <a:solidFill>
              <a:srgbClr val="E040FB"/>
            </a:solidFill>
            <a:prstDash val="solid"/>
          </a:ln>
        </p:spPr>
        <p:txBody>
          <a:bodyPr/>
          <a:lstStyle/>
          <a:p>
            <a:endParaRPr lang="en-IN"/>
          </a:p>
        </p:txBody>
      </p:sp>
      <p:sp>
        <p:nvSpPr>
          <p:cNvPr id="37" name="Text 35"/>
          <p:cNvSpPr/>
          <p:nvPr/>
        </p:nvSpPr>
        <p:spPr>
          <a:xfrm>
            <a:off x="4663440" y="2834640"/>
            <a:ext cx="594360" cy="822960"/>
          </a:xfrm>
          <a:prstGeom prst="rect">
            <a:avLst/>
          </a:prstGeom>
          <a:noFill/>
          <a:ln/>
        </p:spPr>
        <p:txBody>
          <a:bodyPr wrap="square" rtlCol="0" anchor="ctr"/>
          <a:lstStyle/>
          <a:p>
            <a:pPr marL="0" indent="0" algn="ctr">
              <a:buNone/>
            </a:pPr>
            <a:r>
              <a:rPr lang="en-US" sz="2200" b="1" dirty="0">
                <a:solidFill>
                  <a:srgbClr val="0D1B2A"/>
                </a:solidFill>
              </a:rPr>
              <a:t>04</a:t>
            </a:r>
            <a:endParaRPr lang="en-US" sz="2200" dirty="0"/>
          </a:p>
        </p:txBody>
      </p:sp>
      <p:sp>
        <p:nvSpPr>
          <p:cNvPr id="38" name="Text 36"/>
          <p:cNvSpPr/>
          <p:nvPr/>
        </p:nvSpPr>
        <p:spPr>
          <a:xfrm>
            <a:off x="4663440" y="3657600"/>
            <a:ext cx="594360" cy="960120"/>
          </a:xfrm>
          <a:prstGeom prst="rect">
            <a:avLst/>
          </a:prstGeom>
          <a:noFill/>
          <a:ln/>
        </p:spPr>
        <p:txBody>
          <a:bodyPr wrap="square" rtlCol="0" anchor="ctr"/>
          <a:lstStyle/>
          <a:p>
            <a:pPr marL="0" indent="0" algn="ctr">
              <a:buNone/>
            </a:pPr>
            <a:r>
              <a:rPr lang="en-US" sz="1000" b="1" dirty="0">
                <a:solidFill>
                  <a:srgbClr val="0D1B2A"/>
                </a:solidFill>
              </a:rPr>
              <a:t>FLOOD</a:t>
            </a:r>
            <a:endParaRPr lang="en-US" sz="1000" dirty="0"/>
          </a:p>
        </p:txBody>
      </p:sp>
      <p:sp>
        <p:nvSpPr>
          <p:cNvPr id="39" name="Text 37"/>
          <p:cNvSpPr/>
          <p:nvPr/>
        </p:nvSpPr>
        <p:spPr>
          <a:xfrm>
            <a:off x="5349240" y="2926080"/>
            <a:ext cx="3200400" cy="384048"/>
          </a:xfrm>
          <a:prstGeom prst="rect">
            <a:avLst/>
          </a:prstGeom>
          <a:noFill/>
          <a:ln/>
        </p:spPr>
        <p:txBody>
          <a:bodyPr wrap="square" rtlCol="0" anchor="ctr"/>
          <a:lstStyle/>
          <a:p>
            <a:pPr marL="0" indent="0">
              <a:buNone/>
            </a:pPr>
            <a:r>
              <a:rPr lang="en-US" sz="1400" b="1" dirty="0">
                <a:solidFill>
                  <a:srgbClr val="FFFFFF"/>
                </a:solidFill>
              </a:rPr>
              <a:t>DoS / Flood Attack</a:t>
            </a:r>
            <a:endParaRPr lang="en-US" sz="1400" dirty="0"/>
          </a:p>
        </p:txBody>
      </p:sp>
      <p:sp>
        <p:nvSpPr>
          <p:cNvPr id="40" name="Text 38"/>
          <p:cNvSpPr/>
          <p:nvPr/>
        </p:nvSpPr>
        <p:spPr>
          <a:xfrm>
            <a:off x="5349240" y="3337560"/>
            <a:ext cx="3200400" cy="329184"/>
          </a:xfrm>
          <a:prstGeom prst="rect">
            <a:avLst/>
          </a:prstGeom>
          <a:noFill/>
          <a:ln/>
        </p:spPr>
        <p:txBody>
          <a:bodyPr wrap="square" rtlCol="0" anchor="ctr"/>
          <a:lstStyle/>
          <a:p>
            <a:pPr marL="0" indent="0">
              <a:buNone/>
            </a:pPr>
            <a:r>
              <a:rPr lang="en-US" sz="1000" i="1" dirty="0">
                <a:solidFill>
                  <a:srgbClr val="E040FB"/>
                </a:solidFill>
              </a:rPr>
              <a:t>T0814 — Denial of Service</a:t>
            </a:r>
            <a:endParaRPr lang="en-US" sz="1000" dirty="0"/>
          </a:p>
        </p:txBody>
      </p:sp>
      <p:sp>
        <p:nvSpPr>
          <p:cNvPr id="41" name="Text 39"/>
          <p:cNvSpPr/>
          <p:nvPr/>
        </p:nvSpPr>
        <p:spPr>
          <a:xfrm>
            <a:off x="5349240" y="3703320"/>
            <a:ext cx="1828800" cy="320040"/>
          </a:xfrm>
          <a:prstGeom prst="rect">
            <a:avLst/>
          </a:prstGeom>
          <a:noFill/>
          <a:ln/>
        </p:spPr>
        <p:txBody>
          <a:bodyPr wrap="square" rtlCol="0" anchor="ctr"/>
          <a:lstStyle/>
          <a:p>
            <a:pPr marL="0" indent="0">
              <a:buNone/>
            </a:pPr>
            <a:r>
              <a:rPr lang="en-US" sz="1000" dirty="0">
                <a:solidFill>
                  <a:srgbClr val="00B4D8"/>
                </a:solidFill>
              </a:rPr>
              <a:t>Rule: 100530  L13</a:t>
            </a:r>
            <a:endParaRPr lang="en-US" sz="1000" dirty="0"/>
          </a:p>
        </p:txBody>
      </p:sp>
      <p:sp>
        <p:nvSpPr>
          <p:cNvPr id="42" name="Text 40"/>
          <p:cNvSpPr/>
          <p:nvPr/>
        </p:nvSpPr>
        <p:spPr>
          <a:xfrm>
            <a:off x="5349240" y="4069080"/>
            <a:ext cx="3017520" cy="320040"/>
          </a:xfrm>
          <a:prstGeom prst="rect">
            <a:avLst/>
          </a:prstGeom>
          <a:noFill/>
          <a:ln/>
        </p:spPr>
        <p:txBody>
          <a:bodyPr wrap="square" rtlCol="0" anchor="ctr"/>
          <a:lstStyle/>
          <a:p>
            <a:pPr marL="0" indent="0">
              <a:buNone/>
            </a:pPr>
            <a:r>
              <a:rPr lang="en-US" sz="1000" dirty="0">
                <a:solidFill>
                  <a:srgbClr val="8FA3B1"/>
                </a:solidFill>
              </a:rPr>
              <a:t>Tactic: Inhibit Response</a:t>
            </a:r>
            <a:endParaRPr lang="en-US" sz="1000" dirty="0"/>
          </a:p>
        </p:txBody>
      </p:sp>
      <p:sp>
        <p:nvSpPr>
          <p:cNvPr id="43" name="Shape 41"/>
          <p:cNvSpPr/>
          <p:nvPr/>
        </p:nvSpPr>
        <p:spPr>
          <a:xfrm>
            <a:off x="7315200" y="3657600"/>
            <a:ext cx="1234440" cy="685800"/>
          </a:xfrm>
          <a:prstGeom prst="rect">
            <a:avLst/>
          </a:prstGeom>
          <a:solidFill>
            <a:srgbClr val="0D1B2A"/>
          </a:solidFill>
          <a:ln w="12700">
            <a:solidFill>
              <a:srgbClr val="2DC653"/>
            </a:solidFill>
            <a:prstDash val="solid"/>
          </a:ln>
        </p:spPr>
        <p:txBody>
          <a:bodyPr/>
          <a:lstStyle/>
          <a:p>
            <a:endParaRPr lang="en-IN"/>
          </a:p>
        </p:txBody>
      </p:sp>
      <p:sp>
        <p:nvSpPr>
          <p:cNvPr id="44" name="Text 42"/>
          <p:cNvSpPr/>
          <p:nvPr/>
        </p:nvSpPr>
        <p:spPr>
          <a:xfrm>
            <a:off x="7315200" y="3657600"/>
            <a:ext cx="1234440" cy="685800"/>
          </a:xfrm>
          <a:prstGeom prst="rect">
            <a:avLst/>
          </a:prstGeom>
          <a:noFill/>
          <a:ln/>
        </p:spPr>
        <p:txBody>
          <a:bodyPr wrap="square" rtlCol="0" anchor="ctr"/>
          <a:lstStyle/>
          <a:p>
            <a:pPr marL="0" indent="0" algn="ctr">
              <a:buNone/>
            </a:pPr>
            <a:r>
              <a:rPr lang="en-US" sz="900" b="1" dirty="0">
                <a:solidFill>
                  <a:srgbClr val="2DC653"/>
                </a:solidFill>
              </a:rPr>
              <a:t>✓ DETECTED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37160"/>
            <a:ext cx="8412480" cy="502920"/>
          </a:xfrm>
          <a:prstGeom prst="rect">
            <a:avLst/>
          </a:prstGeom>
          <a:noFill/>
          <a:ln/>
        </p:spPr>
        <p:txBody>
          <a:bodyPr wrap="square" rtlCol="0" anchor="ctr"/>
          <a:lstStyle/>
          <a:p>
            <a:pPr marL="0" indent="0">
              <a:buNone/>
            </a:pPr>
            <a:r>
              <a:rPr lang="en-US" sz="2600" b="1" dirty="0">
                <a:solidFill>
                  <a:srgbClr val="FFFFFF"/>
                </a:solidFill>
              </a:rPr>
              <a:t>MITRE ATT&amp;CK for ICS Mapping</a:t>
            </a:r>
            <a:endParaRPr lang="en-US" sz="2600" dirty="0"/>
          </a:p>
        </p:txBody>
      </p:sp>
      <p:sp>
        <p:nvSpPr>
          <p:cNvPr id="4" name="Shape 2"/>
          <p:cNvSpPr/>
          <p:nvPr/>
        </p:nvSpPr>
        <p:spPr>
          <a:xfrm>
            <a:off x="365760" y="658368"/>
            <a:ext cx="8412480" cy="27432"/>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228600" y="777240"/>
            <a:ext cx="1097280" cy="411480"/>
          </a:xfrm>
          <a:prstGeom prst="rect">
            <a:avLst/>
          </a:prstGeom>
          <a:solidFill>
            <a:srgbClr val="1B4F72"/>
          </a:solidFill>
          <a:ln w="12700">
            <a:solidFill>
              <a:srgbClr val="00B4D8"/>
            </a:solidFill>
            <a:prstDash val="solid"/>
          </a:ln>
        </p:spPr>
        <p:txBody>
          <a:bodyPr/>
          <a:lstStyle/>
          <a:p>
            <a:endParaRPr lang="en-IN"/>
          </a:p>
        </p:txBody>
      </p:sp>
      <p:sp>
        <p:nvSpPr>
          <p:cNvPr id="6" name="Text 4"/>
          <p:cNvSpPr/>
          <p:nvPr/>
        </p:nvSpPr>
        <p:spPr>
          <a:xfrm>
            <a:off x="228600" y="777240"/>
            <a:ext cx="1097280" cy="411480"/>
          </a:xfrm>
          <a:prstGeom prst="rect">
            <a:avLst/>
          </a:prstGeom>
          <a:noFill/>
          <a:ln/>
        </p:spPr>
        <p:txBody>
          <a:bodyPr wrap="square" rtlCol="0" anchor="ctr"/>
          <a:lstStyle/>
          <a:p>
            <a:pPr marL="0" indent="0" algn="ctr">
              <a:buNone/>
            </a:pPr>
            <a:r>
              <a:rPr lang="en-US" sz="1000" b="1" dirty="0">
                <a:solidFill>
                  <a:srgbClr val="FFFFFF"/>
                </a:solidFill>
              </a:rPr>
              <a:t>Attack</a:t>
            </a:r>
            <a:endParaRPr lang="en-US" sz="1000" dirty="0"/>
          </a:p>
        </p:txBody>
      </p:sp>
      <p:sp>
        <p:nvSpPr>
          <p:cNvPr id="7" name="Shape 5"/>
          <p:cNvSpPr/>
          <p:nvPr/>
        </p:nvSpPr>
        <p:spPr>
          <a:xfrm>
            <a:off x="1325880" y="777240"/>
            <a:ext cx="1371600" cy="411480"/>
          </a:xfrm>
          <a:prstGeom prst="rect">
            <a:avLst/>
          </a:prstGeom>
          <a:solidFill>
            <a:srgbClr val="1B4F72"/>
          </a:solidFill>
          <a:ln w="12700">
            <a:solidFill>
              <a:srgbClr val="00B4D8"/>
            </a:solidFill>
            <a:prstDash val="solid"/>
          </a:ln>
        </p:spPr>
        <p:txBody>
          <a:bodyPr/>
          <a:lstStyle/>
          <a:p>
            <a:endParaRPr lang="en-IN"/>
          </a:p>
        </p:txBody>
      </p:sp>
      <p:sp>
        <p:nvSpPr>
          <p:cNvPr id="8" name="Text 6"/>
          <p:cNvSpPr/>
          <p:nvPr/>
        </p:nvSpPr>
        <p:spPr>
          <a:xfrm>
            <a:off x="1325880" y="777240"/>
            <a:ext cx="1371600" cy="411480"/>
          </a:xfrm>
          <a:prstGeom prst="rect">
            <a:avLst/>
          </a:prstGeom>
          <a:noFill/>
          <a:ln/>
        </p:spPr>
        <p:txBody>
          <a:bodyPr wrap="square" rtlCol="0" anchor="ctr"/>
          <a:lstStyle/>
          <a:p>
            <a:pPr marL="0" indent="0" algn="ctr">
              <a:buNone/>
            </a:pPr>
            <a:r>
              <a:rPr lang="en-US" sz="1000" b="1" dirty="0">
                <a:solidFill>
                  <a:srgbClr val="FFFFFF"/>
                </a:solidFill>
              </a:rPr>
              <a:t>FC Code</a:t>
            </a:r>
            <a:endParaRPr lang="en-US" sz="1000" dirty="0"/>
          </a:p>
        </p:txBody>
      </p:sp>
      <p:sp>
        <p:nvSpPr>
          <p:cNvPr id="9" name="Shape 7"/>
          <p:cNvSpPr/>
          <p:nvPr/>
        </p:nvSpPr>
        <p:spPr>
          <a:xfrm>
            <a:off x="2697480" y="777240"/>
            <a:ext cx="2011680" cy="411480"/>
          </a:xfrm>
          <a:prstGeom prst="rect">
            <a:avLst/>
          </a:prstGeom>
          <a:solidFill>
            <a:srgbClr val="1B4F72"/>
          </a:solidFill>
          <a:ln w="12700">
            <a:solidFill>
              <a:srgbClr val="00B4D8"/>
            </a:solidFill>
            <a:prstDash val="solid"/>
          </a:ln>
        </p:spPr>
        <p:txBody>
          <a:bodyPr/>
          <a:lstStyle/>
          <a:p>
            <a:endParaRPr lang="en-IN"/>
          </a:p>
        </p:txBody>
      </p:sp>
      <p:sp>
        <p:nvSpPr>
          <p:cNvPr id="10" name="Text 8"/>
          <p:cNvSpPr/>
          <p:nvPr/>
        </p:nvSpPr>
        <p:spPr>
          <a:xfrm>
            <a:off x="2697480" y="777240"/>
            <a:ext cx="2011680" cy="411480"/>
          </a:xfrm>
          <a:prstGeom prst="rect">
            <a:avLst/>
          </a:prstGeom>
          <a:noFill/>
          <a:ln/>
        </p:spPr>
        <p:txBody>
          <a:bodyPr wrap="square" rtlCol="0" anchor="ctr"/>
          <a:lstStyle/>
          <a:p>
            <a:pPr marL="0" indent="0" algn="ctr">
              <a:buNone/>
            </a:pPr>
            <a:r>
              <a:rPr lang="en-US" sz="1000" b="1" dirty="0">
                <a:solidFill>
                  <a:srgbClr val="FFFFFF"/>
                </a:solidFill>
              </a:rPr>
              <a:t>MITRE ID</a:t>
            </a:r>
            <a:endParaRPr lang="en-US" sz="1000" dirty="0"/>
          </a:p>
        </p:txBody>
      </p:sp>
      <p:sp>
        <p:nvSpPr>
          <p:cNvPr id="11" name="Shape 9"/>
          <p:cNvSpPr/>
          <p:nvPr/>
        </p:nvSpPr>
        <p:spPr>
          <a:xfrm>
            <a:off x="4709160" y="777240"/>
            <a:ext cx="2011680" cy="411480"/>
          </a:xfrm>
          <a:prstGeom prst="rect">
            <a:avLst/>
          </a:prstGeom>
          <a:solidFill>
            <a:srgbClr val="1B4F72"/>
          </a:solidFill>
          <a:ln w="12700">
            <a:solidFill>
              <a:srgbClr val="00B4D8"/>
            </a:solidFill>
            <a:prstDash val="solid"/>
          </a:ln>
        </p:spPr>
        <p:txBody>
          <a:bodyPr/>
          <a:lstStyle/>
          <a:p>
            <a:endParaRPr lang="en-IN"/>
          </a:p>
        </p:txBody>
      </p:sp>
      <p:sp>
        <p:nvSpPr>
          <p:cNvPr id="12" name="Text 10"/>
          <p:cNvSpPr/>
          <p:nvPr/>
        </p:nvSpPr>
        <p:spPr>
          <a:xfrm>
            <a:off x="4709160" y="777240"/>
            <a:ext cx="2011680" cy="411480"/>
          </a:xfrm>
          <a:prstGeom prst="rect">
            <a:avLst/>
          </a:prstGeom>
          <a:noFill/>
          <a:ln/>
        </p:spPr>
        <p:txBody>
          <a:bodyPr wrap="square" rtlCol="0" anchor="ctr"/>
          <a:lstStyle/>
          <a:p>
            <a:pPr marL="0" indent="0" algn="ctr">
              <a:buNone/>
            </a:pPr>
            <a:r>
              <a:rPr lang="en-US" sz="1000" b="1" dirty="0">
                <a:solidFill>
                  <a:srgbClr val="FFFFFF"/>
                </a:solidFill>
              </a:rPr>
              <a:t>Technique Name</a:t>
            </a:r>
            <a:endParaRPr lang="en-US" sz="1000" dirty="0"/>
          </a:p>
        </p:txBody>
      </p:sp>
      <p:sp>
        <p:nvSpPr>
          <p:cNvPr id="13" name="Shape 11"/>
          <p:cNvSpPr/>
          <p:nvPr/>
        </p:nvSpPr>
        <p:spPr>
          <a:xfrm>
            <a:off x="6720840" y="777240"/>
            <a:ext cx="1371600" cy="411480"/>
          </a:xfrm>
          <a:prstGeom prst="rect">
            <a:avLst/>
          </a:prstGeom>
          <a:solidFill>
            <a:srgbClr val="1B4F72"/>
          </a:solidFill>
          <a:ln w="12700">
            <a:solidFill>
              <a:srgbClr val="00B4D8"/>
            </a:solidFill>
            <a:prstDash val="solid"/>
          </a:ln>
        </p:spPr>
        <p:txBody>
          <a:bodyPr/>
          <a:lstStyle/>
          <a:p>
            <a:endParaRPr lang="en-IN"/>
          </a:p>
        </p:txBody>
      </p:sp>
      <p:sp>
        <p:nvSpPr>
          <p:cNvPr id="14" name="Text 12"/>
          <p:cNvSpPr/>
          <p:nvPr/>
        </p:nvSpPr>
        <p:spPr>
          <a:xfrm>
            <a:off x="6720840" y="777240"/>
            <a:ext cx="1371600" cy="411480"/>
          </a:xfrm>
          <a:prstGeom prst="rect">
            <a:avLst/>
          </a:prstGeom>
          <a:noFill/>
          <a:ln/>
        </p:spPr>
        <p:txBody>
          <a:bodyPr wrap="square" rtlCol="0" anchor="ctr"/>
          <a:lstStyle/>
          <a:p>
            <a:pPr marL="0" indent="0" algn="ctr">
              <a:buNone/>
            </a:pPr>
            <a:r>
              <a:rPr lang="en-US" sz="1000" b="1" dirty="0">
                <a:solidFill>
                  <a:srgbClr val="FFFFFF"/>
                </a:solidFill>
              </a:rPr>
              <a:t>Tactic</a:t>
            </a:r>
            <a:endParaRPr lang="en-US" sz="1000" dirty="0"/>
          </a:p>
        </p:txBody>
      </p:sp>
      <p:sp>
        <p:nvSpPr>
          <p:cNvPr id="15" name="Shape 13"/>
          <p:cNvSpPr/>
          <p:nvPr/>
        </p:nvSpPr>
        <p:spPr>
          <a:xfrm>
            <a:off x="8092440" y="777240"/>
            <a:ext cx="1097280" cy="411480"/>
          </a:xfrm>
          <a:prstGeom prst="rect">
            <a:avLst/>
          </a:prstGeom>
          <a:solidFill>
            <a:srgbClr val="1B4F72"/>
          </a:solidFill>
          <a:ln w="12700">
            <a:solidFill>
              <a:srgbClr val="00B4D8"/>
            </a:solidFill>
            <a:prstDash val="solid"/>
          </a:ln>
        </p:spPr>
        <p:txBody>
          <a:bodyPr/>
          <a:lstStyle/>
          <a:p>
            <a:endParaRPr lang="en-IN"/>
          </a:p>
        </p:txBody>
      </p:sp>
      <p:sp>
        <p:nvSpPr>
          <p:cNvPr id="16" name="Text 14"/>
          <p:cNvSpPr/>
          <p:nvPr/>
        </p:nvSpPr>
        <p:spPr>
          <a:xfrm>
            <a:off x="8092440" y="777240"/>
            <a:ext cx="1097280" cy="411480"/>
          </a:xfrm>
          <a:prstGeom prst="rect">
            <a:avLst/>
          </a:prstGeom>
          <a:noFill/>
          <a:ln/>
        </p:spPr>
        <p:txBody>
          <a:bodyPr wrap="square" rtlCol="0" anchor="ctr"/>
          <a:lstStyle/>
          <a:p>
            <a:pPr marL="0" indent="0" algn="ctr">
              <a:buNone/>
            </a:pPr>
            <a:r>
              <a:rPr lang="en-US" sz="1000" b="1" dirty="0">
                <a:solidFill>
                  <a:srgbClr val="FFFFFF"/>
                </a:solidFill>
              </a:rPr>
              <a:t>Rule / Level</a:t>
            </a:r>
            <a:endParaRPr lang="en-US" sz="1000" dirty="0"/>
          </a:p>
        </p:txBody>
      </p:sp>
      <p:sp>
        <p:nvSpPr>
          <p:cNvPr id="17" name="Shape 15"/>
          <p:cNvSpPr/>
          <p:nvPr/>
        </p:nvSpPr>
        <p:spPr>
          <a:xfrm>
            <a:off x="228600" y="1188720"/>
            <a:ext cx="1097280" cy="457200"/>
          </a:xfrm>
          <a:prstGeom prst="rect">
            <a:avLst/>
          </a:prstGeom>
          <a:solidFill>
            <a:srgbClr val="0A1628"/>
          </a:solidFill>
          <a:ln w="6350">
            <a:solidFill>
              <a:srgbClr val="1B4F72"/>
            </a:solidFill>
            <a:prstDash val="solid"/>
          </a:ln>
        </p:spPr>
        <p:txBody>
          <a:bodyPr/>
          <a:lstStyle/>
          <a:p>
            <a:endParaRPr lang="en-IN"/>
          </a:p>
        </p:txBody>
      </p:sp>
      <p:sp>
        <p:nvSpPr>
          <p:cNvPr id="18" name="Text 16"/>
          <p:cNvSpPr/>
          <p:nvPr/>
        </p:nvSpPr>
        <p:spPr>
          <a:xfrm>
            <a:off x="228600" y="1188720"/>
            <a:ext cx="1097280" cy="457200"/>
          </a:xfrm>
          <a:prstGeom prst="rect">
            <a:avLst/>
          </a:prstGeom>
          <a:noFill/>
          <a:ln/>
        </p:spPr>
        <p:txBody>
          <a:bodyPr wrap="square" rtlCol="0" anchor="ctr"/>
          <a:lstStyle/>
          <a:p>
            <a:pPr marL="0" indent="0" algn="ctr">
              <a:buNone/>
            </a:pPr>
            <a:r>
              <a:rPr lang="en-US" sz="1000" dirty="0">
                <a:solidFill>
                  <a:srgbClr val="FFFFFF"/>
                </a:solidFill>
              </a:rPr>
              <a:t>Recon</a:t>
            </a:r>
            <a:endParaRPr lang="en-US" sz="1000" dirty="0"/>
          </a:p>
        </p:txBody>
      </p:sp>
      <p:sp>
        <p:nvSpPr>
          <p:cNvPr id="19" name="Shape 17"/>
          <p:cNvSpPr/>
          <p:nvPr/>
        </p:nvSpPr>
        <p:spPr>
          <a:xfrm>
            <a:off x="1325880" y="1188720"/>
            <a:ext cx="1371600" cy="457200"/>
          </a:xfrm>
          <a:prstGeom prst="rect">
            <a:avLst/>
          </a:prstGeom>
          <a:solidFill>
            <a:srgbClr val="0A1628"/>
          </a:solidFill>
          <a:ln w="6350">
            <a:solidFill>
              <a:srgbClr val="1B4F72"/>
            </a:solidFill>
            <a:prstDash val="solid"/>
          </a:ln>
        </p:spPr>
        <p:txBody>
          <a:bodyPr/>
          <a:lstStyle/>
          <a:p>
            <a:endParaRPr lang="en-IN"/>
          </a:p>
        </p:txBody>
      </p:sp>
      <p:sp>
        <p:nvSpPr>
          <p:cNvPr id="20" name="Text 18"/>
          <p:cNvSpPr/>
          <p:nvPr/>
        </p:nvSpPr>
        <p:spPr>
          <a:xfrm>
            <a:off x="1325880" y="1188720"/>
            <a:ext cx="1371600" cy="457200"/>
          </a:xfrm>
          <a:prstGeom prst="rect">
            <a:avLst/>
          </a:prstGeom>
          <a:noFill/>
          <a:ln/>
        </p:spPr>
        <p:txBody>
          <a:bodyPr wrap="square" rtlCol="0" anchor="ctr"/>
          <a:lstStyle/>
          <a:p>
            <a:pPr marL="0" indent="0" algn="ctr">
              <a:buNone/>
            </a:pPr>
            <a:r>
              <a:rPr lang="en-US" sz="1000" dirty="0">
                <a:solidFill>
                  <a:srgbClr val="FFFFFF"/>
                </a:solidFill>
              </a:rPr>
              <a:t>FC03</a:t>
            </a:r>
            <a:endParaRPr lang="en-US" sz="1000" dirty="0"/>
          </a:p>
        </p:txBody>
      </p:sp>
      <p:sp>
        <p:nvSpPr>
          <p:cNvPr id="21" name="Shape 19"/>
          <p:cNvSpPr/>
          <p:nvPr/>
        </p:nvSpPr>
        <p:spPr>
          <a:xfrm>
            <a:off x="2697480" y="1188720"/>
            <a:ext cx="2011680" cy="457200"/>
          </a:xfrm>
          <a:prstGeom prst="rect">
            <a:avLst/>
          </a:prstGeom>
          <a:solidFill>
            <a:srgbClr val="0A1628"/>
          </a:solidFill>
          <a:ln w="6350">
            <a:solidFill>
              <a:srgbClr val="1B4F72"/>
            </a:solidFill>
            <a:prstDash val="solid"/>
          </a:ln>
        </p:spPr>
        <p:txBody>
          <a:bodyPr/>
          <a:lstStyle/>
          <a:p>
            <a:endParaRPr lang="en-IN"/>
          </a:p>
        </p:txBody>
      </p:sp>
      <p:sp>
        <p:nvSpPr>
          <p:cNvPr id="22" name="Text 20"/>
          <p:cNvSpPr/>
          <p:nvPr/>
        </p:nvSpPr>
        <p:spPr>
          <a:xfrm>
            <a:off x="2697480" y="1188720"/>
            <a:ext cx="2011680" cy="457200"/>
          </a:xfrm>
          <a:prstGeom prst="rect">
            <a:avLst/>
          </a:prstGeom>
          <a:noFill/>
          <a:ln/>
        </p:spPr>
        <p:txBody>
          <a:bodyPr wrap="square" rtlCol="0" anchor="ctr"/>
          <a:lstStyle/>
          <a:p>
            <a:pPr marL="0" indent="0" algn="ctr">
              <a:buNone/>
            </a:pPr>
            <a:r>
              <a:rPr lang="en-US" sz="1000" b="1" dirty="0">
                <a:solidFill>
                  <a:srgbClr val="F4A261"/>
                </a:solidFill>
              </a:rPr>
              <a:t>T0846</a:t>
            </a:r>
            <a:endParaRPr lang="en-US" sz="1000" dirty="0"/>
          </a:p>
        </p:txBody>
      </p:sp>
      <p:sp>
        <p:nvSpPr>
          <p:cNvPr id="23" name="Shape 21"/>
          <p:cNvSpPr/>
          <p:nvPr/>
        </p:nvSpPr>
        <p:spPr>
          <a:xfrm>
            <a:off x="4709160" y="1188720"/>
            <a:ext cx="2011680" cy="457200"/>
          </a:xfrm>
          <a:prstGeom prst="rect">
            <a:avLst/>
          </a:prstGeom>
          <a:solidFill>
            <a:srgbClr val="0A1628"/>
          </a:solidFill>
          <a:ln w="6350">
            <a:solidFill>
              <a:srgbClr val="1B4F72"/>
            </a:solidFill>
            <a:prstDash val="solid"/>
          </a:ln>
        </p:spPr>
        <p:txBody>
          <a:bodyPr/>
          <a:lstStyle/>
          <a:p>
            <a:endParaRPr lang="en-IN"/>
          </a:p>
        </p:txBody>
      </p:sp>
      <p:sp>
        <p:nvSpPr>
          <p:cNvPr id="24" name="Text 22"/>
          <p:cNvSpPr/>
          <p:nvPr/>
        </p:nvSpPr>
        <p:spPr>
          <a:xfrm>
            <a:off x="4709160" y="1188720"/>
            <a:ext cx="2011680" cy="457200"/>
          </a:xfrm>
          <a:prstGeom prst="rect">
            <a:avLst/>
          </a:prstGeom>
          <a:noFill/>
          <a:ln/>
        </p:spPr>
        <p:txBody>
          <a:bodyPr wrap="square" rtlCol="0" anchor="ctr"/>
          <a:lstStyle/>
          <a:p>
            <a:pPr marL="0" indent="0" algn="ctr">
              <a:buNone/>
            </a:pPr>
            <a:r>
              <a:rPr lang="en-US" sz="1000" dirty="0">
                <a:solidFill>
                  <a:srgbClr val="FFFFFF"/>
                </a:solidFill>
              </a:rPr>
              <a:t>Remote System Discovery</a:t>
            </a:r>
            <a:endParaRPr lang="en-US" sz="1000" dirty="0"/>
          </a:p>
        </p:txBody>
      </p:sp>
      <p:sp>
        <p:nvSpPr>
          <p:cNvPr id="25" name="Shape 23"/>
          <p:cNvSpPr/>
          <p:nvPr/>
        </p:nvSpPr>
        <p:spPr>
          <a:xfrm>
            <a:off x="6720840" y="1188720"/>
            <a:ext cx="1371600" cy="457200"/>
          </a:xfrm>
          <a:prstGeom prst="rect">
            <a:avLst/>
          </a:prstGeom>
          <a:solidFill>
            <a:srgbClr val="0A1628"/>
          </a:solidFill>
          <a:ln w="6350">
            <a:solidFill>
              <a:srgbClr val="1B4F72"/>
            </a:solidFill>
            <a:prstDash val="solid"/>
          </a:ln>
        </p:spPr>
        <p:txBody>
          <a:bodyPr/>
          <a:lstStyle/>
          <a:p>
            <a:endParaRPr lang="en-IN"/>
          </a:p>
        </p:txBody>
      </p:sp>
      <p:sp>
        <p:nvSpPr>
          <p:cNvPr id="26" name="Text 24"/>
          <p:cNvSpPr/>
          <p:nvPr/>
        </p:nvSpPr>
        <p:spPr>
          <a:xfrm>
            <a:off x="6720840" y="1188720"/>
            <a:ext cx="1371600" cy="457200"/>
          </a:xfrm>
          <a:prstGeom prst="rect">
            <a:avLst/>
          </a:prstGeom>
          <a:noFill/>
          <a:ln/>
        </p:spPr>
        <p:txBody>
          <a:bodyPr wrap="square" rtlCol="0" anchor="ctr"/>
          <a:lstStyle/>
          <a:p>
            <a:pPr marL="0" indent="0" algn="ctr">
              <a:buNone/>
            </a:pPr>
            <a:r>
              <a:rPr lang="en-US" sz="1000" dirty="0">
                <a:solidFill>
                  <a:srgbClr val="FFFFFF"/>
                </a:solidFill>
              </a:rPr>
              <a:t>Discovery</a:t>
            </a:r>
            <a:endParaRPr lang="en-US" sz="1000" dirty="0"/>
          </a:p>
        </p:txBody>
      </p:sp>
      <p:sp>
        <p:nvSpPr>
          <p:cNvPr id="27" name="Shape 25"/>
          <p:cNvSpPr/>
          <p:nvPr/>
        </p:nvSpPr>
        <p:spPr>
          <a:xfrm>
            <a:off x="8092440" y="1188720"/>
            <a:ext cx="1097280" cy="457200"/>
          </a:xfrm>
          <a:prstGeom prst="rect">
            <a:avLst/>
          </a:prstGeom>
          <a:solidFill>
            <a:srgbClr val="0A1628"/>
          </a:solidFill>
          <a:ln w="6350">
            <a:solidFill>
              <a:srgbClr val="1B4F72"/>
            </a:solidFill>
            <a:prstDash val="solid"/>
          </a:ln>
        </p:spPr>
        <p:txBody>
          <a:bodyPr/>
          <a:lstStyle/>
          <a:p>
            <a:endParaRPr lang="en-IN"/>
          </a:p>
        </p:txBody>
      </p:sp>
      <p:sp>
        <p:nvSpPr>
          <p:cNvPr id="28" name="Text 26"/>
          <p:cNvSpPr/>
          <p:nvPr/>
        </p:nvSpPr>
        <p:spPr>
          <a:xfrm>
            <a:off x="8092440" y="1188720"/>
            <a:ext cx="1097280" cy="457200"/>
          </a:xfrm>
          <a:prstGeom prst="rect">
            <a:avLst/>
          </a:prstGeom>
          <a:noFill/>
          <a:ln/>
        </p:spPr>
        <p:txBody>
          <a:bodyPr wrap="square" rtlCol="0" anchor="ctr"/>
          <a:lstStyle/>
          <a:p>
            <a:pPr marL="0" indent="0" algn="ctr">
              <a:buNone/>
            </a:pPr>
            <a:r>
              <a:rPr lang="en-US" sz="1000" dirty="0">
                <a:solidFill>
                  <a:srgbClr val="00B4D8"/>
                </a:solidFill>
              </a:rPr>
              <a:t>100510 / L7</a:t>
            </a:r>
            <a:endParaRPr lang="en-US" sz="1000" dirty="0"/>
          </a:p>
        </p:txBody>
      </p:sp>
      <p:sp>
        <p:nvSpPr>
          <p:cNvPr id="29" name="Shape 27"/>
          <p:cNvSpPr/>
          <p:nvPr/>
        </p:nvSpPr>
        <p:spPr>
          <a:xfrm>
            <a:off x="228600" y="1691640"/>
            <a:ext cx="1097280" cy="457200"/>
          </a:xfrm>
          <a:prstGeom prst="rect">
            <a:avLst/>
          </a:prstGeom>
          <a:solidFill>
            <a:srgbClr val="0D1E30"/>
          </a:solidFill>
          <a:ln w="6350">
            <a:solidFill>
              <a:srgbClr val="1B4F72"/>
            </a:solidFill>
            <a:prstDash val="solid"/>
          </a:ln>
        </p:spPr>
        <p:txBody>
          <a:bodyPr/>
          <a:lstStyle/>
          <a:p>
            <a:endParaRPr lang="en-IN"/>
          </a:p>
        </p:txBody>
      </p:sp>
      <p:sp>
        <p:nvSpPr>
          <p:cNvPr id="30" name="Text 28"/>
          <p:cNvSpPr/>
          <p:nvPr/>
        </p:nvSpPr>
        <p:spPr>
          <a:xfrm>
            <a:off x="228600" y="1691640"/>
            <a:ext cx="1097280" cy="457200"/>
          </a:xfrm>
          <a:prstGeom prst="rect">
            <a:avLst/>
          </a:prstGeom>
          <a:noFill/>
          <a:ln/>
        </p:spPr>
        <p:txBody>
          <a:bodyPr wrap="square" rtlCol="0" anchor="ctr"/>
          <a:lstStyle/>
          <a:p>
            <a:pPr marL="0" indent="0" algn="ctr">
              <a:buNone/>
            </a:pPr>
            <a:r>
              <a:rPr lang="en-US" sz="1000" dirty="0">
                <a:solidFill>
                  <a:srgbClr val="FFFFFF"/>
                </a:solidFill>
              </a:rPr>
              <a:t>Write Single</a:t>
            </a:r>
            <a:endParaRPr lang="en-US" sz="1000" dirty="0"/>
          </a:p>
        </p:txBody>
      </p:sp>
      <p:sp>
        <p:nvSpPr>
          <p:cNvPr id="31" name="Shape 29"/>
          <p:cNvSpPr/>
          <p:nvPr/>
        </p:nvSpPr>
        <p:spPr>
          <a:xfrm>
            <a:off x="1325880" y="1691640"/>
            <a:ext cx="1371600" cy="457200"/>
          </a:xfrm>
          <a:prstGeom prst="rect">
            <a:avLst/>
          </a:prstGeom>
          <a:solidFill>
            <a:srgbClr val="0D1E30"/>
          </a:solidFill>
          <a:ln w="6350">
            <a:solidFill>
              <a:srgbClr val="1B4F72"/>
            </a:solidFill>
            <a:prstDash val="solid"/>
          </a:ln>
        </p:spPr>
        <p:txBody>
          <a:bodyPr/>
          <a:lstStyle/>
          <a:p>
            <a:endParaRPr lang="en-IN"/>
          </a:p>
        </p:txBody>
      </p:sp>
      <p:sp>
        <p:nvSpPr>
          <p:cNvPr id="32" name="Text 30"/>
          <p:cNvSpPr/>
          <p:nvPr/>
        </p:nvSpPr>
        <p:spPr>
          <a:xfrm>
            <a:off x="1325880" y="1691640"/>
            <a:ext cx="1371600" cy="457200"/>
          </a:xfrm>
          <a:prstGeom prst="rect">
            <a:avLst/>
          </a:prstGeom>
          <a:noFill/>
          <a:ln/>
        </p:spPr>
        <p:txBody>
          <a:bodyPr wrap="square" rtlCol="0" anchor="ctr"/>
          <a:lstStyle/>
          <a:p>
            <a:pPr marL="0" indent="0" algn="ctr">
              <a:buNone/>
            </a:pPr>
            <a:r>
              <a:rPr lang="en-US" sz="1000" dirty="0">
                <a:solidFill>
                  <a:srgbClr val="FFFFFF"/>
                </a:solidFill>
              </a:rPr>
              <a:t>FC06</a:t>
            </a:r>
            <a:endParaRPr lang="en-US" sz="1000" dirty="0"/>
          </a:p>
        </p:txBody>
      </p:sp>
      <p:sp>
        <p:nvSpPr>
          <p:cNvPr id="33" name="Shape 31"/>
          <p:cNvSpPr/>
          <p:nvPr/>
        </p:nvSpPr>
        <p:spPr>
          <a:xfrm>
            <a:off x="2697480" y="1691640"/>
            <a:ext cx="2011680" cy="457200"/>
          </a:xfrm>
          <a:prstGeom prst="rect">
            <a:avLst/>
          </a:prstGeom>
          <a:solidFill>
            <a:srgbClr val="0D1E30"/>
          </a:solidFill>
          <a:ln w="6350">
            <a:solidFill>
              <a:srgbClr val="1B4F72"/>
            </a:solidFill>
            <a:prstDash val="solid"/>
          </a:ln>
        </p:spPr>
        <p:txBody>
          <a:bodyPr/>
          <a:lstStyle/>
          <a:p>
            <a:endParaRPr lang="en-IN"/>
          </a:p>
        </p:txBody>
      </p:sp>
      <p:sp>
        <p:nvSpPr>
          <p:cNvPr id="34" name="Text 32"/>
          <p:cNvSpPr/>
          <p:nvPr/>
        </p:nvSpPr>
        <p:spPr>
          <a:xfrm>
            <a:off x="2697480" y="1691640"/>
            <a:ext cx="2011680" cy="457200"/>
          </a:xfrm>
          <a:prstGeom prst="rect">
            <a:avLst/>
          </a:prstGeom>
          <a:noFill/>
          <a:ln/>
        </p:spPr>
        <p:txBody>
          <a:bodyPr wrap="square" rtlCol="0" anchor="ctr"/>
          <a:lstStyle/>
          <a:p>
            <a:pPr marL="0" indent="0" algn="ctr">
              <a:buNone/>
            </a:pPr>
            <a:r>
              <a:rPr lang="en-US" sz="1000" b="1" dirty="0">
                <a:solidFill>
                  <a:srgbClr val="F4A261"/>
                </a:solidFill>
              </a:rPr>
              <a:t>T0831</a:t>
            </a:r>
            <a:endParaRPr lang="en-US" sz="1000" dirty="0"/>
          </a:p>
        </p:txBody>
      </p:sp>
      <p:sp>
        <p:nvSpPr>
          <p:cNvPr id="35" name="Shape 33"/>
          <p:cNvSpPr/>
          <p:nvPr/>
        </p:nvSpPr>
        <p:spPr>
          <a:xfrm>
            <a:off x="4709160" y="1691640"/>
            <a:ext cx="2011680" cy="457200"/>
          </a:xfrm>
          <a:prstGeom prst="rect">
            <a:avLst/>
          </a:prstGeom>
          <a:solidFill>
            <a:srgbClr val="0D1E30"/>
          </a:solidFill>
          <a:ln w="6350">
            <a:solidFill>
              <a:srgbClr val="1B4F72"/>
            </a:solidFill>
            <a:prstDash val="solid"/>
          </a:ln>
        </p:spPr>
        <p:txBody>
          <a:bodyPr/>
          <a:lstStyle/>
          <a:p>
            <a:endParaRPr lang="en-IN"/>
          </a:p>
        </p:txBody>
      </p:sp>
      <p:sp>
        <p:nvSpPr>
          <p:cNvPr id="36" name="Text 34"/>
          <p:cNvSpPr/>
          <p:nvPr/>
        </p:nvSpPr>
        <p:spPr>
          <a:xfrm>
            <a:off x="4709160" y="1691640"/>
            <a:ext cx="2011680" cy="457200"/>
          </a:xfrm>
          <a:prstGeom prst="rect">
            <a:avLst/>
          </a:prstGeom>
          <a:noFill/>
          <a:ln/>
        </p:spPr>
        <p:txBody>
          <a:bodyPr wrap="square" rtlCol="0" anchor="ctr"/>
          <a:lstStyle/>
          <a:p>
            <a:pPr marL="0" indent="0" algn="ctr">
              <a:buNone/>
            </a:pPr>
            <a:r>
              <a:rPr lang="en-US" sz="1000" dirty="0">
                <a:solidFill>
                  <a:srgbClr val="FFFFFF"/>
                </a:solidFill>
              </a:rPr>
              <a:t>Manipulation of Control</a:t>
            </a:r>
            <a:endParaRPr lang="en-US" sz="1000" dirty="0"/>
          </a:p>
        </p:txBody>
      </p:sp>
      <p:sp>
        <p:nvSpPr>
          <p:cNvPr id="37" name="Shape 35"/>
          <p:cNvSpPr/>
          <p:nvPr/>
        </p:nvSpPr>
        <p:spPr>
          <a:xfrm>
            <a:off x="6720840" y="1691640"/>
            <a:ext cx="1371600" cy="457200"/>
          </a:xfrm>
          <a:prstGeom prst="rect">
            <a:avLst/>
          </a:prstGeom>
          <a:solidFill>
            <a:srgbClr val="0D1E30"/>
          </a:solidFill>
          <a:ln w="6350">
            <a:solidFill>
              <a:srgbClr val="1B4F72"/>
            </a:solidFill>
            <a:prstDash val="solid"/>
          </a:ln>
        </p:spPr>
        <p:txBody>
          <a:bodyPr/>
          <a:lstStyle/>
          <a:p>
            <a:endParaRPr lang="en-IN"/>
          </a:p>
        </p:txBody>
      </p:sp>
      <p:sp>
        <p:nvSpPr>
          <p:cNvPr id="38" name="Text 36"/>
          <p:cNvSpPr/>
          <p:nvPr/>
        </p:nvSpPr>
        <p:spPr>
          <a:xfrm>
            <a:off x="6720840" y="1691640"/>
            <a:ext cx="1371600" cy="457200"/>
          </a:xfrm>
          <a:prstGeom prst="rect">
            <a:avLst/>
          </a:prstGeom>
          <a:noFill/>
          <a:ln/>
        </p:spPr>
        <p:txBody>
          <a:bodyPr wrap="square" rtlCol="0" anchor="ctr"/>
          <a:lstStyle/>
          <a:p>
            <a:pPr marL="0" indent="0" algn="ctr">
              <a:buNone/>
            </a:pPr>
            <a:r>
              <a:rPr lang="en-US" sz="1000" dirty="0">
                <a:solidFill>
                  <a:srgbClr val="FFFFFF"/>
                </a:solidFill>
              </a:rPr>
              <a:t>Impair Process</a:t>
            </a:r>
            <a:endParaRPr lang="en-US" sz="1000" dirty="0"/>
          </a:p>
        </p:txBody>
      </p:sp>
      <p:sp>
        <p:nvSpPr>
          <p:cNvPr id="39" name="Shape 37"/>
          <p:cNvSpPr/>
          <p:nvPr/>
        </p:nvSpPr>
        <p:spPr>
          <a:xfrm>
            <a:off x="8092440" y="1691640"/>
            <a:ext cx="1097280" cy="457200"/>
          </a:xfrm>
          <a:prstGeom prst="rect">
            <a:avLst/>
          </a:prstGeom>
          <a:solidFill>
            <a:srgbClr val="0D1E30"/>
          </a:solidFill>
          <a:ln w="6350">
            <a:solidFill>
              <a:srgbClr val="1B4F72"/>
            </a:solidFill>
            <a:prstDash val="solid"/>
          </a:ln>
        </p:spPr>
        <p:txBody>
          <a:bodyPr/>
          <a:lstStyle/>
          <a:p>
            <a:endParaRPr lang="en-IN"/>
          </a:p>
        </p:txBody>
      </p:sp>
      <p:sp>
        <p:nvSpPr>
          <p:cNvPr id="40" name="Text 38"/>
          <p:cNvSpPr/>
          <p:nvPr/>
        </p:nvSpPr>
        <p:spPr>
          <a:xfrm>
            <a:off x="8092440" y="1691640"/>
            <a:ext cx="1097280" cy="457200"/>
          </a:xfrm>
          <a:prstGeom prst="rect">
            <a:avLst/>
          </a:prstGeom>
          <a:noFill/>
          <a:ln/>
        </p:spPr>
        <p:txBody>
          <a:bodyPr wrap="square" rtlCol="0" anchor="ctr"/>
          <a:lstStyle/>
          <a:p>
            <a:pPr marL="0" indent="0" algn="ctr">
              <a:buNone/>
            </a:pPr>
            <a:r>
              <a:rPr lang="en-US" sz="1000" dirty="0">
                <a:solidFill>
                  <a:srgbClr val="00B4D8"/>
                </a:solidFill>
              </a:rPr>
              <a:t>100502 / L10</a:t>
            </a:r>
            <a:endParaRPr lang="en-US" sz="1000" dirty="0"/>
          </a:p>
        </p:txBody>
      </p:sp>
      <p:sp>
        <p:nvSpPr>
          <p:cNvPr id="41" name="Shape 39"/>
          <p:cNvSpPr/>
          <p:nvPr/>
        </p:nvSpPr>
        <p:spPr>
          <a:xfrm>
            <a:off x="228600" y="2194560"/>
            <a:ext cx="1097280" cy="457200"/>
          </a:xfrm>
          <a:prstGeom prst="rect">
            <a:avLst/>
          </a:prstGeom>
          <a:solidFill>
            <a:srgbClr val="0A1628"/>
          </a:solidFill>
          <a:ln w="6350">
            <a:solidFill>
              <a:srgbClr val="1B4F72"/>
            </a:solidFill>
            <a:prstDash val="solid"/>
          </a:ln>
        </p:spPr>
        <p:txBody>
          <a:bodyPr/>
          <a:lstStyle/>
          <a:p>
            <a:endParaRPr lang="en-IN"/>
          </a:p>
        </p:txBody>
      </p:sp>
      <p:sp>
        <p:nvSpPr>
          <p:cNvPr id="42" name="Text 40"/>
          <p:cNvSpPr/>
          <p:nvPr/>
        </p:nvSpPr>
        <p:spPr>
          <a:xfrm>
            <a:off x="228600" y="2194560"/>
            <a:ext cx="1097280" cy="457200"/>
          </a:xfrm>
          <a:prstGeom prst="rect">
            <a:avLst/>
          </a:prstGeom>
          <a:noFill/>
          <a:ln/>
        </p:spPr>
        <p:txBody>
          <a:bodyPr wrap="square" rtlCol="0" anchor="ctr"/>
          <a:lstStyle/>
          <a:p>
            <a:pPr marL="0" indent="0" algn="ctr">
              <a:buNone/>
            </a:pPr>
            <a:r>
              <a:rPr lang="en-US" sz="1000" dirty="0">
                <a:solidFill>
                  <a:srgbClr val="FFFFFF"/>
                </a:solidFill>
              </a:rPr>
              <a:t>Write Multi</a:t>
            </a:r>
            <a:endParaRPr lang="en-US" sz="1000" dirty="0"/>
          </a:p>
        </p:txBody>
      </p:sp>
      <p:sp>
        <p:nvSpPr>
          <p:cNvPr id="43" name="Shape 41"/>
          <p:cNvSpPr/>
          <p:nvPr/>
        </p:nvSpPr>
        <p:spPr>
          <a:xfrm>
            <a:off x="1325880" y="2194560"/>
            <a:ext cx="1371600" cy="457200"/>
          </a:xfrm>
          <a:prstGeom prst="rect">
            <a:avLst/>
          </a:prstGeom>
          <a:solidFill>
            <a:srgbClr val="0A1628"/>
          </a:solidFill>
          <a:ln w="6350">
            <a:solidFill>
              <a:srgbClr val="1B4F72"/>
            </a:solidFill>
            <a:prstDash val="solid"/>
          </a:ln>
        </p:spPr>
        <p:txBody>
          <a:bodyPr/>
          <a:lstStyle/>
          <a:p>
            <a:endParaRPr lang="en-IN"/>
          </a:p>
        </p:txBody>
      </p:sp>
      <p:sp>
        <p:nvSpPr>
          <p:cNvPr id="44" name="Text 42"/>
          <p:cNvSpPr/>
          <p:nvPr/>
        </p:nvSpPr>
        <p:spPr>
          <a:xfrm>
            <a:off x="1325880" y="2194560"/>
            <a:ext cx="1371600" cy="457200"/>
          </a:xfrm>
          <a:prstGeom prst="rect">
            <a:avLst/>
          </a:prstGeom>
          <a:noFill/>
          <a:ln/>
        </p:spPr>
        <p:txBody>
          <a:bodyPr wrap="square" rtlCol="0" anchor="ctr"/>
          <a:lstStyle/>
          <a:p>
            <a:pPr marL="0" indent="0" algn="ctr">
              <a:buNone/>
            </a:pPr>
            <a:r>
              <a:rPr lang="en-US" sz="1000" dirty="0">
                <a:solidFill>
                  <a:srgbClr val="FFFFFF"/>
                </a:solidFill>
              </a:rPr>
              <a:t>FC16</a:t>
            </a:r>
            <a:endParaRPr lang="en-US" sz="1000" dirty="0"/>
          </a:p>
        </p:txBody>
      </p:sp>
      <p:sp>
        <p:nvSpPr>
          <p:cNvPr id="45" name="Shape 43"/>
          <p:cNvSpPr/>
          <p:nvPr/>
        </p:nvSpPr>
        <p:spPr>
          <a:xfrm>
            <a:off x="2697480" y="2194560"/>
            <a:ext cx="2011680" cy="457200"/>
          </a:xfrm>
          <a:prstGeom prst="rect">
            <a:avLst/>
          </a:prstGeom>
          <a:solidFill>
            <a:srgbClr val="0A1628"/>
          </a:solidFill>
          <a:ln w="6350">
            <a:solidFill>
              <a:srgbClr val="1B4F72"/>
            </a:solidFill>
            <a:prstDash val="solid"/>
          </a:ln>
        </p:spPr>
        <p:txBody>
          <a:bodyPr/>
          <a:lstStyle/>
          <a:p>
            <a:endParaRPr lang="en-IN"/>
          </a:p>
        </p:txBody>
      </p:sp>
      <p:sp>
        <p:nvSpPr>
          <p:cNvPr id="46" name="Text 44"/>
          <p:cNvSpPr/>
          <p:nvPr/>
        </p:nvSpPr>
        <p:spPr>
          <a:xfrm>
            <a:off x="2697480" y="2194560"/>
            <a:ext cx="2011680" cy="457200"/>
          </a:xfrm>
          <a:prstGeom prst="rect">
            <a:avLst/>
          </a:prstGeom>
          <a:noFill/>
          <a:ln/>
        </p:spPr>
        <p:txBody>
          <a:bodyPr wrap="square" rtlCol="0" anchor="ctr"/>
          <a:lstStyle/>
          <a:p>
            <a:pPr marL="0" indent="0" algn="ctr">
              <a:buNone/>
            </a:pPr>
            <a:r>
              <a:rPr lang="en-US" sz="1000" b="1" dirty="0">
                <a:solidFill>
                  <a:srgbClr val="F4A261"/>
                </a:solidFill>
              </a:rPr>
              <a:t>T0831</a:t>
            </a:r>
            <a:endParaRPr lang="en-US" sz="1000" dirty="0"/>
          </a:p>
        </p:txBody>
      </p:sp>
      <p:sp>
        <p:nvSpPr>
          <p:cNvPr id="47" name="Shape 45"/>
          <p:cNvSpPr/>
          <p:nvPr/>
        </p:nvSpPr>
        <p:spPr>
          <a:xfrm>
            <a:off x="4709160" y="2194560"/>
            <a:ext cx="2011680" cy="457200"/>
          </a:xfrm>
          <a:prstGeom prst="rect">
            <a:avLst/>
          </a:prstGeom>
          <a:solidFill>
            <a:srgbClr val="0A1628"/>
          </a:solidFill>
          <a:ln w="6350">
            <a:solidFill>
              <a:srgbClr val="1B4F72"/>
            </a:solidFill>
            <a:prstDash val="solid"/>
          </a:ln>
        </p:spPr>
        <p:txBody>
          <a:bodyPr/>
          <a:lstStyle/>
          <a:p>
            <a:endParaRPr lang="en-IN"/>
          </a:p>
        </p:txBody>
      </p:sp>
      <p:sp>
        <p:nvSpPr>
          <p:cNvPr id="48" name="Text 46"/>
          <p:cNvSpPr/>
          <p:nvPr/>
        </p:nvSpPr>
        <p:spPr>
          <a:xfrm>
            <a:off x="4709160" y="2194560"/>
            <a:ext cx="2011680" cy="457200"/>
          </a:xfrm>
          <a:prstGeom prst="rect">
            <a:avLst/>
          </a:prstGeom>
          <a:noFill/>
          <a:ln/>
        </p:spPr>
        <p:txBody>
          <a:bodyPr wrap="square" rtlCol="0" anchor="ctr"/>
          <a:lstStyle/>
          <a:p>
            <a:pPr marL="0" indent="0" algn="ctr">
              <a:buNone/>
            </a:pPr>
            <a:r>
              <a:rPr lang="en-US" sz="1000" dirty="0">
                <a:solidFill>
                  <a:srgbClr val="FFFFFF"/>
                </a:solidFill>
              </a:rPr>
              <a:t>Manipulation of Control</a:t>
            </a:r>
            <a:endParaRPr lang="en-US" sz="1000" dirty="0"/>
          </a:p>
        </p:txBody>
      </p:sp>
      <p:sp>
        <p:nvSpPr>
          <p:cNvPr id="49" name="Shape 47"/>
          <p:cNvSpPr/>
          <p:nvPr/>
        </p:nvSpPr>
        <p:spPr>
          <a:xfrm>
            <a:off x="6720840" y="2194560"/>
            <a:ext cx="1371600" cy="457200"/>
          </a:xfrm>
          <a:prstGeom prst="rect">
            <a:avLst/>
          </a:prstGeom>
          <a:solidFill>
            <a:srgbClr val="0A1628"/>
          </a:solidFill>
          <a:ln w="6350">
            <a:solidFill>
              <a:srgbClr val="1B4F72"/>
            </a:solidFill>
            <a:prstDash val="solid"/>
          </a:ln>
        </p:spPr>
        <p:txBody>
          <a:bodyPr/>
          <a:lstStyle/>
          <a:p>
            <a:endParaRPr lang="en-IN"/>
          </a:p>
        </p:txBody>
      </p:sp>
      <p:sp>
        <p:nvSpPr>
          <p:cNvPr id="50" name="Text 48"/>
          <p:cNvSpPr/>
          <p:nvPr/>
        </p:nvSpPr>
        <p:spPr>
          <a:xfrm>
            <a:off x="6720840" y="2194560"/>
            <a:ext cx="1371600" cy="457200"/>
          </a:xfrm>
          <a:prstGeom prst="rect">
            <a:avLst/>
          </a:prstGeom>
          <a:noFill/>
          <a:ln/>
        </p:spPr>
        <p:txBody>
          <a:bodyPr wrap="square" rtlCol="0" anchor="ctr"/>
          <a:lstStyle/>
          <a:p>
            <a:pPr marL="0" indent="0" algn="ctr">
              <a:buNone/>
            </a:pPr>
            <a:r>
              <a:rPr lang="en-US" sz="1000" dirty="0">
                <a:solidFill>
                  <a:srgbClr val="FFFFFF"/>
                </a:solidFill>
              </a:rPr>
              <a:t>Impair Process</a:t>
            </a:r>
            <a:endParaRPr lang="en-US" sz="1000" dirty="0"/>
          </a:p>
        </p:txBody>
      </p:sp>
      <p:sp>
        <p:nvSpPr>
          <p:cNvPr id="51" name="Shape 49"/>
          <p:cNvSpPr/>
          <p:nvPr/>
        </p:nvSpPr>
        <p:spPr>
          <a:xfrm>
            <a:off x="8092440" y="2194560"/>
            <a:ext cx="1097280" cy="457200"/>
          </a:xfrm>
          <a:prstGeom prst="rect">
            <a:avLst/>
          </a:prstGeom>
          <a:solidFill>
            <a:srgbClr val="0A1628"/>
          </a:solidFill>
          <a:ln w="6350">
            <a:solidFill>
              <a:srgbClr val="1B4F72"/>
            </a:solidFill>
            <a:prstDash val="solid"/>
          </a:ln>
        </p:spPr>
        <p:txBody>
          <a:bodyPr/>
          <a:lstStyle/>
          <a:p>
            <a:endParaRPr lang="en-IN"/>
          </a:p>
        </p:txBody>
      </p:sp>
      <p:sp>
        <p:nvSpPr>
          <p:cNvPr id="52" name="Text 50"/>
          <p:cNvSpPr/>
          <p:nvPr/>
        </p:nvSpPr>
        <p:spPr>
          <a:xfrm>
            <a:off x="8092440" y="2194560"/>
            <a:ext cx="1097280" cy="457200"/>
          </a:xfrm>
          <a:prstGeom prst="rect">
            <a:avLst/>
          </a:prstGeom>
          <a:noFill/>
          <a:ln/>
        </p:spPr>
        <p:txBody>
          <a:bodyPr wrap="square" rtlCol="0" anchor="ctr"/>
          <a:lstStyle/>
          <a:p>
            <a:pPr marL="0" indent="0" algn="ctr">
              <a:buNone/>
            </a:pPr>
            <a:r>
              <a:rPr lang="en-US" sz="1000" dirty="0">
                <a:solidFill>
                  <a:srgbClr val="00B4D8"/>
                </a:solidFill>
              </a:rPr>
              <a:t>100501 / L12</a:t>
            </a:r>
            <a:endParaRPr lang="en-US" sz="1000" dirty="0"/>
          </a:p>
        </p:txBody>
      </p:sp>
      <p:sp>
        <p:nvSpPr>
          <p:cNvPr id="53" name="Shape 51"/>
          <p:cNvSpPr/>
          <p:nvPr/>
        </p:nvSpPr>
        <p:spPr>
          <a:xfrm>
            <a:off x="228600" y="2697480"/>
            <a:ext cx="1097280" cy="457200"/>
          </a:xfrm>
          <a:prstGeom prst="rect">
            <a:avLst/>
          </a:prstGeom>
          <a:solidFill>
            <a:srgbClr val="0D1E30"/>
          </a:solidFill>
          <a:ln w="6350">
            <a:solidFill>
              <a:srgbClr val="1B4F72"/>
            </a:solidFill>
            <a:prstDash val="solid"/>
          </a:ln>
        </p:spPr>
        <p:txBody>
          <a:bodyPr/>
          <a:lstStyle/>
          <a:p>
            <a:endParaRPr lang="en-IN"/>
          </a:p>
        </p:txBody>
      </p:sp>
      <p:sp>
        <p:nvSpPr>
          <p:cNvPr id="54" name="Text 52"/>
          <p:cNvSpPr/>
          <p:nvPr/>
        </p:nvSpPr>
        <p:spPr>
          <a:xfrm>
            <a:off x="228600" y="2697480"/>
            <a:ext cx="1097280" cy="457200"/>
          </a:xfrm>
          <a:prstGeom prst="rect">
            <a:avLst/>
          </a:prstGeom>
          <a:noFill/>
          <a:ln/>
        </p:spPr>
        <p:txBody>
          <a:bodyPr wrap="square" rtlCol="0" anchor="ctr"/>
          <a:lstStyle/>
          <a:p>
            <a:pPr marL="0" indent="0" algn="ctr">
              <a:buNone/>
            </a:pPr>
            <a:r>
              <a:rPr lang="en-US" sz="1000" dirty="0">
                <a:solidFill>
                  <a:srgbClr val="FFFFFF"/>
                </a:solidFill>
              </a:rPr>
              <a:t>DoS Flood</a:t>
            </a:r>
            <a:endParaRPr lang="en-US" sz="1000" dirty="0"/>
          </a:p>
        </p:txBody>
      </p:sp>
      <p:sp>
        <p:nvSpPr>
          <p:cNvPr id="55" name="Shape 53"/>
          <p:cNvSpPr/>
          <p:nvPr/>
        </p:nvSpPr>
        <p:spPr>
          <a:xfrm>
            <a:off x="1325880" y="2697480"/>
            <a:ext cx="1371600" cy="457200"/>
          </a:xfrm>
          <a:prstGeom prst="rect">
            <a:avLst/>
          </a:prstGeom>
          <a:solidFill>
            <a:srgbClr val="0D1E30"/>
          </a:solidFill>
          <a:ln w="6350">
            <a:solidFill>
              <a:srgbClr val="1B4F72"/>
            </a:solidFill>
            <a:prstDash val="solid"/>
          </a:ln>
        </p:spPr>
        <p:txBody>
          <a:bodyPr/>
          <a:lstStyle/>
          <a:p>
            <a:endParaRPr lang="en-IN"/>
          </a:p>
        </p:txBody>
      </p:sp>
      <p:sp>
        <p:nvSpPr>
          <p:cNvPr id="56" name="Text 54"/>
          <p:cNvSpPr/>
          <p:nvPr/>
        </p:nvSpPr>
        <p:spPr>
          <a:xfrm>
            <a:off x="1325880" y="2697480"/>
            <a:ext cx="1371600" cy="457200"/>
          </a:xfrm>
          <a:prstGeom prst="rect">
            <a:avLst/>
          </a:prstGeom>
          <a:noFill/>
          <a:ln/>
        </p:spPr>
        <p:txBody>
          <a:bodyPr wrap="square" rtlCol="0" anchor="ctr"/>
          <a:lstStyle/>
          <a:p>
            <a:pPr marL="0" indent="0" algn="ctr">
              <a:buNone/>
            </a:pPr>
            <a:r>
              <a:rPr lang="en-US" sz="1000" dirty="0">
                <a:solidFill>
                  <a:srgbClr val="FFFFFF"/>
                </a:solidFill>
              </a:rPr>
              <a:t>FC06 x10+</a:t>
            </a:r>
            <a:endParaRPr lang="en-US" sz="1000" dirty="0"/>
          </a:p>
        </p:txBody>
      </p:sp>
      <p:sp>
        <p:nvSpPr>
          <p:cNvPr id="57" name="Shape 55"/>
          <p:cNvSpPr/>
          <p:nvPr/>
        </p:nvSpPr>
        <p:spPr>
          <a:xfrm>
            <a:off x="2697480" y="2697480"/>
            <a:ext cx="2011680" cy="457200"/>
          </a:xfrm>
          <a:prstGeom prst="rect">
            <a:avLst/>
          </a:prstGeom>
          <a:solidFill>
            <a:srgbClr val="0D1E30"/>
          </a:solidFill>
          <a:ln w="6350">
            <a:solidFill>
              <a:srgbClr val="1B4F72"/>
            </a:solidFill>
            <a:prstDash val="solid"/>
          </a:ln>
        </p:spPr>
        <p:txBody>
          <a:bodyPr/>
          <a:lstStyle/>
          <a:p>
            <a:endParaRPr lang="en-IN"/>
          </a:p>
        </p:txBody>
      </p:sp>
      <p:sp>
        <p:nvSpPr>
          <p:cNvPr id="58" name="Text 56"/>
          <p:cNvSpPr/>
          <p:nvPr/>
        </p:nvSpPr>
        <p:spPr>
          <a:xfrm>
            <a:off x="2697480" y="2697480"/>
            <a:ext cx="2011680" cy="457200"/>
          </a:xfrm>
          <a:prstGeom prst="rect">
            <a:avLst/>
          </a:prstGeom>
          <a:noFill/>
          <a:ln/>
        </p:spPr>
        <p:txBody>
          <a:bodyPr wrap="square" rtlCol="0" anchor="ctr"/>
          <a:lstStyle/>
          <a:p>
            <a:pPr marL="0" indent="0" algn="ctr">
              <a:buNone/>
            </a:pPr>
            <a:r>
              <a:rPr lang="en-US" sz="1000" b="1" dirty="0">
                <a:solidFill>
                  <a:srgbClr val="F4A261"/>
                </a:solidFill>
              </a:rPr>
              <a:t>T0814</a:t>
            </a:r>
            <a:endParaRPr lang="en-US" sz="1000" dirty="0"/>
          </a:p>
        </p:txBody>
      </p:sp>
      <p:sp>
        <p:nvSpPr>
          <p:cNvPr id="59" name="Shape 57"/>
          <p:cNvSpPr/>
          <p:nvPr/>
        </p:nvSpPr>
        <p:spPr>
          <a:xfrm>
            <a:off x="4709160" y="2697480"/>
            <a:ext cx="2011680" cy="457200"/>
          </a:xfrm>
          <a:prstGeom prst="rect">
            <a:avLst/>
          </a:prstGeom>
          <a:solidFill>
            <a:srgbClr val="0D1E30"/>
          </a:solidFill>
          <a:ln w="6350">
            <a:solidFill>
              <a:srgbClr val="1B4F72"/>
            </a:solidFill>
            <a:prstDash val="solid"/>
          </a:ln>
        </p:spPr>
        <p:txBody>
          <a:bodyPr/>
          <a:lstStyle/>
          <a:p>
            <a:endParaRPr lang="en-IN"/>
          </a:p>
        </p:txBody>
      </p:sp>
      <p:sp>
        <p:nvSpPr>
          <p:cNvPr id="60" name="Text 58"/>
          <p:cNvSpPr/>
          <p:nvPr/>
        </p:nvSpPr>
        <p:spPr>
          <a:xfrm>
            <a:off x="4709160" y="2697480"/>
            <a:ext cx="2011680" cy="457200"/>
          </a:xfrm>
          <a:prstGeom prst="rect">
            <a:avLst/>
          </a:prstGeom>
          <a:noFill/>
          <a:ln/>
        </p:spPr>
        <p:txBody>
          <a:bodyPr wrap="square" rtlCol="0" anchor="ctr"/>
          <a:lstStyle/>
          <a:p>
            <a:pPr marL="0" indent="0" algn="ctr">
              <a:buNone/>
            </a:pPr>
            <a:r>
              <a:rPr lang="en-US" sz="1000" dirty="0">
                <a:solidFill>
                  <a:srgbClr val="FFFFFF"/>
                </a:solidFill>
              </a:rPr>
              <a:t>Denial of Service</a:t>
            </a:r>
            <a:endParaRPr lang="en-US" sz="1000" dirty="0"/>
          </a:p>
        </p:txBody>
      </p:sp>
      <p:sp>
        <p:nvSpPr>
          <p:cNvPr id="61" name="Shape 59"/>
          <p:cNvSpPr/>
          <p:nvPr/>
        </p:nvSpPr>
        <p:spPr>
          <a:xfrm>
            <a:off x="6720840" y="2697480"/>
            <a:ext cx="1371600" cy="457200"/>
          </a:xfrm>
          <a:prstGeom prst="rect">
            <a:avLst/>
          </a:prstGeom>
          <a:solidFill>
            <a:srgbClr val="0D1E30"/>
          </a:solidFill>
          <a:ln w="6350">
            <a:solidFill>
              <a:srgbClr val="1B4F72"/>
            </a:solidFill>
            <a:prstDash val="solid"/>
          </a:ln>
        </p:spPr>
        <p:txBody>
          <a:bodyPr/>
          <a:lstStyle/>
          <a:p>
            <a:endParaRPr lang="en-IN"/>
          </a:p>
        </p:txBody>
      </p:sp>
      <p:sp>
        <p:nvSpPr>
          <p:cNvPr id="62" name="Text 60"/>
          <p:cNvSpPr/>
          <p:nvPr/>
        </p:nvSpPr>
        <p:spPr>
          <a:xfrm>
            <a:off x="6720840" y="2697480"/>
            <a:ext cx="1371600" cy="457200"/>
          </a:xfrm>
          <a:prstGeom prst="rect">
            <a:avLst/>
          </a:prstGeom>
          <a:noFill/>
          <a:ln/>
        </p:spPr>
        <p:txBody>
          <a:bodyPr wrap="square" rtlCol="0" anchor="ctr"/>
          <a:lstStyle/>
          <a:p>
            <a:pPr marL="0" indent="0" algn="ctr">
              <a:buNone/>
            </a:pPr>
            <a:r>
              <a:rPr lang="en-US" sz="1000" dirty="0">
                <a:solidFill>
                  <a:srgbClr val="FFFFFF"/>
                </a:solidFill>
              </a:rPr>
              <a:t>Inhibit Response</a:t>
            </a:r>
            <a:endParaRPr lang="en-US" sz="1000" dirty="0"/>
          </a:p>
        </p:txBody>
      </p:sp>
      <p:sp>
        <p:nvSpPr>
          <p:cNvPr id="63" name="Shape 61"/>
          <p:cNvSpPr/>
          <p:nvPr/>
        </p:nvSpPr>
        <p:spPr>
          <a:xfrm>
            <a:off x="8092440" y="2697480"/>
            <a:ext cx="1097280" cy="457200"/>
          </a:xfrm>
          <a:prstGeom prst="rect">
            <a:avLst/>
          </a:prstGeom>
          <a:solidFill>
            <a:srgbClr val="0D1E30"/>
          </a:solidFill>
          <a:ln w="6350">
            <a:solidFill>
              <a:srgbClr val="1B4F72"/>
            </a:solidFill>
            <a:prstDash val="solid"/>
          </a:ln>
        </p:spPr>
        <p:txBody>
          <a:bodyPr/>
          <a:lstStyle/>
          <a:p>
            <a:endParaRPr lang="en-IN"/>
          </a:p>
        </p:txBody>
      </p:sp>
      <p:sp>
        <p:nvSpPr>
          <p:cNvPr id="64" name="Text 62"/>
          <p:cNvSpPr/>
          <p:nvPr/>
        </p:nvSpPr>
        <p:spPr>
          <a:xfrm>
            <a:off x="8092440" y="2697480"/>
            <a:ext cx="1097280" cy="457200"/>
          </a:xfrm>
          <a:prstGeom prst="rect">
            <a:avLst/>
          </a:prstGeom>
          <a:noFill/>
          <a:ln/>
        </p:spPr>
        <p:txBody>
          <a:bodyPr wrap="square" rtlCol="0" anchor="ctr"/>
          <a:lstStyle/>
          <a:p>
            <a:pPr marL="0" indent="0" algn="ctr">
              <a:buNone/>
            </a:pPr>
            <a:r>
              <a:rPr lang="en-US" sz="1000" dirty="0">
                <a:solidFill>
                  <a:srgbClr val="00B4D8"/>
                </a:solidFill>
              </a:rPr>
              <a:t>100530 / L13</a:t>
            </a:r>
            <a:endParaRPr lang="en-US" sz="1000" dirty="0"/>
          </a:p>
        </p:txBody>
      </p:sp>
      <p:sp>
        <p:nvSpPr>
          <p:cNvPr id="65" name="Text 63"/>
          <p:cNvSpPr/>
          <p:nvPr/>
        </p:nvSpPr>
        <p:spPr>
          <a:xfrm>
            <a:off x="365760" y="3337560"/>
            <a:ext cx="8412480" cy="365760"/>
          </a:xfrm>
          <a:prstGeom prst="rect">
            <a:avLst/>
          </a:prstGeom>
          <a:noFill/>
          <a:ln/>
        </p:spPr>
        <p:txBody>
          <a:bodyPr wrap="square" rtlCol="0" anchor="ctr"/>
          <a:lstStyle/>
          <a:p>
            <a:pPr marL="0" indent="0">
              <a:buNone/>
            </a:pPr>
            <a:r>
              <a:rPr lang="en-US" sz="1400" b="1" dirty="0">
                <a:solidFill>
                  <a:srgbClr val="00B4D8"/>
                </a:solidFill>
              </a:rPr>
              <a:t>ATT&amp;CK for ICS Tactics Covered</a:t>
            </a:r>
            <a:endParaRPr lang="en-US" sz="1400" dirty="0"/>
          </a:p>
        </p:txBody>
      </p:sp>
      <p:sp>
        <p:nvSpPr>
          <p:cNvPr id="66" name="Shape 64"/>
          <p:cNvSpPr/>
          <p:nvPr/>
        </p:nvSpPr>
        <p:spPr>
          <a:xfrm>
            <a:off x="457200" y="3749040"/>
            <a:ext cx="2560320" cy="1097280"/>
          </a:xfrm>
          <a:prstGeom prst="rect">
            <a:avLst/>
          </a:prstGeom>
          <a:solidFill>
            <a:srgbClr val="0A1628"/>
          </a:solidFill>
          <a:ln w="19050">
            <a:solidFill>
              <a:srgbClr val="1B4F72"/>
            </a:solidFill>
            <a:prstDash val="solid"/>
          </a:ln>
        </p:spPr>
        <p:txBody>
          <a:bodyPr/>
          <a:lstStyle/>
          <a:p>
            <a:endParaRPr lang="en-IN"/>
          </a:p>
        </p:txBody>
      </p:sp>
      <p:sp>
        <p:nvSpPr>
          <p:cNvPr id="67" name="Shape 65"/>
          <p:cNvSpPr/>
          <p:nvPr/>
        </p:nvSpPr>
        <p:spPr>
          <a:xfrm>
            <a:off x="457200" y="3749040"/>
            <a:ext cx="2560320" cy="320040"/>
          </a:xfrm>
          <a:prstGeom prst="rect">
            <a:avLst/>
          </a:prstGeom>
          <a:solidFill>
            <a:srgbClr val="1B4F72"/>
          </a:solidFill>
          <a:ln w="12700">
            <a:solidFill>
              <a:srgbClr val="1B4F72"/>
            </a:solidFill>
            <a:prstDash val="solid"/>
          </a:ln>
        </p:spPr>
        <p:txBody>
          <a:bodyPr/>
          <a:lstStyle/>
          <a:p>
            <a:endParaRPr lang="en-IN"/>
          </a:p>
        </p:txBody>
      </p:sp>
      <p:sp>
        <p:nvSpPr>
          <p:cNvPr id="68" name="Text 66"/>
          <p:cNvSpPr/>
          <p:nvPr/>
        </p:nvSpPr>
        <p:spPr>
          <a:xfrm>
            <a:off x="457200" y="3749040"/>
            <a:ext cx="2560320" cy="320040"/>
          </a:xfrm>
          <a:prstGeom prst="rect">
            <a:avLst/>
          </a:prstGeom>
          <a:noFill/>
          <a:ln/>
        </p:spPr>
        <p:txBody>
          <a:bodyPr wrap="square" rtlCol="0" anchor="ctr"/>
          <a:lstStyle/>
          <a:p>
            <a:pPr marL="0" indent="0" algn="ctr">
              <a:buNone/>
            </a:pPr>
            <a:r>
              <a:rPr lang="en-US" sz="1000" b="1" dirty="0">
                <a:solidFill>
                  <a:srgbClr val="0D1B2A"/>
                </a:solidFill>
              </a:rPr>
              <a:t>Discovery</a:t>
            </a:r>
            <a:endParaRPr lang="en-US" sz="1000" dirty="0"/>
          </a:p>
        </p:txBody>
      </p:sp>
      <p:sp>
        <p:nvSpPr>
          <p:cNvPr id="69" name="Text 67"/>
          <p:cNvSpPr/>
          <p:nvPr/>
        </p:nvSpPr>
        <p:spPr>
          <a:xfrm>
            <a:off x="457200" y="4096512"/>
            <a:ext cx="2560320" cy="713232"/>
          </a:xfrm>
          <a:prstGeom prst="rect">
            <a:avLst/>
          </a:prstGeom>
          <a:noFill/>
          <a:ln/>
        </p:spPr>
        <p:txBody>
          <a:bodyPr wrap="square" rtlCol="0" anchor="ctr"/>
          <a:lstStyle/>
          <a:p>
            <a:pPr marL="0" indent="0" algn="ctr">
              <a:buNone/>
            </a:pPr>
            <a:r>
              <a:rPr lang="en-US" sz="1000" dirty="0">
                <a:solidFill>
                  <a:srgbClr val="8FA3B1"/>
                </a:solidFill>
              </a:rPr>
              <a:t>Enumerate PLC state</a:t>
            </a:r>
            <a:endParaRPr lang="en-US" sz="1000" dirty="0"/>
          </a:p>
          <a:p>
            <a:pPr marL="0" indent="0" algn="ctr">
              <a:buNone/>
            </a:pPr>
            <a:r>
              <a:rPr lang="en-US" sz="1000" dirty="0">
                <a:solidFill>
                  <a:srgbClr val="8FA3B1"/>
                </a:solidFill>
              </a:rPr>
              <a:t>and register values</a:t>
            </a:r>
            <a:endParaRPr lang="en-US" sz="1000" dirty="0"/>
          </a:p>
        </p:txBody>
      </p:sp>
      <p:sp>
        <p:nvSpPr>
          <p:cNvPr id="70" name="Shape 68"/>
          <p:cNvSpPr/>
          <p:nvPr/>
        </p:nvSpPr>
        <p:spPr>
          <a:xfrm>
            <a:off x="3291840" y="3749040"/>
            <a:ext cx="2560320" cy="1097280"/>
          </a:xfrm>
          <a:prstGeom prst="rect">
            <a:avLst/>
          </a:prstGeom>
          <a:solidFill>
            <a:srgbClr val="0A1628"/>
          </a:solidFill>
          <a:ln w="19050">
            <a:solidFill>
              <a:srgbClr val="F4A261"/>
            </a:solidFill>
            <a:prstDash val="solid"/>
          </a:ln>
        </p:spPr>
        <p:txBody>
          <a:bodyPr/>
          <a:lstStyle/>
          <a:p>
            <a:endParaRPr lang="en-IN"/>
          </a:p>
        </p:txBody>
      </p:sp>
      <p:sp>
        <p:nvSpPr>
          <p:cNvPr id="71" name="Shape 69"/>
          <p:cNvSpPr/>
          <p:nvPr/>
        </p:nvSpPr>
        <p:spPr>
          <a:xfrm>
            <a:off x="3291840" y="3749040"/>
            <a:ext cx="2560320" cy="320040"/>
          </a:xfrm>
          <a:prstGeom prst="rect">
            <a:avLst/>
          </a:prstGeom>
          <a:solidFill>
            <a:srgbClr val="F4A261"/>
          </a:solidFill>
          <a:ln w="12700">
            <a:solidFill>
              <a:srgbClr val="F4A261"/>
            </a:solidFill>
            <a:prstDash val="solid"/>
          </a:ln>
        </p:spPr>
        <p:txBody>
          <a:bodyPr/>
          <a:lstStyle/>
          <a:p>
            <a:endParaRPr lang="en-IN"/>
          </a:p>
        </p:txBody>
      </p:sp>
      <p:sp>
        <p:nvSpPr>
          <p:cNvPr id="72" name="Text 70"/>
          <p:cNvSpPr/>
          <p:nvPr/>
        </p:nvSpPr>
        <p:spPr>
          <a:xfrm>
            <a:off x="3291840" y="3749040"/>
            <a:ext cx="2560320" cy="320040"/>
          </a:xfrm>
          <a:prstGeom prst="rect">
            <a:avLst/>
          </a:prstGeom>
          <a:noFill/>
          <a:ln/>
        </p:spPr>
        <p:txBody>
          <a:bodyPr wrap="square" rtlCol="0" anchor="ctr"/>
          <a:lstStyle/>
          <a:p>
            <a:pPr marL="0" indent="0" algn="ctr">
              <a:buNone/>
            </a:pPr>
            <a:r>
              <a:rPr lang="en-US" sz="1000" b="1" dirty="0">
                <a:solidFill>
                  <a:srgbClr val="0D1B2A"/>
                </a:solidFill>
              </a:rPr>
              <a:t>Impair Process</a:t>
            </a:r>
            <a:endParaRPr lang="en-US" sz="1000" dirty="0"/>
          </a:p>
          <a:p>
            <a:pPr marL="0" indent="0" algn="ctr">
              <a:buNone/>
            </a:pPr>
            <a:r>
              <a:rPr lang="en-US" sz="1000" b="1" dirty="0">
                <a:solidFill>
                  <a:srgbClr val="0D1B2A"/>
                </a:solidFill>
              </a:rPr>
              <a:t>Control</a:t>
            </a:r>
            <a:endParaRPr lang="en-US" sz="1000" dirty="0"/>
          </a:p>
        </p:txBody>
      </p:sp>
      <p:sp>
        <p:nvSpPr>
          <p:cNvPr id="73" name="Text 71"/>
          <p:cNvSpPr/>
          <p:nvPr/>
        </p:nvSpPr>
        <p:spPr>
          <a:xfrm>
            <a:off x="3291840" y="4096512"/>
            <a:ext cx="2560320" cy="713232"/>
          </a:xfrm>
          <a:prstGeom prst="rect">
            <a:avLst/>
          </a:prstGeom>
          <a:noFill/>
          <a:ln/>
        </p:spPr>
        <p:txBody>
          <a:bodyPr wrap="square" rtlCol="0" anchor="ctr"/>
          <a:lstStyle/>
          <a:p>
            <a:pPr marL="0" indent="0" algn="ctr">
              <a:buNone/>
            </a:pPr>
            <a:r>
              <a:rPr lang="en-US" sz="1000" dirty="0">
                <a:solidFill>
                  <a:srgbClr val="8FA3B1"/>
                </a:solidFill>
              </a:rPr>
              <a:t>Manipulate register</a:t>
            </a:r>
            <a:endParaRPr lang="en-US" sz="1000" dirty="0"/>
          </a:p>
          <a:p>
            <a:pPr marL="0" indent="0" algn="ctr">
              <a:buNone/>
            </a:pPr>
            <a:r>
              <a:rPr lang="en-US" sz="1000" dirty="0">
                <a:solidFill>
                  <a:srgbClr val="8FA3B1"/>
                </a:solidFill>
              </a:rPr>
              <a:t>values and setpoints</a:t>
            </a:r>
            <a:endParaRPr lang="en-US" sz="1000" dirty="0"/>
          </a:p>
        </p:txBody>
      </p:sp>
      <p:sp>
        <p:nvSpPr>
          <p:cNvPr id="74" name="Shape 72"/>
          <p:cNvSpPr/>
          <p:nvPr/>
        </p:nvSpPr>
        <p:spPr>
          <a:xfrm>
            <a:off x="6126480" y="3749040"/>
            <a:ext cx="2560320" cy="1097280"/>
          </a:xfrm>
          <a:prstGeom prst="rect">
            <a:avLst/>
          </a:prstGeom>
          <a:solidFill>
            <a:srgbClr val="0A1628"/>
          </a:solidFill>
          <a:ln w="19050">
            <a:solidFill>
              <a:srgbClr val="E63946"/>
            </a:solidFill>
            <a:prstDash val="solid"/>
          </a:ln>
        </p:spPr>
        <p:txBody>
          <a:bodyPr/>
          <a:lstStyle/>
          <a:p>
            <a:endParaRPr lang="en-IN"/>
          </a:p>
        </p:txBody>
      </p:sp>
      <p:sp>
        <p:nvSpPr>
          <p:cNvPr id="75" name="Shape 73"/>
          <p:cNvSpPr/>
          <p:nvPr/>
        </p:nvSpPr>
        <p:spPr>
          <a:xfrm>
            <a:off x="6126480" y="3749040"/>
            <a:ext cx="2560320" cy="320040"/>
          </a:xfrm>
          <a:prstGeom prst="rect">
            <a:avLst/>
          </a:prstGeom>
          <a:solidFill>
            <a:srgbClr val="E63946"/>
          </a:solidFill>
          <a:ln w="12700">
            <a:solidFill>
              <a:srgbClr val="E63946"/>
            </a:solidFill>
            <a:prstDash val="solid"/>
          </a:ln>
        </p:spPr>
        <p:txBody>
          <a:bodyPr/>
          <a:lstStyle/>
          <a:p>
            <a:endParaRPr lang="en-IN"/>
          </a:p>
        </p:txBody>
      </p:sp>
      <p:sp>
        <p:nvSpPr>
          <p:cNvPr id="76" name="Text 74"/>
          <p:cNvSpPr/>
          <p:nvPr/>
        </p:nvSpPr>
        <p:spPr>
          <a:xfrm>
            <a:off x="6126480" y="3749040"/>
            <a:ext cx="2560320" cy="320040"/>
          </a:xfrm>
          <a:prstGeom prst="rect">
            <a:avLst/>
          </a:prstGeom>
          <a:noFill/>
          <a:ln/>
        </p:spPr>
        <p:txBody>
          <a:bodyPr wrap="square" rtlCol="0" anchor="ctr"/>
          <a:lstStyle/>
          <a:p>
            <a:pPr marL="0" indent="0" algn="ctr">
              <a:buNone/>
            </a:pPr>
            <a:r>
              <a:rPr lang="en-US" sz="1000" b="1" dirty="0">
                <a:solidFill>
                  <a:srgbClr val="0D1B2A"/>
                </a:solidFill>
              </a:rPr>
              <a:t>Inhibit Response</a:t>
            </a:r>
            <a:endParaRPr lang="en-US" sz="1000" dirty="0"/>
          </a:p>
          <a:p>
            <a:pPr marL="0" indent="0" algn="ctr">
              <a:buNone/>
            </a:pPr>
            <a:r>
              <a:rPr lang="en-US" sz="1000" b="1" dirty="0">
                <a:solidFill>
                  <a:srgbClr val="0D1B2A"/>
                </a:solidFill>
              </a:rPr>
              <a:t>Function</a:t>
            </a:r>
            <a:endParaRPr lang="en-US" sz="1000" dirty="0"/>
          </a:p>
        </p:txBody>
      </p:sp>
      <p:sp>
        <p:nvSpPr>
          <p:cNvPr id="77" name="Text 75"/>
          <p:cNvSpPr/>
          <p:nvPr/>
        </p:nvSpPr>
        <p:spPr>
          <a:xfrm>
            <a:off x="6126480" y="4096512"/>
            <a:ext cx="2560320" cy="713232"/>
          </a:xfrm>
          <a:prstGeom prst="rect">
            <a:avLst/>
          </a:prstGeom>
          <a:noFill/>
          <a:ln/>
        </p:spPr>
        <p:txBody>
          <a:bodyPr wrap="square" rtlCol="0" anchor="ctr"/>
          <a:lstStyle/>
          <a:p>
            <a:pPr marL="0" indent="0" algn="ctr">
              <a:buNone/>
            </a:pPr>
            <a:r>
              <a:rPr lang="en-US" sz="1000" dirty="0">
                <a:solidFill>
                  <a:srgbClr val="8FA3B1"/>
                </a:solidFill>
              </a:rPr>
              <a:t>Flood PLC to prevent</a:t>
            </a:r>
            <a:endParaRPr lang="en-US" sz="1000" dirty="0"/>
          </a:p>
          <a:p>
            <a:pPr marL="0" indent="0" algn="ctr">
              <a:buNone/>
            </a:pPr>
            <a:r>
              <a:rPr lang="en-US" sz="1000" dirty="0">
                <a:solidFill>
                  <a:srgbClr val="8FA3B1"/>
                </a:solidFill>
              </a:rPr>
              <a:t>legitimate commands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D1B2A"/>
          </a:solidFill>
          <a:ln w="12700">
            <a:solidFill>
              <a:srgbClr val="0D1B2A"/>
            </a:solidFill>
            <a:prstDash val="solid"/>
          </a:ln>
        </p:spPr>
        <p:txBody>
          <a:bodyPr/>
          <a:lstStyle/>
          <a:p>
            <a:endParaRPr lang="en-IN"/>
          </a:p>
        </p:txBody>
      </p:sp>
      <p:sp>
        <p:nvSpPr>
          <p:cNvPr id="3" name="Text 1"/>
          <p:cNvSpPr/>
          <p:nvPr/>
        </p:nvSpPr>
        <p:spPr>
          <a:xfrm>
            <a:off x="365760" y="137160"/>
            <a:ext cx="8412480" cy="502920"/>
          </a:xfrm>
          <a:prstGeom prst="rect">
            <a:avLst/>
          </a:prstGeom>
          <a:noFill/>
          <a:ln/>
        </p:spPr>
        <p:txBody>
          <a:bodyPr wrap="square" rtlCol="0" anchor="ctr"/>
          <a:lstStyle/>
          <a:p>
            <a:pPr marL="0" indent="0">
              <a:buNone/>
            </a:pPr>
            <a:r>
              <a:rPr lang="en-US" sz="2400" b="1" dirty="0">
                <a:solidFill>
                  <a:srgbClr val="0D1B2A"/>
                </a:solidFill>
              </a:rPr>
              <a:t>Detection Gaps Fixed by This Pipeline</a:t>
            </a:r>
            <a:endParaRPr lang="en-US" sz="2400" dirty="0"/>
          </a:p>
        </p:txBody>
      </p:sp>
      <p:sp>
        <p:nvSpPr>
          <p:cNvPr id="4" name="Shape 2"/>
          <p:cNvSpPr/>
          <p:nvPr/>
        </p:nvSpPr>
        <p:spPr>
          <a:xfrm>
            <a:off x="365760" y="658368"/>
            <a:ext cx="8412480" cy="27432"/>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228600" y="804672"/>
            <a:ext cx="8686800" cy="960120"/>
          </a:xfrm>
          <a:prstGeom prst="rect">
            <a:avLst/>
          </a:prstGeom>
          <a:solidFill>
            <a:srgbClr val="FFFFFF"/>
          </a:solidFill>
          <a:ln w="12700">
            <a:solidFill>
              <a:srgbClr val="D0DCE8"/>
            </a:solidFill>
            <a:prstDash val="solid"/>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228600" y="804672"/>
            <a:ext cx="54864" cy="960120"/>
          </a:xfrm>
          <a:prstGeom prst="rect">
            <a:avLst/>
          </a:prstGeom>
          <a:solidFill>
            <a:srgbClr val="E63946"/>
          </a:solidFill>
          <a:ln w="12700">
            <a:solidFill>
              <a:srgbClr val="E63946"/>
            </a:solidFill>
            <a:prstDash val="solid"/>
          </a:ln>
        </p:spPr>
        <p:txBody>
          <a:bodyPr/>
          <a:lstStyle/>
          <a:p>
            <a:endParaRPr lang="en-IN"/>
          </a:p>
        </p:txBody>
      </p:sp>
      <p:sp>
        <p:nvSpPr>
          <p:cNvPr id="7" name="Shape 5"/>
          <p:cNvSpPr/>
          <p:nvPr/>
        </p:nvSpPr>
        <p:spPr>
          <a:xfrm>
            <a:off x="347472" y="877824"/>
            <a:ext cx="292608" cy="292608"/>
          </a:xfrm>
          <a:prstGeom prst="ellipse">
            <a:avLst/>
          </a:prstGeom>
          <a:solidFill>
            <a:srgbClr val="E63946"/>
          </a:solidFill>
          <a:ln w="12700">
            <a:solidFill>
              <a:srgbClr val="E63946"/>
            </a:solidFill>
            <a:prstDash val="solid"/>
          </a:ln>
        </p:spPr>
        <p:txBody>
          <a:bodyPr/>
          <a:lstStyle/>
          <a:p>
            <a:endParaRPr lang="en-IN"/>
          </a:p>
        </p:txBody>
      </p:sp>
      <p:sp>
        <p:nvSpPr>
          <p:cNvPr id="8" name="Text 6"/>
          <p:cNvSpPr/>
          <p:nvPr/>
        </p:nvSpPr>
        <p:spPr>
          <a:xfrm>
            <a:off x="347472" y="877824"/>
            <a:ext cx="292608" cy="29260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9" name="Text 7"/>
          <p:cNvSpPr/>
          <p:nvPr/>
        </p:nvSpPr>
        <p:spPr>
          <a:xfrm>
            <a:off x="694944" y="859536"/>
            <a:ext cx="3200400" cy="320040"/>
          </a:xfrm>
          <a:prstGeom prst="rect">
            <a:avLst/>
          </a:prstGeom>
          <a:noFill/>
          <a:ln/>
        </p:spPr>
        <p:txBody>
          <a:bodyPr wrap="square" rtlCol="0" anchor="ctr"/>
          <a:lstStyle/>
          <a:p>
            <a:pPr marL="0" indent="0">
              <a:buNone/>
            </a:pPr>
            <a:r>
              <a:rPr lang="en-US" sz="1100" b="1" dirty="0">
                <a:solidFill>
                  <a:srgbClr val="0D1B2A"/>
                </a:solidFill>
              </a:rPr>
              <a:t>No Modbus Protocol Visibility</a:t>
            </a:r>
            <a:endParaRPr lang="en-US" sz="1100" dirty="0"/>
          </a:p>
        </p:txBody>
      </p:sp>
      <p:sp>
        <p:nvSpPr>
          <p:cNvPr id="10" name="Shape 8"/>
          <p:cNvSpPr/>
          <p:nvPr/>
        </p:nvSpPr>
        <p:spPr>
          <a:xfrm>
            <a:off x="347472" y="1353312"/>
            <a:ext cx="292608" cy="292608"/>
          </a:xfrm>
          <a:prstGeom prst="ellipse">
            <a:avLst/>
          </a:prstGeom>
          <a:solidFill>
            <a:srgbClr val="2DC653"/>
          </a:solidFill>
          <a:ln w="12700">
            <a:solidFill>
              <a:srgbClr val="2DC653"/>
            </a:solidFill>
            <a:prstDash val="solid"/>
          </a:ln>
        </p:spPr>
        <p:txBody>
          <a:bodyPr/>
          <a:lstStyle/>
          <a:p>
            <a:endParaRPr lang="en-IN"/>
          </a:p>
        </p:txBody>
      </p:sp>
      <p:sp>
        <p:nvSpPr>
          <p:cNvPr id="11" name="Text 9"/>
          <p:cNvSpPr/>
          <p:nvPr/>
        </p:nvSpPr>
        <p:spPr>
          <a:xfrm>
            <a:off x="347472" y="1353312"/>
            <a:ext cx="292608" cy="29260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2" name="Text 10"/>
          <p:cNvSpPr/>
          <p:nvPr/>
        </p:nvSpPr>
        <p:spPr>
          <a:xfrm>
            <a:off x="694944" y="1335024"/>
            <a:ext cx="8046720" cy="347472"/>
          </a:xfrm>
          <a:prstGeom prst="rect">
            <a:avLst/>
          </a:prstGeom>
          <a:noFill/>
          <a:ln/>
        </p:spPr>
        <p:txBody>
          <a:bodyPr wrap="square" rtlCol="0" anchor="ctr"/>
          <a:lstStyle/>
          <a:p>
            <a:pPr marL="0" indent="0">
              <a:buNone/>
            </a:pPr>
            <a:r>
              <a:rPr lang="en-US" sz="1000" dirty="0">
                <a:solidFill>
                  <a:srgbClr val="475569"/>
                </a:solidFill>
              </a:rPr>
              <a:t>Custom Snort rules inspect FC byte in Modbus MBAP header — detecting FC03, FC06, FC16 at the packet level</a:t>
            </a:r>
            <a:endParaRPr lang="en-US" sz="1000" dirty="0"/>
          </a:p>
        </p:txBody>
      </p:sp>
      <p:sp>
        <p:nvSpPr>
          <p:cNvPr id="13" name="Shape 11"/>
          <p:cNvSpPr/>
          <p:nvPr/>
        </p:nvSpPr>
        <p:spPr>
          <a:xfrm>
            <a:off x="228600" y="1856232"/>
            <a:ext cx="8686800" cy="960120"/>
          </a:xfrm>
          <a:prstGeom prst="rect">
            <a:avLst/>
          </a:prstGeom>
          <a:solidFill>
            <a:srgbClr val="FFFFFF"/>
          </a:solidFill>
          <a:ln w="12700">
            <a:solidFill>
              <a:srgbClr val="D0DCE8"/>
            </a:solidFill>
            <a:prstDash val="solid"/>
          </a:ln>
          <a:effectLst>
            <a:outerShdw blurRad="101600" dist="38100" dir="8100000" algn="bl" rotWithShape="0">
              <a:srgbClr val="000000">
                <a:alpha val="18000"/>
              </a:srgbClr>
            </a:outerShdw>
          </a:effectLst>
        </p:spPr>
        <p:txBody>
          <a:bodyPr/>
          <a:lstStyle/>
          <a:p>
            <a:endParaRPr lang="en-IN"/>
          </a:p>
        </p:txBody>
      </p:sp>
      <p:sp>
        <p:nvSpPr>
          <p:cNvPr id="14" name="Shape 12"/>
          <p:cNvSpPr/>
          <p:nvPr/>
        </p:nvSpPr>
        <p:spPr>
          <a:xfrm>
            <a:off x="228600" y="1856232"/>
            <a:ext cx="54864" cy="960120"/>
          </a:xfrm>
          <a:prstGeom prst="rect">
            <a:avLst/>
          </a:prstGeom>
          <a:solidFill>
            <a:srgbClr val="F4A261"/>
          </a:solidFill>
          <a:ln w="12700">
            <a:solidFill>
              <a:srgbClr val="F4A261"/>
            </a:solidFill>
            <a:prstDash val="solid"/>
          </a:ln>
        </p:spPr>
        <p:txBody>
          <a:bodyPr/>
          <a:lstStyle/>
          <a:p>
            <a:endParaRPr lang="en-IN"/>
          </a:p>
        </p:txBody>
      </p:sp>
      <p:sp>
        <p:nvSpPr>
          <p:cNvPr id="15" name="Shape 13"/>
          <p:cNvSpPr/>
          <p:nvPr/>
        </p:nvSpPr>
        <p:spPr>
          <a:xfrm>
            <a:off x="347472" y="1929384"/>
            <a:ext cx="292608" cy="292608"/>
          </a:xfrm>
          <a:prstGeom prst="ellipse">
            <a:avLst/>
          </a:prstGeom>
          <a:solidFill>
            <a:srgbClr val="E63946"/>
          </a:solidFill>
          <a:ln w="12700">
            <a:solidFill>
              <a:srgbClr val="E63946"/>
            </a:solidFill>
            <a:prstDash val="solid"/>
          </a:ln>
        </p:spPr>
        <p:txBody>
          <a:bodyPr/>
          <a:lstStyle/>
          <a:p>
            <a:endParaRPr lang="en-IN"/>
          </a:p>
        </p:txBody>
      </p:sp>
      <p:sp>
        <p:nvSpPr>
          <p:cNvPr id="16" name="Text 14"/>
          <p:cNvSpPr/>
          <p:nvPr/>
        </p:nvSpPr>
        <p:spPr>
          <a:xfrm>
            <a:off x="347472" y="1929384"/>
            <a:ext cx="292608" cy="29260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17" name="Text 15"/>
          <p:cNvSpPr/>
          <p:nvPr/>
        </p:nvSpPr>
        <p:spPr>
          <a:xfrm>
            <a:off x="694944" y="1911096"/>
            <a:ext cx="3200400" cy="320040"/>
          </a:xfrm>
          <a:prstGeom prst="rect">
            <a:avLst/>
          </a:prstGeom>
          <a:noFill/>
          <a:ln/>
        </p:spPr>
        <p:txBody>
          <a:bodyPr wrap="square" rtlCol="0" anchor="ctr"/>
          <a:lstStyle/>
          <a:p>
            <a:pPr marL="0" indent="0">
              <a:buNone/>
            </a:pPr>
            <a:r>
              <a:rPr lang="en-US" sz="1100" b="1" dirty="0">
                <a:solidFill>
                  <a:srgbClr val="0D1B2A"/>
                </a:solidFill>
              </a:rPr>
              <a:t>No SIEM Correlation</a:t>
            </a:r>
            <a:endParaRPr lang="en-US" sz="1100" dirty="0"/>
          </a:p>
        </p:txBody>
      </p:sp>
      <p:sp>
        <p:nvSpPr>
          <p:cNvPr id="18" name="Shape 16"/>
          <p:cNvSpPr/>
          <p:nvPr/>
        </p:nvSpPr>
        <p:spPr>
          <a:xfrm>
            <a:off x="347472" y="2404872"/>
            <a:ext cx="292608" cy="292608"/>
          </a:xfrm>
          <a:prstGeom prst="ellipse">
            <a:avLst/>
          </a:prstGeom>
          <a:solidFill>
            <a:srgbClr val="2DC653"/>
          </a:solidFill>
          <a:ln w="12700">
            <a:solidFill>
              <a:srgbClr val="2DC653"/>
            </a:solidFill>
            <a:prstDash val="solid"/>
          </a:ln>
        </p:spPr>
        <p:txBody>
          <a:bodyPr/>
          <a:lstStyle/>
          <a:p>
            <a:endParaRPr lang="en-IN"/>
          </a:p>
        </p:txBody>
      </p:sp>
      <p:sp>
        <p:nvSpPr>
          <p:cNvPr id="19" name="Text 17"/>
          <p:cNvSpPr/>
          <p:nvPr/>
        </p:nvSpPr>
        <p:spPr>
          <a:xfrm>
            <a:off x="347472" y="2404872"/>
            <a:ext cx="292608" cy="29260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20" name="Text 18"/>
          <p:cNvSpPr/>
          <p:nvPr/>
        </p:nvSpPr>
        <p:spPr>
          <a:xfrm>
            <a:off x="694944" y="2386584"/>
            <a:ext cx="8046720" cy="347472"/>
          </a:xfrm>
          <a:prstGeom prst="rect">
            <a:avLst/>
          </a:prstGeom>
          <a:noFill/>
          <a:ln/>
        </p:spPr>
        <p:txBody>
          <a:bodyPr wrap="square" rtlCol="0" anchor="ctr"/>
          <a:lstStyle/>
          <a:p>
            <a:pPr marL="0" indent="0">
              <a:buNone/>
            </a:pPr>
            <a:r>
              <a:rPr lang="en-US" sz="1000" dirty="0">
                <a:solidFill>
                  <a:srgbClr val="475569"/>
                </a:solidFill>
              </a:rPr>
              <a:t>pfSense syslog forwarding to Wazuh via UDP 514, custom decoder chain, hierarchical rule set with if_sid parent-child logic</a:t>
            </a:r>
            <a:endParaRPr lang="en-US" sz="1000" dirty="0"/>
          </a:p>
        </p:txBody>
      </p:sp>
      <p:sp>
        <p:nvSpPr>
          <p:cNvPr id="21" name="Shape 19"/>
          <p:cNvSpPr/>
          <p:nvPr/>
        </p:nvSpPr>
        <p:spPr>
          <a:xfrm>
            <a:off x="228600" y="2907792"/>
            <a:ext cx="8686800" cy="960120"/>
          </a:xfrm>
          <a:prstGeom prst="rect">
            <a:avLst/>
          </a:prstGeom>
          <a:solidFill>
            <a:srgbClr val="FFFFFF"/>
          </a:solidFill>
          <a:ln w="12700">
            <a:solidFill>
              <a:srgbClr val="D0DCE8"/>
            </a:solidFill>
            <a:prstDash val="solid"/>
          </a:ln>
          <a:effectLst>
            <a:outerShdw blurRad="101600" dist="38100" dir="8100000" algn="bl" rotWithShape="0">
              <a:srgbClr val="000000">
                <a:alpha val="18000"/>
              </a:srgbClr>
            </a:outerShdw>
          </a:effectLst>
        </p:spPr>
        <p:txBody>
          <a:bodyPr/>
          <a:lstStyle/>
          <a:p>
            <a:endParaRPr lang="en-IN"/>
          </a:p>
        </p:txBody>
      </p:sp>
      <p:sp>
        <p:nvSpPr>
          <p:cNvPr id="22" name="Shape 20"/>
          <p:cNvSpPr/>
          <p:nvPr/>
        </p:nvSpPr>
        <p:spPr>
          <a:xfrm>
            <a:off x="228600" y="2907792"/>
            <a:ext cx="54864" cy="960120"/>
          </a:xfrm>
          <a:prstGeom prst="rect">
            <a:avLst/>
          </a:prstGeom>
          <a:solidFill>
            <a:srgbClr val="1B4F72"/>
          </a:solidFill>
          <a:ln w="12700">
            <a:solidFill>
              <a:srgbClr val="1B4F72"/>
            </a:solidFill>
            <a:prstDash val="solid"/>
          </a:ln>
        </p:spPr>
        <p:txBody>
          <a:bodyPr/>
          <a:lstStyle/>
          <a:p>
            <a:endParaRPr lang="en-IN"/>
          </a:p>
        </p:txBody>
      </p:sp>
      <p:sp>
        <p:nvSpPr>
          <p:cNvPr id="23" name="Shape 21"/>
          <p:cNvSpPr/>
          <p:nvPr/>
        </p:nvSpPr>
        <p:spPr>
          <a:xfrm>
            <a:off x="347472" y="2980944"/>
            <a:ext cx="292608" cy="292608"/>
          </a:xfrm>
          <a:prstGeom prst="ellipse">
            <a:avLst/>
          </a:prstGeom>
          <a:solidFill>
            <a:srgbClr val="E63946"/>
          </a:solidFill>
          <a:ln w="12700">
            <a:solidFill>
              <a:srgbClr val="E63946"/>
            </a:solidFill>
            <a:prstDash val="solid"/>
          </a:ln>
        </p:spPr>
        <p:txBody>
          <a:bodyPr/>
          <a:lstStyle/>
          <a:p>
            <a:endParaRPr lang="en-IN"/>
          </a:p>
        </p:txBody>
      </p:sp>
      <p:sp>
        <p:nvSpPr>
          <p:cNvPr id="24" name="Text 22"/>
          <p:cNvSpPr/>
          <p:nvPr/>
        </p:nvSpPr>
        <p:spPr>
          <a:xfrm>
            <a:off x="347472" y="2980944"/>
            <a:ext cx="292608" cy="29260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25" name="Text 23"/>
          <p:cNvSpPr/>
          <p:nvPr/>
        </p:nvSpPr>
        <p:spPr>
          <a:xfrm>
            <a:off x="694944" y="2962656"/>
            <a:ext cx="3200400" cy="320040"/>
          </a:xfrm>
          <a:prstGeom prst="rect">
            <a:avLst/>
          </a:prstGeom>
          <a:noFill/>
          <a:ln/>
        </p:spPr>
        <p:txBody>
          <a:bodyPr wrap="square" rtlCol="0" anchor="ctr"/>
          <a:lstStyle/>
          <a:p>
            <a:pPr marL="0" indent="0">
              <a:buNone/>
            </a:pPr>
            <a:r>
              <a:rPr lang="en-US" sz="1100" b="1" dirty="0">
                <a:solidFill>
                  <a:srgbClr val="0D1B2A"/>
                </a:solidFill>
              </a:rPr>
              <a:t>No Frequency-Based DoS Detection</a:t>
            </a:r>
            <a:endParaRPr lang="en-US" sz="1100" dirty="0"/>
          </a:p>
        </p:txBody>
      </p:sp>
      <p:sp>
        <p:nvSpPr>
          <p:cNvPr id="26" name="Shape 24"/>
          <p:cNvSpPr/>
          <p:nvPr/>
        </p:nvSpPr>
        <p:spPr>
          <a:xfrm>
            <a:off x="347472" y="3456432"/>
            <a:ext cx="292608" cy="292608"/>
          </a:xfrm>
          <a:prstGeom prst="ellipse">
            <a:avLst/>
          </a:prstGeom>
          <a:solidFill>
            <a:srgbClr val="2DC653"/>
          </a:solidFill>
          <a:ln w="12700">
            <a:solidFill>
              <a:srgbClr val="2DC653"/>
            </a:solidFill>
            <a:prstDash val="solid"/>
          </a:ln>
        </p:spPr>
        <p:txBody>
          <a:bodyPr/>
          <a:lstStyle/>
          <a:p>
            <a:endParaRPr lang="en-IN"/>
          </a:p>
        </p:txBody>
      </p:sp>
      <p:sp>
        <p:nvSpPr>
          <p:cNvPr id="27" name="Text 25"/>
          <p:cNvSpPr/>
          <p:nvPr/>
        </p:nvSpPr>
        <p:spPr>
          <a:xfrm>
            <a:off x="347472" y="3456432"/>
            <a:ext cx="292608" cy="29260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28" name="Text 26"/>
          <p:cNvSpPr/>
          <p:nvPr/>
        </p:nvSpPr>
        <p:spPr>
          <a:xfrm>
            <a:off x="694944" y="3438144"/>
            <a:ext cx="8046720" cy="347472"/>
          </a:xfrm>
          <a:prstGeom prst="rect">
            <a:avLst/>
          </a:prstGeom>
          <a:noFill/>
          <a:ln/>
        </p:spPr>
        <p:txBody>
          <a:bodyPr wrap="square" rtlCol="0" anchor="ctr"/>
          <a:lstStyle/>
          <a:p>
            <a:pPr marL="0" indent="0">
              <a:buNone/>
            </a:pPr>
            <a:r>
              <a:rPr lang="en-US" sz="1000" dirty="0">
                <a:solidFill>
                  <a:srgbClr val="475569"/>
                </a:solidFill>
              </a:rPr>
              <a:t>Wazuh frequency rule 100530 triggers after 10 FC06 alerts in 60 seconds using if_matched_sid correlation</a:t>
            </a:r>
            <a:endParaRPr lang="en-US" sz="1000" dirty="0"/>
          </a:p>
        </p:txBody>
      </p:sp>
      <p:sp>
        <p:nvSpPr>
          <p:cNvPr id="29" name="Shape 27"/>
          <p:cNvSpPr/>
          <p:nvPr/>
        </p:nvSpPr>
        <p:spPr>
          <a:xfrm>
            <a:off x="228600" y="3959352"/>
            <a:ext cx="8686800" cy="960120"/>
          </a:xfrm>
          <a:prstGeom prst="rect">
            <a:avLst/>
          </a:prstGeom>
          <a:solidFill>
            <a:srgbClr val="FFFFFF"/>
          </a:solidFill>
          <a:ln w="12700">
            <a:solidFill>
              <a:srgbClr val="D0DCE8"/>
            </a:solidFill>
            <a:prstDash val="solid"/>
          </a:ln>
          <a:effectLst>
            <a:outerShdw blurRad="101600" dist="38100" dir="8100000" algn="bl" rotWithShape="0">
              <a:srgbClr val="000000">
                <a:alpha val="18000"/>
              </a:srgbClr>
            </a:outerShdw>
          </a:effectLst>
        </p:spPr>
        <p:txBody>
          <a:bodyPr/>
          <a:lstStyle/>
          <a:p>
            <a:endParaRPr lang="en-IN"/>
          </a:p>
        </p:txBody>
      </p:sp>
      <p:sp>
        <p:nvSpPr>
          <p:cNvPr id="30" name="Shape 28"/>
          <p:cNvSpPr/>
          <p:nvPr/>
        </p:nvSpPr>
        <p:spPr>
          <a:xfrm>
            <a:off x="228600" y="3959352"/>
            <a:ext cx="54864" cy="960120"/>
          </a:xfrm>
          <a:prstGeom prst="rect">
            <a:avLst/>
          </a:prstGeom>
          <a:solidFill>
            <a:srgbClr val="00B4D8"/>
          </a:solidFill>
          <a:ln w="12700">
            <a:solidFill>
              <a:srgbClr val="00B4D8"/>
            </a:solidFill>
            <a:prstDash val="solid"/>
          </a:ln>
        </p:spPr>
        <p:txBody>
          <a:bodyPr/>
          <a:lstStyle/>
          <a:p>
            <a:endParaRPr lang="en-IN"/>
          </a:p>
        </p:txBody>
      </p:sp>
      <p:sp>
        <p:nvSpPr>
          <p:cNvPr id="31" name="Shape 29"/>
          <p:cNvSpPr/>
          <p:nvPr/>
        </p:nvSpPr>
        <p:spPr>
          <a:xfrm>
            <a:off x="347472" y="4032504"/>
            <a:ext cx="292608" cy="292608"/>
          </a:xfrm>
          <a:prstGeom prst="ellipse">
            <a:avLst/>
          </a:prstGeom>
          <a:solidFill>
            <a:srgbClr val="E63946"/>
          </a:solidFill>
          <a:ln w="12700">
            <a:solidFill>
              <a:srgbClr val="E63946"/>
            </a:solidFill>
            <a:prstDash val="solid"/>
          </a:ln>
        </p:spPr>
        <p:txBody>
          <a:bodyPr/>
          <a:lstStyle/>
          <a:p>
            <a:endParaRPr lang="en-IN"/>
          </a:p>
        </p:txBody>
      </p:sp>
      <p:sp>
        <p:nvSpPr>
          <p:cNvPr id="32" name="Text 30"/>
          <p:cNvSpPr/>
          <p:nvPr/>
        </p:nvSpPr>
        <p:spPr>
          <a:xfrm>
            <a:off x="347472" y="4032504"/>
            <a:ext cx="292608" cy="29260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33" name="Text 31"/>
          <p:cNvSpPr/>
          <p:nvPr/>
        </p:nvSpPr>
        <p:spPr>
          <a:xfrm>
            <a:off x="694944" y="4014216"/>
            <a:ext cx="3200400" cy="320040"/>
          </a:xfrm>
          <a:prstGeom prst="rect">
            <a:avLst/>
          </a:prstGeom>
          <a:noFill/>
          <a:ln/>
        </p:spPr>
        <p:txBody>
          <a:bodyPr wrap="square" rtlCol="0" anchor="ctr"/>
          <a:lstStyle/>
          <a:p>
            <a:pPr marL="0" indent="0">
              <a:buNone/>
            </a:pPr>
            <a:r>
              <a:rPr lang="en-US" sz="1100" b="1" dirty="0">
                <a:solidFill>
                  <a:srgbClr val="0D1B2A"/>
                </a:solidFill>
              </a:rPr>
              <a:t>No MITRE ATT&amp;CK for ICS Context</a:t>
            </a:r>
            <a:endParaRPr lang="en-US" sz="1100" dirty="0"/>
          </a:p>
        </p:txBody>
      </p:sp>
      <p:sp>
        <p:nvSpPr>
          <p:cNvPr id="34" name="Shape 32"/>
          <p:cNvSpPr/>
          <p:nvPr/>
        </p:nvSpPr>
        <p:spPr>
          <a:xfrm>
            <a:off x="347472" y="4507992"/>
            <a:ext cx="292608" cy="292608"/>
          </a:xfrm>
          <a:prstGeom prst="ellipse">
            <a:avLst/>
          </a:prstGeom>
          <a:solidFill>
            <a:srgbClr val="2DC653"/>
          </a:solidFill>
          <a:ln w="12700">
            <a:solidFill>
              <a:srgbClr val="2DC653"/>
            </a:solidFill>
            <a:prstDash val="solid"/>
          </a:ln>
        </p:spPr>
        <p:txBody>
          <a:bodyPr/>
          <a:lstStyle/>
          <a:p>
            <a:endParaRPr lang="en-IN"/>
          </a:p>
        </p:txBody>
      </p:sp>
      <p:sp>
        <p:nvSpPr>
          <p:cNvPr id="35" name="Text 33"/>
          <p:cNvSpPr/>
          <p:nvPr/>
        </p:nvSpPr>
        <p:spPr>
          <a:xfrm>
            <a:off x="347472" y="4507992"/>
            <a:ext cx="292608" cy="292608"/>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p:txBody>
      </p:sp>
      <p:sp>
        <p:nvSpPr>
          <p:cNvPr id="36" name="Text 34"/>
          <p:cNvSpPr/>
          <p:nvPr/>
        </p:nvSpPr>
        <p:spPr>
          <a:xfrm>
            <a:off x="694944" y="4489704"/>
            <a:ext cx="8046720" cy="347472"/>
          </a:xfrm>
          <a:prstGeom prst="rect">
            <a:avLst/>
          </a:prstGeom>
          <a:noFill/>
          <a:ln/>
        </p:spPr>
        <p:txBody>
          <a:bodyPr wrap="square" rtlCol="0" anchor="ctr"/>
          <a:lstStyle/>
          <a:p>
            <a:pPr marL="0" indent="0">
              <a:buNone/>
            </a:pPr>
            <a:r>
              <a:rPr lang="en-US" sz="1000" dirty="0">
                <a:solidFill>
                  <a:srgbClr val="475569"/>
                </a:solidFill>
              </a:rPr>
              <a:t>T0831, T0814, T0846 injected into Wazuh mitre.db — all rules now carry ICS technique and tactic labels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37160"/>
            <a:ext cx="8412480" cy="502920"/>
          </a:xfrm>
          <a:prstGeom prst="rect">
            <a:avLst/>
          </a:prstGeom>
          <a:noFill/>
          <a:ln/>
        </p:spPr>
        <p:txBody>
          <a:bodyPr wrap="square" rtlCol="0" anchor="ctr"/>
          <a:lstStyle/>
          <a:p>
            <a:pPr marL="0" indent="0">
              <a:buNone/>
            </a:pPr>
            <a:r>
              <a:rPr lang="en-US" sz="2600" b="1" dirty="0">
                <a:solidFill>
                  <a:srgbClr val="FFFFFF"/>
                </a:solidFill>
              </a:rPr>
              <a:t>Results Summary</a:t>
            </a:r>
            <a:endParaRPr lang="en-US" sz="2600" dirty="0"/>
          </a:p>
        </p:txBody>
      </p:sp>
      <p:sp>
        <p:nvSpPr>
          <p:cNvPr id="4" name="Shape 2"/>
          <p:cNvSpPr/>
          <p:nvPr/>
        </p:nvSpPr>
        <p:spPr>
          <a:xfrm>
            <a:off x="365760" y="658368"/>
            <a:ext cx="8412480" cy="27432"/>
          </a:xfrm>
          <a:prstGeom prst="rect">
            <a:avLst/>
          </a:prstGeom>
          <a:solidFill>
            <a:srgbClr val="00B4D8"/>
          </a:solidFill>
          <a:ln w="12700">
            <a:solidFill>
              <a:srgbClr val="00B4D8"/>
            </a:solidFill>
            <a:prstDash val="solid"/>
          </a:ln>
        </p:spPr>
        <p:txBody>
          <a:bodyPr/>
          <a:lstStyle/>
          <a:p>
            <a:endParaRPr lang="en-IN"/>
          </a:p>
        </p:txBody>
      </p:sp>
      <p:sp>
        <p:nvSpPr>
          <p:cNvPr id="5" name="Shape 3"/>
          <p:cNvSpPr/>
          <p:nvPr/>
        </p:nvSpPr>
        <p:spPr>
          <a:xfrm>
            <a:off x="457200" y="822960"/>
            <a:ext cx="1828800" cy="1371600"/>
          </a:xfrm>
          <a:prstGeom prst="rect">
            <a:avLst/>
          </a:prstGeom>
          <a:solidFill>
            <a:srgbClr val="0A1628"/>
          </a:solidFill>
          <a:ln w="19050">
            <a:solidFill>
              <a:srgbClr val="00B4D8"/>
            </a:solidFill>
            <a:prstDash val="solid"/>
          </a:ln>
          <a:effectLst>
            <a:outerShdw blurRad="101600" dist="38100" dir="8100000" algn="bl" rotWithShape="0">
              <a:srgbClr val="000000">
                <a:alpha val="18000"/>
              </a:srgbClr>
            </a:outerShdw>
          </a:effectLst>
        </p:spPr>
        <p:txBody>
          <a:bodyPr/>
          <a:lstStyle/>
          <a:p>
            <a:endParaRPr lang="en-IN"/>
          </a:p>
        </p:txBody>
      </p:sp>
      <p:sp>
        <p:nvSpPr>
          <p:cNvPr id="6" name="Text 4"/>
          <p:cNvSpPr/>
          <p:nvPr/>
        </p:nvSpPr>
        <p:spPr>
          <a:xfrm>
            <a:off x="457200" y="868680"/>
            <a:ext cx="1828800" cy="822960"/>
          </a:xfrm>
          <a:prstGeom prst="rect">
            <a:avLst/>
          </a:prstGeom>
          <a:noFill/>
          <a:ln/>
        </p:spPr>
        <p:txBody>
          <a:bodyPr wrap="square" rtlCol="0" anchor="ctr"/>
          <a:lstStyle/>
          <a:p>
            <a:pPr marL="0" indent="0" algn="ctr">
              <a:buNone/>
            </a:pPr>
            <a:r>
              <a:rPr lang="en-US" sz="4400" b="1" dirty="0">
                <a:solidFill>
                  <a:srgbClr val="00B4D8"/>
                </a:solidFill>
              </a:rPr>
              <a:t>4</a:t>
            </a:r>
            <a:endParaRPr lang="en-US" sz="4400" dirty="0"/>
          </a:p>
        </p:txBody>
      </p:sp>
      <p:sp>
        <p:nvSpPr>
          <p:cNvPr id="7" name="Text 5"/>
          <p:cNvSpPr/>
          <p:nvPr/>
        </p:nvSpPr>
        <p:spPr>
          <a:xfrm>
            <a:off x="457200" y="1691640"/>
            <a:ext cx="1828800" cy="457200"/>
          </a:xfrm>
          <a:prstGeom prst="rect">
            <a:avLst/>
          </a:prstGeom>
          <a:noFill/>
          <a:ln/>
        </p:spPr>
        <p:txBody>
          <a:bodyPr wrap="square" rtlCol="0" anchor="ctr"/>
          <a:lstStyle/>
          <a:p>
            <a:pPr marL="0" indent="0" algn="ctr">
              <a:buNone/>
            </a:pPr>
            <a:r>
              <a:rPr lang="en-US" sz="1000" dirty="0">
                <a:solidFill>
                  <a:srgbClr val="8FA3B1"/>
                </a:solidFill>
              </a:rPr>
              <a:t>Attacks</a:t>
            </a:r>
            <a:endParaRPr lang="en-US" sz="1000" dirty="0"/>
          </a:p>
          <a:p>
            <a:pPr marL="0" indent="0" algn="ctr">
              <a:buNone/>
            </a:pPr>
            <a:r>
              <a:rPr lang="en-US" sz="1000" dirty="0">
                <a:solidFill>
                  <a:srgbClr val="8FA3B1"/>
                </a:solidFill>
              </a:rPr>
              <a:t>Executed</a:t>
            </a:r>
            <a:endParaRPr lang="en-US" sz="1000" dirty="0"/>
          </a:p>
        </p:txBody>
      </p:sp>
      <p:sp>
        <p:nvSpPr>
          <p:cNvPr id="8" name="Shape 6"/>
          <p:cNvSpPr/>
          <p:nvPr/>
        </p:nvSpPr>
        <p:spPr>
          <a:xfrm>
            <a:off x="2560320" y="822960"/>
            <a:ext cx="1828800" cy="1371600"/>
          </a:xfrm>
          <a:prstGeom prst="rect">
            <a:avLst/>
          </a:prstGeom>
          <a:solidFill>
            <a:srgbClr val="0A1628"/>
          </a:solidFill>
          <a:ln w="19050">
            <a:solidFill>
              <a:srgbClr val="2DC653"/>
            </a:solidFill>
            <a:prstDash val="solid"/>
          </a:ln>
          <a:effectLst>
            <a:outerShdw blurRad="101600" dist="38100" dir="8100000" algn="bl" rotWithShape="0">
              <a:srgbClr val="000000">
                <a:alpha val="18000"/>
              </a:srgbClr>
            </a:outerShdw>
          </a:effectLst>
        </p:spPr>
        <p:txBody>
          <a:bodyPr/>
          <a:lstStyle/>
          <a:p>
            <a:endParaRPr lang="en-IN"/>
          </a:p>
        </p:txBody>
      </p:sp>
      <p:sp>
        <p:nvSpPr>
          <p:cNvPr id="9" name="Text 7"/>
          <p:cNvSpPr/>
          <p:nvPr/>
        </p:nvSpPr>
        <p:spPr>
          <a:xfrm>
            <a:off x="2560320" y="868680"/>
            <a:ext cx="1828800" cy="822960"/>
          </a:xfrm>
          <a:prstGeom prst="rect">
            <a:avLst/>
          </a:prstGeom>
          <a:noFill/>
          <a:ln/>
        </p:spPr>
        <p:txBody>
          <a:bodyPr wrap="square" rtlCol="0" anchor="ctr"/>
          <a:lstStyle/>
          <a:p>
            <a:pPr marL="0" indent="0" algn="ctr">
              <a:buNone/>
            </a:pPr>
            <a:r>
              <a:rPr lang="en-US" sz="4400" b="1" dirty="0">
                <a:solidFill>
                  <a:srgbClr val="2DC653"/>
                </a:solidFill>
              </a:rPr>
              <a:t>4</a:t>
            </a:r>
            <a:endParaRPr lang="en-US" sz="4400" dirty="0"/>
          </a:p>
        </p:txBody>
      </p:sp>
      <p:sp>
        <p:nvSpPr>
          <p:cNvPr id="10" name="Text 8"/>
          <p:cNvSpPr/>
          <p:nvPr/>
        </p:nvSpPr>
        <p:spPr>
          <a:xfrm>
            <a:off x="2560320" y="1691640"/>
            <a:ext cx="1828800" cy="457200"/>
          </a:xfrm>
          <a:prstGeom prst="rect">
            <a:avLst/>
          </a:prstGeom>
          <a:noFill/>
          <a:ln/>
        </p:spPr>
        <p:txBody>
          <a:bodyPr wrap="square" rtlCol="0" anchor="ctr"/>
          <a:lstStyle/>
          <a:p>
            <a:pPr marL="0" indent="0" algn="ctr">
              <a:buNone/>
            </a:pPr>
            <a:r>
              <a:rPr lang="en-US" sz="1000" dirty="0">
                <a:solidFill>
                  <a:srgbClr val="8FA3B1"/>
                </a:solidFill>
              </a:rPr>
              <a:t>Attacks</a:t>
            </a:r>
            <a:endParaRPr lang="en-US" sz="1000" dirty="0"/>
          </a:p>
          <a:p>
            <a:pPr marL="0" indent="0" algn="ctr">
              <a:buNone/>
            </a:pPr>
            <a:r>
              <a:rPr lang="en-US" sz="1000" dirty="0">
                <a:solidFill>
                  <a:srgbClr val="8FA3B1"/>
                </a:solidFill>
              </a:rPr>
              <a:t>Detected</a:t>
            </a:r>
            <a:endParaRPr lang="en-US" sz="1000" dirty="0"/>
          </a:p>
        </p:txBody>
      </p:sp>
      <p:sp>
        <p:nvSpPr>
          <p:cNvPr id="11" name="Shape 9"/>
          <p:cNvSpPr/>
          <p:nvPr/>
        </p:nvSpPr>
        <p:spPr>
          <a:xfrm>
            <a:off x="4663440" y="822960"/>
            <a:ext cx="1828800" cy="1371600"/>
          </a:xfrm>
          <a:prstGeom prst="rect">
            <a:avLst/>
          </a:prstGeom>
          <a:solidFill>
            <a:srgbClr val="0A1628"/>
          </a:solidFill>
          <a:ln w="19050">
            <a:solidFill>
              <a:srgbClr val="2DC653"/>
            </a:solidFill>
            <a:prstDash val="solid"/>
          </a:ln>
          <a:effectLst>
            <a:outerShdw blurRad="101600" dist="38100" dir="8100000" algn="bl" rotWithShape="0">
              <a:srgbClr val="000000">
                <a:alpha val="18000"/>
              </a:srgbClr>
            </a:outerShdw>
          </a:effectLst>
        </p:spPr>
        <p:txBody>
          <a:bodyPr/>
          <a:lstStyle/>
          <a:p>
            <a:endParaRPr lang="en-IN"/>
          </a:p>
        </p:txBody>
      </p:sp>
      <p:sp>
        <p:nvSpPr>
          <p:cNvPr id="12" name="Text 10"/>
          <p:cNvSpPr/>
          <p:nvPr/>
        </p:nvSpPr>
        <p:spPr>
          <a:xfrm>
            <a:off x="4663440" y="868680"/>
            <a:ext cx="1828800" cy="822960"/>
          </a:xfrm>
          <a:prstGeom prst="rect">
            <a:avLst/>
          </a:prstGeom>
          <a:noFill/>
          <a:ln/>
        </p:spPr>
        <p:txBody>
          <a:bodyPr wrap="square" rtlCol="0" anchor="ctr"/>
          <a:lstStyle/>
          <a:p>
            <a:pPr marL="0" indent="0" algn="ctr">
              <a:buNone/>
            </a:pPr>
            <a:r>
              <a:rPr lang="en-US" sz="4400" b="1" dirty="0">
                <a:solidFill>
                  <a:srgbClr val="2DC653"/>
                </a:solidFill>
              </a:rPr>
              <a:t>100%</a:t>
            </a:r>
            <a:endParaRPr lang="en-US" sz="4400" dirty="0"/>
          </a:p>
        </p:txBody>
      </p:sp>
      <p:sp>
        <p:nvSpPr>
          <p:cNvPr id="13" name="Text 11"/>
          <p:cNvSpPr/>
          <p:nvPr/>
        </p:nvSpPr>
        <p:spPr>
          <a:xfrm>
            <a:off x="4663440" y="1691640"/>
            <a:ext cx="1828800" cy="457200"/>
          </a:xfrm>
          <a:prstGeom prst="rect">
            <a:avLst/>
          </a:prstGeom>
          <a:noFill/>
          <a:ln/>
        </p:spPr>
        <p:txBody>
          <a:bodyPr wrap="square" rtlCol="0" anchor="ctr"/>
          <a:lstStyle/>
          <a:p>
            <a:pPr marL="0" indent="0" algn="ctr">
              <a:buNone/>
            </a:pPr>
            <a:r>
              <a:rPr lang="en-US" sz="1000" dirty="0">
                <a:solidFill>
                  <a:srgbClr val="8FA3B1"/>
                </a:solidFill>
              </a:rPr>
              <a:t>Detection</a:t>
            </a:r>
            <a:endParaRPr lang="en-US" sz="1000" dirty="0"/>
          </a:p>
          <a:p>
            <a:pPr marL="0" indent="0" algn="ctr">
              <a:buNone/>
            </a:pPr>
            <a:r>
              <a:rPr lang="en-US" sz="1000" dirty="0">
                <a:solidFill>
                  <a:srgbClr val="8FA3B1"/>
                </a:solidFill>
              </a:rPr>
              <a:t>Rate</a:t>
            </a:r>
            <a:endParaRPr lang="en-US" sz="1000" dirty="0"/>
          </a:p>
        </p:txBody>
      </p:sp>
      <p:sp>
        <p:nvSpPr>
          <p:cNvPr id="14" name="Shape 12"/>
          <p:cNvSpPr/>
          <p:nvPr/>
        </p:nvSpPr>
        <p:spPr>
          <a:xfrm>
            <a:off x="6766560" y="822960"/>
            <a:ext cx="1828800" cy="1371600"/>
          </a:xfrm>
          <a:prstGeom prst="rect">
            <a:avLst/>
          </a:prstGeom>
          <a:solidFill>
            <a:srgbClr val="0A1628"/>
          </a:solidFill>
          <a:ln w="19050">
            <a:solidFill>
              <a:srgbClr val="F4A261"/>
            </a:solidFill>
            <a:prstDash val="solid"/>
          </a:ln>
          <a:effectLst>
            <a:outerShdw blurRad="101600" dist="38100" dir="8100000" algn="bl" rotWithShape="0">
              <a:srgbClr val="000000">
                <a:alpha val="18000"/>
              </a:srgbClr>
            </a:outerShdw>
          </a:effectLst>
        </p:spPr>
        <p:txBody>
          <a:bodyPr/>
          <a:lstStyle/>
          <a:p>
            <a:endParaRPr lang="en-IN"/>
          </a:p>
        </p:txBody>
      </p:sp>
      <p:sp>
        <p:nvSpPr>
          <p:cNvPr id="15" name="Text 13"/>
          <p:cNvSpPr/>
          <p:nvPr/>
        </p:nvSpPr>
        <p:spPr>
          <a:xfrm>
            <a:off x="6766560" y="868680"/>
            <a:ext cx="1828800" cy="822960"/>
          </a:xfrm>
          <a:prstGeom prst="rect">
            <a:avLst/>
          </a:prstGeom>
          <a:noFill/>
          <a:ln/>
        </p:spPr>
        <p:txBody>
          <a:bodyPr wrap="square" rtlCol="0" anchor="ctr"/>
          <a:lstStyle/>
          <a:p>
            <a:pPr marL="0" indent="0" algn="ctr">
              <a:buNone/>
            </a:pPr>
            <a:r>
              <a:rPr lang="en-US" sz="4400" b="1" dirty="0">
                <a:solidFill>
                  <a:srgbClr val="F4A261"/>
                </a:solidFill>
              </a:rPr>
              <a:t>3</a:t>
            </a:r>
            <a:endParaRPr lang="en-US" sz="4400" dirty="0"/>
          </a:p>
        </p:txBody>
      </p:sp>
      <p:sp>
        <p:nvSpPr>
          <p:cNvPr id="16" name="Text 14"/>
          <p:cNvSpPr/>
          <p:nvPr/>
        </p:nvSpPr>
        <p:spPr>
          <a:xfrm>
            <a:off x="6766560" y="1691640"/>
            <a:ext cx="1828800" cy="457200"/>
          </a:xfrm>
          <a:prstGeom prst="rect">
            <a:avLst/>
          </a:prstGeom>
          <a:noFill/>
          <a:ln/>
        </p:spPr>
        <p:txBody>
          <a:bodyPr wrap="square" rtlCol="0" anchor="ctr"/>
          <a:lstStyle/>
          <a:p>
            <a:pPr marL="0" indent="0" algn="ctr">
              <a:buNone/>
            </a:pPr>
            <a:r>
              <a:rPr lang="en-US" sz="1000" dirty="0">
                <a:solidFill>
                  <a:srgbClr val="8FA3B1"/>
                </a:solidFill>
              </a:rPr>
              <a:t>MITRE ICS</a:t>
            </a:r>
            <a:endParaRPr lang="en-US" sz="1000" dirty="0"/>
          </a:p>
          <a:p>
            <a:pPr marL="0" indent="0" algn="ctr">
              <a:buNone/>
            </a:pPr>
            <a:r>
              <a:rPr lang="en-US" sz="1000" dirty="0">
                <a:solidFill>
                  <a:srgbClr val="8FA3B1"/>
                </a:solidFill>
              </a:rPr>
              <a:t>Techniques</a:t>
            </a:r>
            <a:endParaRPr lang="en-US" sz="1000" dirty="0"/>
          </a:p>
        </p:txBody>
      </p:sp>
      <p:sp>
        <p:nvSpPr>
          <p:cNvPr id="17" name="Shape 15"/>
          <p:cNvSpPr/>
          <p:nvPr/>
        </p:nvSpPr>
        <p:spPr>
          <a:xfrm>
            <a:off x="228600" y="2377440"/>
            <a:ext cx="2011680" cy="365760"/>
          </a:xfrm>
          <a:prstGeom prst="rect">
            <a:avLst/>
          </a:prstGeom>
          <a:solidFill>
            <a:srgbClr val="1B4F72"/>
          </a:solidFill>
          <a:ln w="6350">
            <a:solidFill>
              <a:srgbClr val="00B4D8"/>
            </a:solidFill>
            <a:prstDash val="solid"/>
          </a:ln>
        </p:spPr>
        <p:txBody>
          <a:bodyPr/>
          <a:lstStyle/>
          <a:p>
            <a:endParaRPr lang="en-IN"/>
          </a:p>
        </p:txBody>
      </p:sp>
      <p:sp>
        <p:nvSpPr>
          <p:cNvPr id="18" name="Text 16"/>
          <p:cNvSpPr/>
          <p:nvPr/>
        </p:nvSpPr>
        <p:spPr>
          <a:xfrm>
            <a:off x="228600" y="2377440"/>
            <a:ext cx="2011680" cy="365760"/>
          </a:xfrm>
          <a:prstGeom prst="rect">
            <a:avLst/>
          </a:prstGeom>
          <a:noFill/>
          <a:ln/>
        </p:spPr>
        <p:txBody>
          <a:bodyPr wrap="square" rtlCol="0" anchor="ctr"/>
          <a:lstStyle/>
          <a:p>
            <a:pPr marL="0" indent="0" algn="ctr">
              <a:buNone/>
            </a:pPr>
            <a:r>
              <a:rPr lang="en-US" sz="950" b="1" dirty="0">
                <a:solidFill>
                  <a:srgbClr val="FFFFFF"/>
                </a:solidFill>
              </a:rPr>
              <a:t>Attack Type</a:t>
            </a:r>
            <a:endParaRPr lang="en-US" sz="950" dirty="0"/>
          </a:p>
        </p:txBody>
      </p:sp>
      <p:sp>
        <p:nvSpPr>
          <p:cNvPr id="19" name="Shape 17"/>
          <p:cNvSpPr/>
          <p:nvPr/>
        </p:nvSpPr>
        <p:spPr>
          <a:xfrm>
            <a:off x="2240280" y="2377440"/>
            <a:ext cx="914400" cy="365760"/>
          </a:xfrm>
          <a:prstGeom prst="rect">
            <a:avLst/>
          </a:prstGeom>
          <a:solidFill>
            <a:srgbClr val="1B4F72"/>
          </a:solidFill>
          <a:ln w="6350">
            <a:solidFill>
              <a:srgbClr val="00B4D8"/>
            </a:solidFill>
            <a:prstDash val="solid"/>
          </a:ln>
        </p:spPr>
        <p:txBody>
          <a:bodyPr/>
          <a:lstStyle/>
          <a:p>
            <a:endParaRPr lang="en-IN"/>
          </a:p>
        </p:txBody>
      </p:sp>
      <p:sp>
        <p:nvSpPr>
          <p:cNvPr id="20" name="Text 18"/>
          <p:cNvSpPr/>
          <p:nvPr/>
        </p:nvSpPr>
        <p:spPr>
          <a:xfrm>
            <a:off x="2240280" y="2377440"/>
            <a:ext cx="914400" cy="365760"/>
          </a:xfrm>
          <a:prstGeom prst="rect">
            <a:avLst/>
          </a:prstGeom>
          <a:noFill/>
          <a:ln/>
        </p:spPr>
        <p:txBody>
          <a:bodyPr wrap="square" rtlCol="0" anchor="ctr"/>
          <a:lstStyle/>
          <a:p>
            <a:pPr marL="0" indent="0" algn="ctr">
              <a:buNone/>
            </a:pPr>
            <a:r>
              <a:rPr lang="en-US" sz="950" b="1" dirty="0">
                <a:solidFill>
                  <a:srgbClr val="FFFFFF"/>
                </a:solidFill>
              </a:rPr>
              <a:t>FC Code</a:t>
            </a:r>
            <a:endParaRPr lang="en-US" sz="950" dirty="0"/>
          </a:p>
        </p:txBody>
      </p:sp>
      <p:sp>
        <p:nvSpPr>
          <p:cNvPr id="21" name="Shape 19"/>
          <p:cNvSpPr/>
          <p:nvPr/>
        </p:nvSpPr>
        <p:spPr>
          <a:xfrm>
            <a:off x="3154680" y="2377440"/>
            <a:ext cx="1371600" cy="365760"/>
          </a:xfrm>
          <a:prstGeom prst="rect">
            <a:avLst/>
          </a:prstGeom>
          <a:solidFill>
            <a:srgbClr val="1B4F72"/>
          </a:solidFill>
          <a:ln w="6350">
            <a:solidFill>
              <a:srgbClr val="00B4D8"/>
            </a:solidFill>
            <a:prstDash val="solid"/>
          </a:ln>
        </p:spPr>
        <p:txBody>
          <a:bodyPr/>
          <a:lstStyle/>
          <a:p>
            <a:endParaRPr lang="en-IN"/>
          </a:p>
        </p:txBody>
      </p:sp>
      <p:sp>
        <p:nvSpPr>
          <p:cNvPr id="22" name="Text 20"/>
          <p:cNvSpPr/>
          <p:nvPr/>
        </p:nvSpPr>
        <p:spPr>
          <a:xfrm>
            <a:off x="3154680" y="2377440"/>
            <a:ext cx="1371600" cy="365760"/>
          </a:xfrm>
          <a:prstGeom prst="rect">
            <a:avLst/>
          </a:prstGeom>
          <a:noFill/>
          <a:ln/>
        </p:spPr>
        <p:txBody>
          <a:bodyPr wrap="square" rtlCol="0" anchor="ctr"/>
          <a:lstStyle/>
          <a:p>
            <a:pPr marL="0" indent="0" algn="ctr">
              <a:buNone/>
            </a:pPr>
            <a:r>
              <a:rPr lang="en-US" sz="950" b="1" dirty="0">
                <a:solidFill>
                  <a:srgbClr val="FFFFFF"/>
                </a:solidFill>
              </a:rPr>
              <a:t>Rule</a:t>
            </a:r>
            <a:endParaRPr lang="en-US" sz="950" dirty="0"/>
          </a:p>
        </p:txBody>
      </p:sp>
      <p:sp>
        <p:nvSpPr>
          <p:cNvPr id="23" name="Shape 21"/>
          <p:cNvSpPr/>
          <p:nvPr/>
        </p:nvSpPr>
        <p:spPr>
          <a:xfrm>
            <a:off x="4526280" y="2377440"/>
            <a:ext cx="1828800" cy="365760"/>
          </a:xfrm>
          <a:prstGeom prst="rect">
            <a:avLst/>
          </a:prstGeom>
          <a:solidFill>
            <a:srgbClr val="1B4F72"/>
          </a:solidFill>
          <a:ln w="6350">
            <a:solidFill>
              <a:srgbClr val="00B4D8"/>
            </a:solidFill>
            <a:prstDash val="solid"/>
          </a:ln>
        </p:spPr>
        <p:txBody>
          <a:bodyPr/>
          <a:lstStyle/>
          <a:p>
            <a:endParaRPr lang="en-IN"/>
          </a:p>
        </p:txBody>
      </p:sp>
      <p:sp>
        <p:nvSpPr>
          <p:cNvPr id="24" name="Text 22"/>
          <p:cNvSpPr/>
          <p:nvPr/>
        </p:nvSpPr>
        <p:spPr>
          <a:xfrm>
            <a:off x="4526280" y="2377440"/>
            <a:ext cx="1828800" cy="365760"/>
          </a:xfrm>
          <a:prstGeom prst="rect">
            <a:avLst/>
          </a:prstGeom>
          <a:noFill/>
          <a:ln/>
        </p:spPr>
        <p:txBody>
          <a:bodyPr wrap="square" rtlCol="0" anchor="ctr"/>
          <a:lstStyle/>
          <a:p>
            <a:pPr marL="0" indent="0" algn="ctr">
              <a:buNone/>
            </a:pPr>
            <a:r>
              <a:rPr lang="en-US" sz="950" b="1" dirty="0">
                <a:solidFill>
                  <a:srgbClr val="FFFFFF"/>
                </a:solidFill>
              </a:rPr>
              <a:t>MITRE Technique</a:t>
            </a:r>
            <a:endParaRPr lang="en-US" sz="950" dirty="0"/>
          </a:p>
        </p:txBody>
      </p:sp>
      <p:sp>
        <p:nvSpPr>
          <p:cNvPr id="25" name="Shape 23"/>
          <p:cNvSpPr/>
          <p:nvPr/>
        </p:nvSpPr>
        <p:spPr>
          <a:xfrm>
            <a:off x="6355080" y="2377440"/>
            <a:ext cx="1645920" cy="365760"/>
          </a:xfrm>
          <a:prstGeom prst="rect">
            <a:avLst/>
          </a:prstGeom>
          <a:solidFill>
            <a:srgbClr val="1B4F72"/>
          </a:solidFill>
          <a:ln w="6350">
            <a:solidFill>
              <a:srgbClr val="00B4D8"/>
            </a:solidFill>
            <a:prstDash val="solid"/>
          </a:ln>
        </p:spPr>
        <p:txBody>
          <a:bodyPr/>
          <a:lstStyle/>
          <a:p>
            <a:endParaRPr lang="en-IN"/>
          </a:p>
        </p:txBody>
      </p:sp>
      <p:sp>
        <p:nvSpPr>
          <p:cNvPr id="26" name="Text 24"/>
          <p:cNvSpPr/>
          <p:nvPr/>
        </p:nvSpPr>
        <p:spPr>
          <a:xfrm>
            <a:off x="6355080" y="2377440"/>
            <a:ext cx="1645920" cy="365760"/>
          </a:xfrm>
          <a:prstGeom prst="rect">
            <a:avLst/>
          </a:prstGeom>
          <a:noFill/>
          <a:ln/>
        </p:spPr>
        <p:txBody>
          <a:bodyPr wrap="square" rtlCol="0" anchor="ctr"/>
          <a:lstStyle/>
          <a:p>
            <a:pPr marL="0" indent="0" algn="ctr">
              <a:buNone/>
            </a:pPr>
            <a:r>
              <a:rPr lang="en-US" sz="950" b="1" dirty="0">
                <a:solidFill>
                  <a:srgbClr val="FFFFFF"/>
                </a:solidFill>
              </a:rPr>
              <a:t>Tactic</a:t>
            </a:r>
            <a:endParaRPr lang="en-US" sz="950" dirty="0"/>
          </a:p>
        </p:txBody>
      </p:sp>
      <p:sp>
        <p:nvSpPr>
          <p:cNvPr id="27" name="Shape 25"/>
          <p:cNvSpPr/>
          <p:nvPr/>
        </p:nvSpPr>
        <p:spPr>
          <a:xfrm>
            <a:off x="8001000" y="2377440"/>
            <a:ext cx="1097280" cy="365760"/>
          </a:xfrm>
          <a:prstGeom prst="rect">
            <a:avLst/>
          </a:prstGeom>
          <a:solidFill>
            <a:srgbClr val="1B4F72"/>
          </a:solidFill>
          <a:ln w="6350">
            <a:solidFill>
              <a:srgbClr val="00B4D8"/>
            </a:solidFill>
            <a:prstDash val="solid"/>
          </a:ln>
        </p:spPr>
        <p:txBody>
          <a:bodyPr/>
          <a:lstStyle/>
          <a:p>
            <a:endParaRPr lang="en-IN"/>
          </a:p>
        </p:txBody>
      </p:sp>
      <p:sp>
        <p:nvSpPr>
          <p:cNvPr id="28" name="Text 26"/>
          <p:cNvSpPr/>
          <p:nvPr/>
        </p:nvSpPr>
        <p:spPr>
          <a:xfrm>
            <a:off x="8001000" y="2377440"/>
            <a:ext cx="1097280" cy="365760"/>
          </a:xfrm>
          <a:prstGeom prst="rect">
            <a:avLst/>
          </a:prstGeom>
          <a:noFill/>
          <a:ln/>
        </p:spPr>
        <p:txBody>
          <a:bodyPr wrap="square" rtlCol="0" anchor="ctr"/>
          <a:lstStyle/>
          <a:p>
            <a:pPr marL="0" indent="0" algn="ctr">
              <a:buNone/>
            </a:pPr>
            <a:r>
              <a:rPr lang="en-US" sz="950" b="1" dirty="0">
                <a:solidFill>
                  <a:srgbClr val="FFFFFF"/>
                </a:solidFill>
              </a:rPr>
              <a:t>Detected</a:t>
            </a:r>
            <a:endParaRPr lang="en-US" sz="950" dirty="0"/>
          </a:p>
        </p:txBody>
      </p:sp>
      <p:sp>
        <p:nvSpPr>
          <p:cNvPr id="29" name="Shape 27"/>
          <p:cNvSpPr/>
          <p:nvPr/>
        </p:nvSpPr>
        <p:spPr>
          <a:xfrm>
            <a:off x="228600" y="2743200"/>
            <a:ext cx="2011680" cy="420624"/>
          </a:xfrm>
          <a:prstGeom prst="rect">
            <a:avLst/>
          </a:prstGeom>
          <a:solidFill>
            <a:srgbClr val="0A1628"/>
          </a:solidFill>
          <a:ln w="6350">
            <a:solidFill>
              <a:srgbClr val="1B4F72"/>
            </a:solidFill>
            <a:prstDash val="solid"/>
          </a:ln>
        </p:spPr>
        <p:txBody>
          <a:bodyPr/>
          <a:lstStyle/>
          <a:p>
            <a:endParaRPr lang="en-IN"/>
          </a:p>
        </p:txBody>
      </p:sp>
      <p:sp>
        <p:nvSpPr>
          <p:cNvPr id="30" name="Text 28"/>
          <p:cNvSpPr/>
          <p:nvPr/>
        </p:nvSpPr>
        <p:spPr>
          <a:xfrm>
            <a:off x="228600" y="2743200"/>
            <a:ext cx="2011680" cy="420624"/>
          </a:xfrm>
          <a:prstGeom prst="rect">
            <a:avLst/>
          </a:prstGeom>
          <a:noFill/>
          <a:ln/>
        </p:spPr>
        <p:txBody>
          <a:bodyPr wrap="square" rtlCol="0" anchor="ctr"/>
          <a:lstStyle/>
          <a:p>
            <a:pPr marL="0" indent="0" algn="ctr">
              <a:buNone/>
            </a:pPr>
            <a:r>
              <a:rPr lang="en-US" sz="1000" dirty="0">
                <a:solidFill>
                  <a:srgbClr val="FFFFFF"/>
                </a:solidFill>
              </a:rPr>
              <a:t>FC03 Read Recon</a:t>
            </a:r>
            <a:endParaRPr lang="en-US" sz="1000" dirty="0"/>
          </a:p>
        </p:txBody>
      </p:sp>
      <p:sp>
        <p:nvSpPr>
          <p:cNvPr id="31" name="Shape 29"/>
          <p:cNvSpPr/>
          <p:nvPr/>
        </p:nvSpPr>
        <p:spPr>
          <a:xfrm>
            <a:off x="2240280" y="2743200"/>
            <a:ext cx="914400" cy="420624"/>
          </a:xfrm>
          <a:prstGeom prst="rect">
            <a:avLst/>
          </a:prstGeom>
          <a:solidFill>
            <a:srgbClr val="0A1628"/>
          </a:solidFill>
          <a:ln w="6350">
            <a:solidFill>
              <a:srgbClr val="1B4F72"/>
            </a:solidFill>
            <a:prstDash val="solid"/>
          </a:ln>
        </p:spPr>
        <p:txBody>
          <a:bodyPr/>
          <a:lstStyle/>
          <a:p>
            <a:endParaRPr lang="en-IN"/>
          </a:p>
        </p:txBody>
      </p:sp>
      <p:sp>
        <p:nvSpPr>
          <p:cNvPr id="32" name="Text 30"/>
          <p:cNvSpPr/>
          <p:nvPr/>
        </p:nvSpPr>
        <p:spPr>
          <a:xfrm>
            <a:off x="2240280" y="2743200"/>
            <a:ext cx="914400" cy="420624"/>
          </a:xfrm>
          <a:prstGeom prst="rect">
            <a:avLst/>
          </a:prstGeom>
          <a:noFill/>
          <a:ln/>
        </p:spPr>
        <p:txBody>
          <a:bodyPr wrap="square" rtlCol="0" anchor="ctr"/>
          <a:lstStyle/>
          <a:p>
            <a:pPr marL="0" indent="0" algn="ctr">
              <a:buNone/>
            </a:pPr>
            <a:r>
              <a:rPr lang="en-US" sz="1000" dirty="0">
                <a:solidFill>
                  <a:srgbClr val="FFFFFF"/>
                </a:solidFill>
              </a:rPr>
              <a:t>FC03</a:t>
            </a:r>
            <a:endParaRPr lang="en-US" sz="1000" dirty="0"/>
          </a:p>
        </p:txBody>
      </p:sp>
      <p:sp>
        <p:nvSpPr>
          <p:cNvPr id="33" name="Shape 31"/>
          <p:cNvSpPr/>
          <p:nvPr/>
        </p:nvSpPr>
        <p:spPr>
          <a:xfrm>
            <a:off x="3154680" y="2743200"/>
            <a:ext cx="1371600" cy="420624"/>
          </a:xfrm>
          <a:prstGeom prst="rect">
            <a:avLst/>
          </a:prstGeom>
          <a:solidFill>
            <a:srgbClr val="0A1628"/>
          </a:solidFill>
          <a:ln w="6350">
            <a:solidFill>
              <a:srgbClr val="1B4F72"/>
            </a:solidFill>
            <a:prstDash val="solid"/>
          </a:ln>
        </p:spPr>
        <p:txBody>
          <a:bodyPr/>
          <a:lstStyle/>
          <a:p>
            <a:endParaRPr lang="en-IN"/>
          </a:p>
        </p:txBody>
      </p:sp>
      <p:sp>
        <p:nvSpPr>
          <p:cNvPr id="34" name="Text 32"/>
          <p:cNvSpPr/>
          <p:nvPr/>
        </p:nvSpPr>
        <p:spPr>
          <a:xfrm>
            <a:off x="3154680" y="2743200"/>
            <a:ext cx="1371600" cy="420624"/>
          </a:xfrm>
          <a:prstGeom prst="rect">
            <a:avLst/>
          </a:prstGeom>
          <a:noFill/>
          <a:ln/>
        </p:spPr>
        <p:txBody>
          <a:bodyPr wrap="square" rtlCol="0" anchor="ctr"/>
          <a:lstStyle/>
          <a:p>
            <a:pPr marL="0" indent="0" algn="ctr">
              <a:buNone/>
            </a:pPr>
            <a:r>
              <a:rPr lang="en-US" sz="1000" dirty="0">
                <a:solidFill>
                  <a:srgbClr val="00B4D8"/>
                </a:solidFill>
              </a:rPr>
              <a:t>100510 L7</a:t>
            </a:r>
            <a:endParaRPr lang="en-US" sz="1000" dirty="0"/>
          </a:p>
        </p:txBody>
      </p:sp>
      <p:sp>
        <p:nvSpPr>
          <p:cNvPr id="35" name="Shape 33"/>
          <p:cNvSpPr/>
          <p:nvPr/>
        </p:nvSpPr>
        <p:spPr>
          <a:xfrm>
            <a:off x="4526280" y="2743200"/>
            <a:ext cx="1828800" cy="420624"/>
          </a:xfrm>
          <a:prstGeom prst="rect">
            <a:avLst/>
          </a:prstGeom>
          <a:solidFill>
            <a:srgbClr val="0A1628"/>
          </a:solidFill>
          <a:ln w="6350">
            <a:solidFill>
              <a:srgbClr val="1B4F72"/>
            </a:solidFill>
            <a:prstDash val="solid"/>
          </a:ln>
        </p:spPr>
        <p:txBody>
          <a:bodyPr/>
          <a:lstStyle/>
          <a:p>
            <a:endParaRPr lang="en-IN"/>
          </a:p>
        </p:txBody>
      </p:sp>
      <p:sp>
        <p:nvSpPr>
          <p:cNvPr id="36" name="Text 34"/>
          <p:cNvSpPr/>
          <p:nvPr/>
        </p:nvSpPr>
        <p:spPr>
          <a:xfrm>
            <a:off x="4526280" y="2743200"/>
            <a:ext cx="1828800" cy="420624"/>
          </a:xfrm>
          <a:prstGeom prst="rect">
            <a:avLst/>
          </a:prstGeom>
          <a:noFill/>
          <a:ln/>
        </p:spPr>
        <p:txBody>
          <a:bodyPr wrap="square" rtlCol="0" anchor="ctr"/>
          <a:lstStyle/>
          <a:p>
            <a:pPr marL="0" indent="0" algn="ctr">
              <a:buNone/>
            </a:pPr>
            <a:r>
              <a:rPr lang="en-US" sz="1000" dirty="0">
                <a:solidFill>
                  <a:srgbClr val="FFFFFF"/>
                </a:solidFill>
              </a:rPr>
              <a:t>T0846 Remote Discovery</a:t>
            </a:r>
            <a:endParaRPr lang="en-US" sz="1000" dirty="0"/>
          </a:p>
        </p:txBody>
      </p:sp>
      <p:sp>
        <p:nvSpPr>
          <p:cNvPr id="37" name="Shape 35"/>
          <p:cNvSpPr/>
          <p:nvPr/>
        </p:nvSpPr>
        <p:spPr>
          <a:xfrm>
            <a:off x="6355080" y="2743200"/>
            <a:ext cx="1645920" cy="420624"/>
          </a:xfrm>
          <a:prstGeom prst="rect">
            <a:avLst/>
          </a:prstGeom>
          <a:solidFill>
            <a:srgbClr val="0A1628"/>
          </a:solidFill>
          <a:ln w="6350">
            <a:solidFill>
              <a:srgbClr val="1B4F72"/>
            </a:solidFill>
            <a:prstDash val="solid"/>
          </a:ln>
        </p:spPr>
        <p:txBody>
          <a:bodyPr/>
          <a:lstStyle/>
          <a:p>
            <a:endParaRPr lang="en-IN"/>
          </a:p>
        </p:txBody>
      </p:sp>
      <p:sp>
        <p:nvSpPr>
          <p:cNvPr id="38" name="Text 36"/>
          <p:cNvSpPr/>
          <p:nvPr/>
        </p:nvSpPr>
        <p:spPr>
          <a:xfrm>
            <a:off x="6355080" y="2743200"/>
            <a:ext cx="1645920" cy="420624"/>
          </a:xfrm>
          <a:prstGeom prst="rect">
            <a:avLst/>
          </a:prstGeom>
          <a:noFill/>
          <a:ln/>
        </p:spPr>
        <p:txBody>
          <a:bodyPr wrap="square" rtlCol="0" anchor="ctr"/>
          <a:lstStyle/>
          <a:p>
            <a:pPr marL="0" indent="0" algn="ctr">
              <a:buNone/>
            </a:pPr>
            <a:r>
              <a:rPr lang="en-US" sz="1000" dirty="0">
                <a:solidFill>
                  <a:srgbClr val="FFFFFF"/>
                </a:solidFill>
              </a:rPr>
              <a:t>Discovery</a:t>
            </a:r>
            <a:endParaRPr lang="en-US" sz="1000" dirty="0"/>
          </a:p>
        </p:txBody>
      </p:sp>
      <p:sp>
        <p:nvSpPr>
          <p:cNvPr id="39" name="Shape 37"/>
          <p:cNvSpPr/>
          <p:nvPr/>
        </p:nvSpPr>
        <p:spPr>
          <a:xfrm>
            <a:off x="8001000" y="2743200"/>
            <a:ext cx="1097280" cy="420624"/>
          </a:xfrm>
          <a:prstGeom prst="rect">
            <a:avLst/>
          </a:prstGeom>
          <a:solidFill>
            <a:srgbClr val="0A1628"/>
          </a:solidFill>
          <a:ln w="6350">
            <a:solidFill>
              <a:srgbClr val="1B4F72"/>
            </a:solidFill>
            <a:prstDash val="solid"/>
          </a:ln>
        </p:spPr>
        <p:txBody>
          <a:bodyPr/>
          <a:lstStyle/>
          <a:p>
            <a:endParaRPr lang="en-IN"/>
          </a:p>
        </p:txBody>
      </p:sp>
      <p:sp>
        <p:nvSpPr>
          <p:cNvPr id="40" name="Text 38"/>
          <p:cNvSpPr/>
          <p:nvPr/>
        </p:nvSpPr>
        <p:spPr>
          <a:xfrm>
            <a:off x="8001000" y="2743200"/>
            <a:ext cx="1097280" cy="420624"/>
          </a:xfrm>
          <a:prstGeom prst="rect">
            <a:avLst/>
          </a:prstGeom>
          <a:noFill/>
          <a:ln/>
        </p:spPr>
        <p:txBody>
          <a:bodyPr wrap="square" rtlCol="0" anchor="ctr"/>
          <a:lstStyle/>
          <a:p>
            <a:pPr marL="0" indent="0" algn="ctr">
              <a:buNone/>
            </a:pPr>
            <a:r>
              <a:rPr lang="en-US" sz="1000" b="1" dirty="0">
                <a:solidFill>
                  <a:srgbClr val="2DC653"/>
                </a:solidFill>
              </a:rPr>
              <a:t>✓</a:t>
            </a:r>
            <a:endParaRPr lang="en-US" sz="1000" dirty="0"/>
          </a:p>
        </p:txBody>
      </p:sp>
      <p:sp>
        <p:nvSpPr>
          <p:cNvPr id="41" name="Shape 39"/>
          <p:cNvSpPr/>
          <p:nvPr/>
        </p:nvSpPr>
        <p:spPr>
          <a:xfrm>
            <a:off x="228600" y="3200400"/>
            <a:ext cx="2011680" cy="420624"/>
          </a:xfrm>
          <a:prstGeom prst="rect">
            <a:avLst/>
          </a:prstGeom>
          <a:solidFill>
            <a:srgbClr val="0D1E30"/>
          </a:solidFill>
          <a:ln w="6350">
            <a:solidFill>
              <a:srgbClr val="1B4F72"/>
            </a:solidFill>
            <a:prstDash val="solid"/>
          </a:ln>
        </p:spPr>
        <p:txBody>
          <a:bodyPr/>
          <a:lstStyle/>
          <a:p>
            <a:endParaRPr lang="en-IN"/>
          </a:p>
        </p:txBody>
      </p:sp>
      <p:sp>
        <p:nvSpPr>
          <p:cNvPr id="42" name="Text 40"/>
          <p:cNvSpPr/>
          <p:nvPr/>
        </p:nvSpPr>
        <p:spPr>
          <a:xfrm>
            <a:off x="228600" y="3200400"/>
            <a:ext cx="2011680" cy="420624"/>
          </a:xfrm>
          <a:prstGeom prst="rect">
            <a:avLst/>
          </a:prstGeom>
          <a:noFill/>
          <a:ln/>
        </p:spPr>
        <p:txBody>
          <a:bodyPr wrap="square" rtlCol="0" anchor="ctr"/>
          <a:lstStyle/>
          <a:p>
            <a:pPr marL="0" indent="0" algn="ctr">
              <a:buNone/>
            </a:pPr>
            <a:r>
              <a:rPr lang="en-US" sz="1000" dirty="0">
                <a:solidFill>
                  <a:srgbClr val="FFFFFF"/>
                </a:solidFill>
              </a:rPr>
              <a:t>FC06 Single Write</a:t>
            </a:r>
            <a:endParaRPr lang="en-US" sz="1000" dirty="0"/>
          </a:p>
        </p:txBody>
      </p:sp>
      <p:sp>
        <p:nvSpPr>
          <p:cNvPr id="43" name="Shape 41"/>
          <p:cNvSpPr/>
          <p:nvPr/>
        </p:nvSpPr>
        <p:spPr>
          <a:xfrm>
            <a:off x="2240280" y="3200400"/>
            <a:ext cx="914400" cy="420624"/>
          </a:xfrm>
          <a:prstGeom prst="rect">
            <a:avLst/>
          </a:prstGeom>
          <a:solidFill>
            <a:srgbClr val="0D1E30"/>
          </a:solidFill>
          <a:ln w="6350">
            <a:solidFill>
              <a:srgbClr val="1B4F72"/>
            </a:solidFill>
            <a:prstDash val="solid"/>
          </a:ln>
        </p:spPr>
        <p:txBody>
          <a:bodyPr/>
          <a:lstStyle/>
          <a:p>
            <a:endParaRPr lang="en-IN"/>
          </a:p>
        </p:txBody>
      </p:sp>
      <p:sp>
        <p:nvSpPr>
          <p:cNvPr id="44" name="Text 42"/>
          <p:cNvSpPr/>
          <p:nvPr/>
        </p:nvSpPr>
        <p:spPr>
          <a:xfrm>
            <a:off x="2240280" y="3200400"/>
            <a:ext cx="914400" cy="420624"/>
          </a:xfrm>
          <a:prstGeom prst="rect">
            <a:avLst/>
          </a:prstGeom>
          <a:noFill/>
          <a:ln/>
        </p:spPr>
        <p:txBody>
          <a:bodyPr wrap="square" rtlCol="0" anchor="ctr"/>
          <a:lstStyle/>
          <a:p>
            <a:pPr marL="0" indent="0" algn="ctr">
              <a:buNone/>
            </a:pPr>
            <a:r>
              <a:rPr lang="en-US" sz="1000" dirty="0">
                <a:solidFill>
                  <a:srgbClr val="FFFFFF"/>
                </a:solidFill>
              </a:rPr>
              <a:t>FC06</a:t>
            </a:r>
            <a:endParaRPr lang="en-US" sz="1000" dirty="0"/>
          </a:p>
        </p:txBody>
      </p:sp>
      <p:sp>
        <p:nvSpPr>
          <p:cNvPr id="45" name="Shape 43"/>
          <p:cNvSpPr/>
          <p:nvPr/>
        </p:nvSpPr>
        <p:spPr>
          <a:xfrm>
            <a:off x="3154680" y="3200400"/>
            <a:ext cx="1371600" cy="420624"/>
          </a:xfrm>
          <a:prstGeom prst="rect">
            <a:avLst/>
          </a:prstGeom>
          <a:solidFill>
            <a:srgbClr val="0D1E30"/>
          </a:solidFill>
          <a:ln w="6350">
            <a:solidFill>
              <a:srgbClr val="1B4F72"/>
            </a:solidFill>
            <a:prstDash val="solid"/>
          </a:ln>
        </p:spPr>
        <p:txBody>
          <a:bodyPr/>
          <a:lstStyle/>
          <a:p>
            <a:endParaRPr lang="en-IN"/>
          </a:p>
        </p:txBody>
      </p:sp>
      <p:sp>
        <p:nvSpPr>
          <p:cNvPr id="46" name="Text 44"/>
          <p:cNvSpPr/>
          <p:nvPr/>
        </p:nvSpPr>
        <p:spPr>
          <a:xfrm>
            <a:off x="3154680" y="3200400"/>
            <a:ext cx="1371600" cy="420624"/>
          </a:xfrm>
          <a:prstGeom prst="rect">
            <a:avLst/>
          </a:prstGeom>
          <a:noFill/>
          <a:ln/>
        </p:spPr>
        <p:txBody>
          <a:bodyPr wrap="square" rtlCol="0" anchor="ctr"/>
          <a:lstStyle/>
          <a:p>
            <a:pPr marL="0" indent="0" algn="ctr">
              <a:buNone/>
            </a:pPr>
            <a:r>
              <a:rPr lang="en-US" sz="1000" dirty="0">
                <a:solidFill>
                  <a:srgbClr val="00B4D8"/>
                </a:solidFill>
              </a:rPr>
              <a:t>100502 L10</a:t>
            </a:r>
            <a:endParaRPr lang="en-US" sz="1000" dirty="0"/>
          </a:p>
        </p:txBody>
      </p:sp>
      <p:sp>
        <p:nvSpPr>
          <p:cNvPr id="47" name="Shape 45"/>
          <p:cNvSpPr/>
          <p:nvPr/>
        </p:nvSpPr>
        <p:spPr>
          <a:xfrm>
            <a:off x="4526280" y="3200400"/>
            <a:ext cx="1828800" cy="420624"/>
          </a:xfrm>
          <a:prstGeom prst="rect">
            <a:avLst/>
          </a:prstGeom>
          <a:solidFill>
            <a:srgbClr val="0D1E30"/>
          </a:solidFill>
          <a:ln w="6350">
            <a:solidFill>
              <a:srgbClr val="1B4F72"/>
            </a:solidFill>
            <a:prstDash val="solid"/>
          </a:ln>
        </p:spPr>
        <p:txBody>
          <a:bodyPr/>
          <a:lstStyle/>
          <a:p>
            <a:endParaRPr lang="en-IN"/>
          </a:p>
        </p:txBody>
      </p:sp>
      <p:sp>
        <p:nvSpPr>
          <p:cNvPr id="48" name="Text 46"/>
          <p:cNvSpPr/>
          <p:nvPr/>
        </p:nvSpPr>
        <p:spPr>
          <a:xfrm>
            <a:off x="4526280" y="3200400"/>
            <a:ext cx="1828800" cy="420624"/>
          </a:xfrm>
          <a:prstGeom prst="rect">
            <a:avLst/>
          </a:prstGeom>
          <a:noFill/>
          <a:ln/>
        </p:spPr>
        <p:txBody>
          <a:bodyPr wrap="square" rtlCol="0" anchor="ctr"/>
          <a:lstStyle/>
          <a:p>
            <a:pPr marL="0" indent="0" algn="ctr">
              <a:buNone/>
            </a:pPr>
            <a:r>
              <a:rPr lang="en-US" sz="1000" dirty="0">
                <a:solidFill>
                  <a:srgbClr val="FFFFFF"/>
                </a:solidFill>
              </a:rPr>
              <a:t>T0831 Manip. of Control</a:t>
            </a:r>
            <a:endParaRPr lang="en-US" sz="1000" dirty="0"/>
          </a:p>
        </p:txBody>
      </p:sp>
      <p:sp>
        <p:nvSpPr>
          <p:cNvPr id="49" name="Shape 47"/>
          <p:cNvSpPr/>
          <p:nvPr/>
        </p:nvSpPr>
        <p:spPr>
          <a:xfrm>
            <a:off x="6355080" y="3200400"/>
            <a:ext cx="1645920" cy="420624"/>
          </a:xfrm>
          <a:prstGeom prst="rect">
            <a:avLst/>
          </a:prstGeom>
          <a:solidFill>
            <a:srgbClr val="0D1E30"/>
          </a:solidFill>
          <a:ln w="6350">
            <a:solidFill>
              <a:srgbClr val="1B4F72"/>
            </a:solidFill>
            <a:prstDash val="solid"/>
          </a:ln>
        </p:spPr>
        <p:txBody>
          <a:bodyPr/>
          <a:lstStyle/>
          <a:p>
            <a:endParaRPr lang="en-IN"/>
          </a:p>
        </p:txBody>
      </p:sp>
      <p:sp>
        <p:nvSpPr>
          <p:cNvPr id="50" name="Text 48"/>
          <p:cNvSpPr/>
          <p:nvPr/>
        </p:nvSpPr>
        <p:spPr>
          <a:xfrm>
            <a:off x="6355080" y="3200400"/>
            <a:ext cx="1645920" cy="420624"/>
          </a:xfrm>
          <a:prstGeom prst="rect">
            <a:avLst/>
          </a:prstGeom>
          <a:noFill/>
          <a:ln/>
        </p:spPr>
        <p:txBody>
          <a:bodyPr wrap="square" rtlCol="0" anchor="ctr"/>
          <a:lstStyle/>
          <a:p>
            <a:pPr marL="0" indent="0" algn="ctr">
              <a:buNone/>
            </a:pPr>
            <a:r>
              <a:rPr lang="en-US" sz="1000" dirty="0">
                <a:solidFill>
                  <a:srgbClr val="FFFFFF"/>
                </a:solidFill>
              </a:rPr>
              <a:t>Impair Process</a:t>
            </a:r>
            <a:endParaRPr lang="en-US" sz="1000" dirty="0"/>
          </a:p>
        </p:txBody>
      </p:sp>
      <p:sp>
        <p:nvSpPr>
          <p:cNvPr id="51" name="Shape 49"/>
          <p:cNvSpPr/>
          <p:nvPr/>
        </p:nvSpPr>
        <p:spPr>
          <a:xfrm>
            <a:off x="8001000" y="3200400"/>
            <a:ext cx="1097280" cy="420624"/>
          </a:xfrm>
          <a:prstGeom prst="rect">
            <a:avLst/>
          </a:prstGeom>
          <a:solidFill>
            <a:srgbClr val="0D1E30"/>
          </a:solidFill>
          <a:ln w="6350">
            <a:solidFill>
              <a:srgbClr val="1B4F72"/>
            </a:solidFill>
            <a:prstDash val="solid"/>
          </a:ln>
        </p:spPr>
        <p:txBody>
          <a:bodyPr/>
          <a:lstStyle/>
          <a:p>
            <a:endParaRPr lang="en-IN"/>
          </a:p>
        </p:txBody>
      </p:sp>
      <p:sp>
        <p:nvSpPr>
          <p:cNvPr id="52" name="Text 50"/>
          <p:cNvSpPr/>
          <p:nvPr/>
        </p:nvSpPr>
        <p:spPr>
          <a:xfrm>
            <a:off x="8001000" y="3200400"/>
            <a:ext cx="1097280" cy="420624"/>
          </a:xfrm>
          <a:prstGeom prst="rect">
            <a:avLst/>
          </a:prstGeom>
          <a:noFill/>
          <a:ln/>
        </p:spPr>
        <p:txBody>
          <a:bodyPr wrap="square" rtlCol="0" anchor="ctr"/>
          <a:lstStyle/>
          <a:p>
            <a:pPr marL="0" indent="0" algn="ctr">
              <a:buNone/>
            </a:pPr>
            <a:r>
              <a:rPr lang="en-US" sz="1000" b="1" dirty="0">
                <a:solidFill>
                  <a:srgbClr val="2DC653"/>
                </a:solidFill>
              </a:rPr>
              <a:t>✓</a:t>
            </a:r>
            <a:endParaRPr lang="en-US" sz="1000" dirty="0"/>
          </a:p>
        </p:txBody>
      </p:sp>
      <p:sp>
        <p:nvSpPr>
          <p:cNvPr id="53" name="Shape 51"/>
          <p:cNvSpPr/>
          <p:nvPr/>
        </p:nvSpPr>
        <p:spPr>
          <a:xfrm>
            <a:off x="228600" y="3657600"/>
            <a:ext cx="2011680" cy="420624"/>
          </a:xfrm>
          <a:prstGeom prst="rect">
            <a:avLst/>
          </a:prstGeom>
          <a:solidFill>
            <a:srgbClr val="0A1628"/>
          </a:solidFill>
          <a:ln w="6350">
            <a:solidFill>
              <a:srgbClr val="1B4F72"/>
            </a:solidFill>
            <a:prstDash val="solid"/>
          </a:ln>
        </p:spPr>
        <p:txBody>
          <a:bodyPr/>
          <a:lstStyle/>
          <a:p>
            <a:endParaRPr lang="en-IN"/>
          </a:p>
        </p:txBody>
      </p:sp>
      <p:sp>
        <p:nvSpPr>
          <p:cNvPr id="54" name="Text 52"/>
          <p:cNvSpPr/>
          <p:nvPr/>
        </p:nvSpPr>
        <p:spPr>
          <a:xfrm>
            <a:off x="228600" y="3657600"/>
            <a:ext cx="2011680" cy="420624"/>
          </a:xfrm>
          <a:prstGeom prst="rect">
            <a:avLst/>
          </a:prstGeom>
          <a:noFill/>
          <a:ln/>
        </p:spPr>
        <p:txBody>
          <a:bodyPr wrap="square" rtlCol="0" anchor="ctr"/>
          <a:lstStyle/>
          <a:p>
            <a:pPr marL="0" indent="0" algn="ctr">
              <a:buNone/>
            </a:pPr>
            <a:r>
              <a:rPr lang="en-US" sz="1000" dirty="0">
                <a:solidFill>
                  <a:srgbClr val="FFFFFF"/>
                </a:solidFill>
              </a:rPr>
              <a:t>FC16 Multi Write</a:t>
            </a:r>
            <a:endParaRPr lang="en-US" sz="1000" dirty="0"/>
          </a:p>
        </p:txBody>
      </p:sp>
      <p:sp>
        <p:nvSpPr>
          <p:cNvPr id="55" name="Shape 53"/>
          <p:cNvSpPr/>
          <p:nvPr/>
        </p:nvSpPr>
        <p:spPr>
          <a:xfrm>
            <a:off x="2240280" y="3657600"/>
            <a:ext cx="914400" cy="420624"/>
          </a:xfrm>
          <a:prstGeom prst="rect">
            <a:avLst/>
          </a:prstGeom>
          <a:solidFill>
            <a:srgbClr val="0A1628"/>
          </a:solidFill>
          <a:ln w="6350">
            <a:solidFill>
              <a:srgbClr val="1B4F72"/>
            </a:solidFill>
            <a:prstDash val="solid"/>
          </a:ln>
        </p:spPr>
        <p:txBody>
          <a:bodyPr/>
          <a:lstStyle/>
          <a:p>
            <a:endParaRPr lang="en-IN"/>
          </a:p>
        </p:txBody>
      </p:sp>
      <p:sp>
        <p:nvSpPr>
          <p:cNvPr id="56" name="Text 54"/>
          <p:cNvSpPr/>
          <p:nvPr/>
        </p:nvSpPr>
        <p:spPr>
          <a:xfrm>
            <a:off x="2240280" y="3657600"/>
            <a:ext cx="914400" cy="420624"/>
          </a:xfrm>
          <a:prstGeom prst="rect">
            <a:avLst/>
          </a:prstGeom>
          <a:noFill/>
          <a:ln/>
        </p:spPr>
        <p:txBody>
          <a:bodyPr wrap="square" rtlCol="0" anchor="ctr"/>
          <a:lstStyle/>
          <a:p>
            <a:pPr marL="0" indent="0" algn="ctr">
              <a:buNone/>
            </a:pPr>
            <a:r>
              <a:rPr lang="en-US" sz="1000" dirty="0">
                <a:solidFill>
                  <a:srgbClr val="FFFFFF"/>
                </a:solidFill>
              </a:rPr>
              <a:t>FC16</a:t>
            </a:r>
            <a:endParaRPr lang="en-US" sz="1000" dirty="0"/>
          </a:p>
        </p:txBody>
      </p:sp>
      <p:sp>
        <p:nvSpPr>
          <p:cNvPr id="57" name="Shape 55"/>
          <p:cNvSpPr/>
          <p:nvPr/>
        </p:nvSpPr>
        <p:spPr>
          <a:xfrm>
            <a:off x="3154680" y="3657600"/>
            <a:ext cx="1371600" cy="420624"/>
          </a:xfrm>
          <a:prstGeom prst="rect">
            <a:avLst/>
          </a:prstGeom>
          <a:solidFill>
            <a:srgbClr val="0A1628"/>
          </a:solidFill>
          <a:ln w="6350">
            <a:solidFill>
              <a:srgbClr val="1B4F72"/>
            </a:solidFill>
            <a:prstDash val="solid"/>
          </a:ln>
        </p:spPr>
        <p:txBody>
          <a:bodyPr/>
          <a:lstStyle/>
          <a:p>
            <a:endParaRPr lang="en-IN"/>
          </a:p>
        </p:txBody>
      </p:sp>
      <p:sp>
        <p:nvSpPr>
          <p:cNvPr id="58" name="Text 56"/>
          <p:cNvSpPr/>
          <p:nvPr/>
        </p:nvSpPr>
        <p:spPr>
          <a:xfrm>
            <a:off x="3154680" y="3657600"/>
            <a:ext cx="1371600" cy="420624"/>
          </a:xfrm>
          <a:prstGeom prst="rect">
            <a:avLst/>
          </a:prstGeom>
          <a:noFill/>
          <a:ln/>
        </p:spPr>
        <p:txBody>
          <a:bodyPr wrap="square" rtlCol="0" anchor="ctr"/>
          <a:lstStyle/>
          <a:p>
            <a:pPr marL="0" indent="0" algn="ctr">
              <a:buNone/>
            </a:pPr>
            <a:r>
              <a:rPr lang="en-US" sz="1000" dirty="0">
                <a:solidFill>
                  <a:srgbClr val="00B4D8"/>
                </a:solidFill>
              </a:rPr>
              <a:t>100501 L12</a:t>
            </a:r>
            <a:endParaRPr lang="en-US" sz="1000" dirty="0"/>
          </a:p>
        </p:txBody>
      </p:sp>
      <p:sp>
        <p:nvSpPr>
          <p:cNvPr id="59" name="Shape 57"/>
          <p:cNvSpPr/>
          <p:nvPr/>
        </p:nvSpPr>
        <p:spPr>
          <a:xfrm>
            <a:off x="4526280" y="3657600"/>
            <a:ext cx="1828800" cy="420624"/>
          </a:xfrm>
          <a:prstGeom prst="rect">
            <a:avLst/>
          </a:prstGeom>
          <a:solidFill>
            <a:srgbClr val="0A1628"/>
          </a:solidFill>
          <a:ln w="6350">
            <a:solidFill>
              <a:srgbClr val="1B4F72"/>
            </a:solidFill>
            <a:prstDash val="solid"/>
          </a:ln>
        </p:spPr>
        <p:txBody>
          <a:bodyPr/>
          <a:lstStyle/>
          <a:p>
            <a:endParaRPr lang="en-IN"/>
          </a:p>
        </p:txBody>
      </p:sp>
      <p:sp>
        <p:nvSpPr>
          <p:cNvPr id="60" name="Text 58"/>
          <p:cNvSpPr/>
          <p:nvPr/>
        </p:nvSpPr>
        <p:spPr>
          <a:xfrm>
            <a:off x="4526280" y="3657600"/>
            <a:ext cx="1828800" cy="420624"/>
          </a:xfrm>
          <a:prstGeom prst="rect">
            <a:avLst/>
          </a:prstGeom>
          <a:noFill/>
          <a:ln/>
        </p:spPr>
        <p:txBody>
          <a:bodyPr wrap="square" rtlCol="0" anchor="ctr"/>
          <a:lstStyle/>
          <a:p>
            <a:pPr marL="0" indent="0" algn="ctr">
              <a:buNone/>
            </a:pPr>
            <a:r>
              <a:rPr lang="en-US" sz="1000" dirty="0">
                <a:solidFill>
                  <a:srgbClr val="FFFFFF"/>
                </a:solidFill>
              </a:rPr>
              <a:t>T0831 Manip. of Control</a:t>
            </a:r>
            <a:endParaRPr lang="en-US" sz="1000" dirty="0"/>
          </a:p>
        </p:txBody>
      </p:sp>
      <p:sp>
        <p:nvSpPr>
          <p:cNvPr id="61" name="Shape 59"/>
          <p:cNvSpPr/>
          <p:nvPr/>
        </p:nvSpPr>
        <p:spPr>
          <a:xfrm>
            <a:off x="6355080" y="3657600"/>
            <a:ext cx="1645920" cy="420624"/>
          </a:xfrm>
          <a:prstGeom prst="rect">
            <a:avLst/>
          </a:prstGeom>
          <a:solidFill>
            <a:srgbClr val="0A1628"/>
          </a:solidFill>
          <a:ln w="6350">
            <a:solidFill>
              <a:srgbClr val="1B4F72"/>
            </a:solidFill>
            <a:prstDash val="solid"/>
          </a:ln>
        </p:spPr>
        <p:txBody>
          <a:bodyPr/>
          <a:lstStyle/>
          <a:p>
            <a:endParaRPr lang="en-IN"/>
          </a:p>
        </p:txBody>
      </p:sp>
      <p:sp>
        <p:nvSpPr>
          <p:cNvPr id="62" name="Text 60"/>
          <p:cNvSpPr/>
          <p:nvPr/>
        </p:nvSpPr>
        <p:spPr>
          <a:xfrm>
            <a:off x="6355080" y="3657600"/>
            <a:ext cx="1645920" cy="420624"/>
          </a:xfrm>
          <a:prstGeom prst="rect">
            <a:avLst/>
          </a:prstGeom>
          <a:noFill/>
          <a:ln/>
        </p:spPr>
        <p:txBody>
          <a:bodyPr wrap="square" rtlCol="0" anchor="ctr"/>
          <a:lstStyle/>
          <a:p>
            <a:pPr marL="0" indent="0" algn="ctr">
              <a:buNone/>
            </a:pPr>
            <a:r>
              <a:rPr lang="en-US" sz="1000" dirty="0">
                <a:solidFill>
                  <a:srgbClr val="FFFFFF"/>
                </a:solidFill>
              </a:rPr>
              <a:t>Impair Process</a:t>
            </a:r>
            <a:endParaRPr lang="en-US" sz="1000" dirty="0"/>
          </a:p>
        </p:txBody>
      </p:sp>
      <p:sp>
        <p:nvSpPr>
          <p:cNvPr id="63" name="Shape 61"/>
          <p:cNvSpPr/>
          <p:nvPr/>
        </p:nvSpPr>
        <p:spPr>
          <a:xfrm>
            <a:off x="8001000" y="3657600"/>
            <a:ext cx="1097280" cy="420624"/>
          </a:xfrm>
          <a:prstGeom prst="rect">
            <a:avLst/>
          </a:prstGeom>
          <a:solidFill>
            <a:srgbClr val="0A1628"/>
          </a:solidFill>
          <a:ln w="6350">
            <a:solidFill>
              <a:srgbClr val="1B4F72"/>
            </a:solidFill>
            <a:prstDash val="solid"/>
          </a:ln>
        </p:spPr>
        <p:txBody>
          <a:bodyPr/>
          <a:lstStyle/>
          <a:p>
            <a:endParaRPr lang="en-IN"/>
          </a:p>
        </p:txBody>
      </p:sp>
      <p:sp>
        <p:nvSpPr>
          <p:cNvPr id="64" name="Text 62"/>
          <p:cNvSpPr/>
          <p:nvPr/>
        </p:nvSpPr>
        <p:spPr>
          <a:xfrm>
            <a:off x="8001000" y="3657600"/>
            <a:ext cx="1097280" cy="420624"/>
          </a:xfrm>
          <a:prstGeom prst="rect">
            <a:avLst/>
          </a:prstGeom>
          <a:noFill/>
          <a:ln/>
        </p:spPr>
        <p:txBody>
          <a:bodyPr wrap="square" rtlCol="0" anchor="ctr"/>
          <a:lstStyle/>
          <a:p>
            <a:pPr marL="0" indent="0" algn="ctr">
              <a:buNone/>
            </a:pPr>
            <a:r>
              <a:rPr lang="en-US" sz="1000" b="1" dirty="0">
                <a:solidFill>
                  <a:srgbClr val="2DC653"/>
                </a:solidFill>
              </a:rPr>
              <a:t>✓</a:t>
            </a:r>
            <a:endParaRPr lang="en-US" sz="1000" dirty="0"/>
          </a:p>
        </p:txBody>
      </p:sp>
      <p:sp>
        <p:nvSpPr>
          <p:cNvPr id="65" name="Shape 63"/>
          <p:cNvSpPr/>
          <p:nvPr/>
        </p:nvSpPr>
        <p:spPr>
          <a:xfrm>
            <a:off x="228600" y="4114800"/>
            <a:ext cx="2011680" cy="420624"/>
          </a:xfrm>
          <a:prstGeom prst="rect">
            <a:avLst/>
          </a:prstGeom>
          <a:solidFill>
            <a:srgbClr val="0D1E30"/>
          </a:solidFill>
          <a:ln w="6350">
            <a:solidFill>
              <a:srgbClr val="1B4F72"/>
            </a:solidFill>
            <a:prstDash val="solid"/>
          </a:ln>
        </p:spPr>
        <p:txBody>
          <a:bodyPr/>
          <a:lstStyle/>
          <a:p>
            <a:endParaRPr lang="en-IN"/>
          </a:p>
        </p:txBody>
      </p:sp>
      <p:sp>
        <p:nvSpPr>
          <p:cNvPr id="66" name="Text 64"/>
          <p:cNvSpPr/>
          <p:nvPr/>
        </p:nvSpPr>
        <p:spPr>
          <a:xfrm>
            <a:off x="228600" y="4114800"/>
            <a:ext cx="2011680" cy="420624"/>
          </a:xfrm>
          <a:prstGeom prst="rect">
            <a:avLst/>
          </a:prstGeom>
          <a:noFill/>
          <a:ln/>
        </p:spPr>
        <p:txBody>
          <a:bodyPr wrap="square" rtlCol="0" anchor="ctr"/>
          <a:lstStyle/>
          <a:p>
            <a:pPr marL="0" indent="0" algn="ctr">
              <a:buNone/>
            </a:pPr>
            <a:r>
              <a:rPr lang="en-US" sz="1000" dirty="0">
                <a:solidFill>
                  <a:srgbClr val="FFFFFF"/>
                </a:solidFill>
              </a:rPr>
              <a:t>Modbus DoS Flood</a:t>
            </a:r>
            <a:endParaRPr lang="en-US" sz="1000" dirty="0"/>
          </a:p>
        </p:txBody>
      </p:sp>
      <p:sp>
        <p:nvSpPr>
          <p:cNvPr id="67" name="Shape 65"/>
          <p:cNvSpPr/>
          <p:nvPr/>
        </p:nvSpPr>
        <p:spPr>
          <a:xfrm>
            <a:off x="2240280" y="4114800"/>
            <a:ext cx="914400" cy="420624"/>
          </a:xfrm>
          <a:prstGeom prst="rect">
            <a:avLst/>
          </a:prstGeom>
          <a:solidFill>
            <a:srgbClr val="0D1E30"/>
          </a:solidFill>
          <a:ln w="6350">
            <a:solidFill>
              <a:srgbClr val="1B4F72"/>
            </a:solidFill>
            <a:prstDash val="solid"/>
          </a:ln>
        </p:spPr>
        <p:txBody>
          <a:bodyPr/>
          <a:lstStyle/>
          <a:p>
            <a:endParaRPr lang="en-IN"/>
          </a:p>
        </p:txBody>
      </p:sp>
      <p:sp>
        <p:nvSpPr>
          <p:cNvPr id="68" name="Text 66"/>
          <p:cNvSpPr/>
          <p:nvPr/>
        </p:nvSpPr>
        <p:spPr>
          <a:xfrm>
            <a:off x="2240280" y="4114800"/>
            <a:ext cx="914400" cy="420624"/>
          </a:xfrm>
          <a:prstGeom prst="rect">
            <a:avLst/>
          </a:prstGeom>
          <a:noFill/>
          <a:ln/>
        </p:spPr>
        <p:txBody>
          <a:bodyPr wrap="square" rtlCol="0" anchor="ctr"/>
          <a:lstStyle/>
          <a:p>
            <a:pPr marL="0" indent="0" algn="ctr">
              <a:buNone/>
            </a:pPr>
            <a:r>
              <a:rPr lang="en-US" sz="1000" dirty="0">
                <a:solidFill>
                  <a:srgbClr val="FFFFFF"/>
                </a:solidFill>
              </a:rPr>
              <a:t>FC06+</a:t>
            </a:r>
            <a:endParaRPr lang="en-US" sz="1000" dirty="0"/>
          </a:p>
        </p:txBody>
      </p:sp>
      <p:sp>
        <p:nvSpPr>
          <p:cNvPr id="69" name="Shape 67"/>
          <p:cNvSpPr/>
          <p:nvPr/>
        </p:nvSpPr>
        <p:spPr>
          <a:xfrm>
            <a:off x="3154680" y="4114800"/>
            <a:ext cx="1371600" cy="420624"/>
          </a:xfrm>
          <a:prstGeom prst="rect">
            <a:avLst/>
          </a:prstGeom>
          <a:solidFill>
            <a:srgbClr val="0D1E30"/>
          </a:solidFill>
          <a:ln w="6350">
            <a:solidFill>
              <a:srgbClr val="1B4F72"/>
            </a:solidFill>
            <a:prstDash val="solid"/>
          </a:ln>
        </p:spPr>
        <p:txBody>
          <a:bodyPr/>
          <a:lstStyle/>
          <a:p>
            <a:endParaRPr lang="en-IN"/>
          </a:p>
        </p:txBody>
      </p:sp>
      <p:sp>
        <p:nvSpPr>
          <p:cNvPr id="70" name="Text 68"/>
          <p:cNvSpPr/>
          <p:nvPr/>
        </p:nvSpPr>
        <p:spPr>
          <a:xfrm>
            <a:off x="3154680" y="4114800"/>
            <a:ext cx="1371600" cy="420624"/>
          </a:xfrm>
          <a:prstGeom prst="rect">
            <a:avLst/>
          </a:prstGeom>
          <a:noFill/>
          <a:ln/>
        </p:spPr>
        <p:txBody>
          <a:bodyPr wrap="square" rtlCol="0" anchor="ctr"/>
          <a:lstStyle/>
          <a:p>
            <a:pPr marL="0" indent="0" algn="ctr">
              <a:buNone/>
            </a:pPr>
            <a:r>
              <a:rPr lang="en-US" sz="1000" dirty="0">
                <a:solidFill>
                  <a:srgbClr val="00B4D8"/>
                </a:solidFill>
              </a:rPr>
              <a:t>100530 L13</a:t>
            </a:r>
            <a:endParaRPr lang="en-US" sz="1000" dirty="0"/>
          </a:p>
        </p:txBody>
      </p:sp>
      <p:sp>
        <p:nvSpPr>
          <p:cNvPr id="71" name="Shape 69"/>
          <p:cNvSpPr/>
          <p:nvPr/>
        </p:nvSpPr>
        <p:spPr>
          <a:xfrm>
            <a:off x="4526280" y="4114800"/>
            <a:ext cx="1828800" cy="420624"/>
          </a:xfrm>
          <a:prstGeom prst="rect">
            <a:avLst/>
          </a:prstGeom>
          <a:solidFill>
            <a:srgbClr val="0D1E30"/>
          </a:solidFill>
          <a:ln w="6350">
            <a:solidFill>
              <a:srgbClr val="1B4F72"/>
            </a:solidFill>
            <a:prstDash val="solid"/>
          </a:ln>
        </p:spPr>
        <p:txBody>
          <a:bodyPr/>
          <a:lstStyle/>
          <a:p>
            <a:endParaRPr lang="en-IN"/>
          </a:p>
        </p:txBody>
      </p:sp>
      <p:sp>
        <p:nvSpPr>
          <p:cNvPr id="72" name="Text 70"/>
          <p:cNvSpPr/>
          <p:nvPr/>
        </p:nvSpPr>
        <p:spPr>
          <a:xfrm>
            <a:off x="4526280" y="4114800"/>
            <a:ext cx="1828800" cy="420624"/>
          </a:xfrm>
          <a:prstGeom prst="rect">
            <a:avLst/>
          </a:prstGeom>
          <a:noFill/>
          <a:ln/>
        </p:spPr>
        <p:txBody>
          <a:bodyPr wrap="square" rtlCol="0" anchor="ctr"/>
          <a:lstStyle/>
          <a:p>
            <a:pPr marL="0" indent="0" algn="ctr">
              <a:buNone/>
            </a:pPr>
            <a:r>
              <a:rPr lang="en-US" sz="1000" dirty="0">
                <a:solidFill>
                  <a:srgbClr val="FFFFFF"/>
                </a:solidFill>
              </a:rPr>
              <a:t>T0814 Denial of Service</a:t>
            </a:r>
            <a:endParaRPr lang="en-US" sz="1000" dirty="0"/>
          </a:p>
        </p:txBody>
      </p:sp>
      <p:sp>
        <p:nvSpPr>
          <p:cNvPr id="73" name="Shape 71"/>
          <p:cNvSpPr/>
          <p:nvPr/>
        </p:nvSpPr>
        <p:spPr>
          <a:xfrm>
            <a:off x="6355080" y="4114800"/>
            <a:ext cx="1645920" cy="420624"/>
          </a:xfrm>
          <a:prstGeom prst="rect">
            <a:avLst/>
          </a:prstGeom>
          <a:solidFill>
            <a:srgbClr val="0D1E30"/>
          </a:solidFill>
          <a:ln w="6350">
            <a:solidFill>
              <a:srgbClr val="1B4F72"/>
            </a:solidFill>
            <a:prstDash val="solid"/>
          </a:ln>
        </p:spPr>
        <p:txBody>
          <a:bodyPr/>
          <a:lstStyle/>
          <a:p>
            <a:endParaRPr lang="en-IN"/>
          </a:p>
        </p:txBody>
      </p:sp>
      <p:sp>
        <p:nvSpPr>
          <p:cNvPr id="74" name="Text 72"/>
          <p:cNvSpPr/>
          <p:nvPr/>
        </p:nvSpPr>
        <p:spPr>
          <a:xfrm>
            <a:off x="6355080" y="4114800"/>
            <a:ext cx="1645920" cy="420624"/>
          </a:xfrm>
          <a:prstGeom prst="rect">
            <a:avLst/>
          </a:prstGeom>
          <a:noFill/>
          <a:ln/>
        </p:spPr>
        <p:txBody>
          <a:bodyPr wrap="square" rtlCol="0" anchor="ctr"/>
          <a:lstStyle/>
          <a:p>
            <a:pPr marL="0" indent="0" algn="ctr">
              <a:buNone/>
            </a:pPr>
            <a:r>
              <a:rPr lang="en-US" sz="1000" dirty="0">
                <a:solidFill>
                  <a:srgbClr val="FFFFFF"/>
                </a:solidFill>
              </a:rPr>
              <a:t>Inhibit Response</a:t>
            </a:r>
            <a:endParaRPr lang="en-US" sz="1000" dirty="0"/>
          </a:p>
        </p:txBody>
      </p:sp>
      <p:sp>
        <p:nvSpPr>
          <p:cNvPr id="75" name="Shape 73"/>
          <p:cNvSpPr/>
          <p:nvPr/>
        </p:nvSpPr>
        <p:spPr>
          <a:xfrm>
            <a:off x="8001000" y="4114800"/>
            <a:ext cx="1097280" cy="420624"/>
          </a:xfrm>
          <a:prstGeom prst="rect">
            <a:avLst/>
          </a:prstGeom>
          <a:solidFill>
            <a:srgbClr val="0D1E30"/>
          </a:solidFill>
          <a:ln w="6350">
            <a:solidFill>
              <a:srgbClr val="1B4F72"/>
            </a:solidFill>
            <a:prstDash val="solid"/>
          </a:ln>
        </p:spPr>
        <p:txBody>
          <a:bodyPr/>
          <a:lstStyle/>
          <a:p>
            <a:endParaRPr lang="en-IN"/>
          </a:p>
        </p:txBody>
      </p:sp>
      <p:sp>
        <p:nvSpPr>
          <p:cNvPr id="76" name="Text 74"/>
          <p:cNvSpPr/>
          <p:nvPr/>
        </p:nvSpPr>
        <p:spPr>
          <a:xfrm>
            <a:off x="8001000" y="4114800"/>
            <a:ext cx="1097280" cy="420624"/>
          </a:xfrm>
          <a:prstGeom prst="rect">
            <a:avLst/>
          </a:prstGeom>
          <a:noFill/>
          <a:ln/>
        </p:spPr>
        <p:txBody>
          <a:bodyPr wrap="square" rtlCol="0" anchor="ctr"/>
          <a:lstStyle/>
          <a:p>
            <a:pPr marL="0" indent="0" algn="ctr">
              <a:buNone/>
            </a:pPr>
            <a:r>
              <a:rPr lang="en-US" sz="1000" b="1" dirty="0">
                <a:solidFill>
                  <a:srgbClr val="2DC653"/>
                </a:solidFill>
              </a:rPr>
              <a:t>✓</a:t>
            </a:r>
            <a:endParaRPr lang="en-US" sz="1000" dirty="0"/>
          </a:p>
        </p:txBody>
      </p:sp>
      <p:sp>
        <p:nvSpPr>
          <p:cNvPr id="77" name="Text 75"/>
          <p:cNvSpPr/>
          <p:nvPr/>
        </p:nvSpPr>
        <p:spPr>
          <a:xfrm>
            <a:off x="457200" y="4645152"/>
            <a:ext cx="8229600" cy="365760"/>
          </a:xfrm>
          <a:prstGeom prst="rect">
            <a:avLst/>
          </a:prstGeom>
          <a:noFill/>
          <a:ln/>
        </p:spPr>
        <p:txBody>
          <a:bodyPr wrap="square" rtlCol="0" anchor="ctr"/>
          <a:lstStyle/>
          <a:p>
            <a:pPr marL="0" indent="0" algn="ctr">
              <a:buNone/>
            </a:pPr>
            <a:r>
              <a:rPr lang="en-US" sz="1300" b="1" i="1" dirty="0">
                <a:solidFill>
                  <a:srgbClr val="2DC653"/>
                </a:solidFill>
              </a:rPr>
              <a:t>All 4 attack scenarios detected in real-time — 0 false negatives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4D8"/>
          </a:solidFill>
          <a:ln w="12700">
            <a:solidFill>
              <a:srgbClr val="00B4D8"/>
            </a:solidFill>
            <a:prstDash val="solid"/>
          </a:ln>
        </p:spPr>
        <p:txBody>
          <a:bodyPr/>
          <a:lstStyle/>
          <a:p>
            <a:endParaRPr lang="en-IN"/>
          </a:p>
        </p:txBody>
      </p:sp>
      <p:sp>
        <p:nvSpPr>
          <p:cNvPr id="3" name="Text 1"/>
          <p:cNvSpPr/>
          <p:nvPr/>
        </p:nvSpPr>
        <p:spPr>
          <a:xfrm>
            <a:off x="365760" y="137160"/>
            <a:ext cx="8412480" cy="502920"/>
          </a:xfrm>
          <a:prstGeom prst="rect">
            <a:avLst/>
          </a:prstGeom>
          <a:noFill/>
          <a:ln/>
        </p:spPr>
        <p:txBody>
          <a:bodyPr wrap="square" rtlCol="0" anchor="ctr"/>
          <a:lstStyle/>
          <a:p>
            <a:pPr marL="0" indent="0">
              <a:buNone/>
            </a:pPr>
            <a:r>
              <a:rPr lang="en-US" sz="3000" b="1" dirty="0">
                <a:solidFill>
                  <a:srgbClr val="FFFFFF"/>
                </a:solidFill>
              </a:rPr>
              <a:t>Conclusion</a:t>
            </a:r>
            <a:endParaRPr lang="en-US" sz="3000" dirty="0"/>
          </a:p>
        </p:txBody>
      </p:sp>
      <p:sp>
        <p:nvSpPr>
          <p:cNvPr id="4" name="Shape 2"/>
          <p:cNvSpPr/>
          <p:nvPr/>
        </p:nvSpPr>
        <p:spPr>
          <a:xfrm>
            <a:off x="365760" y="658368"/>
            <a:ext cx="8412480" cy="27432"/>
          </a:xfrm>
          <a:prstGeom prst="rect">
            <a:avLst/>
          </a:prstGeom>
          <a:solidFill>
            <a:srgbClr val="00B4D8"/>
          </a:solidFill>
          <a:ln w="12700">
            <a:solidFill>
              <a:srgbClr val="00B4D8"/>
            </a:solidFill>
            <a:prstDash val="solid"/>
          </a:ln>
        </p:spPr>
        <p:txBody>
          <a:bodyPr/>
          <a:lstStyle/>
          <a:p>
            <a:endParaRPr lang="en-IN"/>
          </a:p>
        </p:txBody>
      </p:sp>
      <p:sp>
        <p:nvSpPr>
          <p:cNvPr id="5" name="Text 3"/>
          <p:cNvSpPr/>
          <p:nvPr/>
        </p:nvSpPr>
        <p:spPr>
          <a:xfrm>
            <a:off x="365760" y="804672"/>
            <a:ext cx="8412480" cy="411480"/>
          </a:xfrm>
          <a:prstGeom prst="rect">
            <a:avLst/>
          </a:prstGeom>
          <a:noFill/>
          <a:ln/>
        </p:spPr>
        <p:txBody>
          <a:bodyPr wrap="square" rtlCol="0" anchor="ctr"/>
          <a:lstStyle/>
          <a:p>
            <a:pPr marL="0" indent="0">
              <a:buNone/>
            </a:pPr>
            <a:r>
              <a:rPr lang="en-US" sz="1600" b="1" dirty="0">
                <a:solidFill>
                  <a:srgbClr val="00B4D8"/>
                </a:solidFill>
              </a:rPr>
              <a:t>What This Pipeline Achieves</a:t>
            </a:r>
            <a:endParaRPr lang="en-US" sz="1600" dirty="0"/>
          </a:p>
        </p:txBody>
      </p:sp>
      <p:sp>
        <p:nvSpPr>
          <p:cNvPr id="6" name="Shape 4"/>
          <p:cNvSpPr/>
          <p:nvPr/>
        </p:nvSpPr>
        <p:spPr>
          <a:xfrm>
            <a:off x="365760" y="1280160"/>
            <a:ext cx="8412480" cy="457200"/>
          </a:xfrm>
          <a:prstGeom prst="rect">
            <a:avLst/>
          </a:prstGeom>
          <a:solidFill>
            <a:srgbClr val="0A1628"/>
          </a:solidFill>
          <a:ln w="12700">
            <a:solidFill>
              <a:srgbClr val="1B4F72"/>
            </a:solidFill>
            <a:prstDash val="solid"/>
          </a:ln>
        </p:spPr>
        <p:txBody>
          <a:bodyPr/>
          <a:lstStyle/>
          <a:p>
            <a:endParaRPr lang="en-IN"/>
          </a:p>
        </p:txBody>
      </p:sp>
      <p:sp>
        <p:nvSpPr>
          <p:cNvPr id="7" name="Shape 5"/>
          <p:cNvSpPr/>
          <p:nvPr/>
        </p:nvSpPr>
        <p:spPr>
          <a:xfrm>
            <a:off x="475488" y="1408176"/>
            <a:ext cx="201168" cy="201168"/>
          </a:xfrm>
          <a:prstGeom prst="ellipse">
            <a:avLst/>
          </a:prstGeom>
          <a:solidFill>
            <a:srgbClr val="00B4D8"/>
          </a:solidFill>
          <a:ln w="12700">
            <a:solidFill>
              <a:srgbClr val="00B4D8"/>
            </a:solidFill>
            <a:prstDash val="solid"/>
          </a:ln>
        </p:spPr>
        <p:txBody>
          <a:bodyPr/>
          <a:lstStyle/>
          <a:p>
            <a:endParaRPr lang="en-IN"/>
          </a:p>
        </p:txBody>
      </p:sp>
      <p:sp>
        <p:nvSpPr>
          <p:cNvPr id="8" name="Text 6"/>
          <p:cNvSpPr/>
          <p:nvPr/>
        </p:nvSpPr>
        <p:spPr>
          <a:xfrm>
            <a:off x="475488" y="1408176"/>
            <a:ext cx="201168" cy="201168"/>
          </a:xfrm>
          <a:prstGeom prst="rect">
            <a:avLst/>
          </a:prstGeom>
          <a:noFill/>
          <a:ln/>
        </p:spPr>
        <p:txBody>
          <a:bodyPr wrap="square" rtlCol="0" anchor="ctr"/>
          <a:lstStyle/>
          <a:p>
            <a:pPr marL="0" indent="0" algn="ctr">
              <a:buNone/>
            </a:pPr>
            <a:r>
              <a:rPr lang="en-US" sz="900" b="1" dirty="0">
                <a:solidFill>
                  <a:srgbClr val="0D1B2A"/>
                </a:solidFill>
              </a:rPr>
              <a:t>✓</a:t>
            </a:r>
            <a:endParaRPr lang="en-US" sz="900" dirty="0"/>
          </a:p>
        </p:txBody>
      </p:sp>
      <p:sp>
        <p:nvSpPr>
          <p:cNvPr id="9" name="Text 7"/>
          <p:cNvSpPr/>
          <p:nvPr/>
        </p:nvSpPr>
        <p:spPr>
          <a:xfrm>
            <a:off x="777240" y="1353312"/>
            <a:ext cx="7863840" cy="320040"/>
          </a:xfrm>
          <a:prstGeom prst="rect">
            <a:avLst/>
          </a:prstGeom>
          <a:noFill/>
          <a:ln/>
        </p:spPr>
        <p:txBody>
          <a:bodyPr wrap="square" rtlCol="0" anchor="ctr"/>
          <a:lstStyle/>
          <a:p>
            <a:pPr marL="0" indent="0">
              <a:buNone/>
            </a:pPr>
            <a:r>
              <a:rPr lang="en-US" sz="1100" dirty="0">
                <a:solidFill>
                  <a:srgbClr val="FFFFFF"/>
                </a:solidFill>
              </a:rPr>
              <a:t>End-to-end ICS attack detection — from Modbus TCP packet to SIEM alert in real time</a:t>
            </a:r>
            <a:endParaRPr lang="en-US" sz="1100" dirty="0"/>
          </a:p>
        </p:txBody>
      </p:sp>
      <p:sp>
        <p:nvSpPr>
          <p:cNvPr id="10" name="Shape 8"/>
          <p:cNvSpPr/>
          <p:nvPr/>
        </p:nvSpPr>
        <p:spPr>
          <a:xfrm>
            <a:off x="365760" y="1810512"/>
            <a:ext cx="8412480" cy="457200"/>
          </a:xfrm>
          <a:prstGeom prst="rect">
            <a:avLst/>
          </a:prstGeom>
          <a:solidFill>
            <a:srgbClr val="0A1628"/>
          </a:solidFill>
          <a:ln w="12700">
            <a:solidFill>
              <a:srgbClr val="1B4F72"/>
            </a:solidFill>
            <a:prstDash val="solid"/>
          </a:ln>
        </p:spPr>
        <p:txBody>
          <a:bodyPr/>
          <a:lstStyle/>
          <a:p>
            <a:endParaRPr lang="en-IN"/>
          </a:p>
        </p:txBody>
      </p:sp>
      <p:sp>
        <p:nvSpPr>
          <p:cNvPr id="11" name="Shape 9"/>
          <p:cNvSpPr/>
          <p:nvPr/>
        </p:nvSpPr>
        <p:spPr>
          <a:xfrm>
            <a:off x="475488" y="1938528"/>
            <a:ext cx="201168" cy="201168"/>
          </a:xfrm>
          <a:prstGeom prst="ellipse">
            <a:avLst/>
          </a:prstGeom>
          <a:solidFill>
            <a:srgbClr val="00B4D8"/>
          </a:solidFill>
          <a:ln w="12700">
            <a:solidFill>
              <a:srgbClr val="00B4D8"/>
            </a:solidFill>
            <a:prstDash val="solid"/>
          </a:ln>
        </p:spPr>
        <p:txBody>
          <a:bodyPr/>
          <a:lstStyle/>
          <a:p>
            <a:endParaRPr lang="en-IN"/>
          </a:p>
        </p:txBody>
      </p:sp>
      <p:sp>
        <p:nvSpPr>
          <p:cNvPr id="12" name="Text 10"/>
          <p:cNvSpPr/>
          <p:nvPr/>
        </p:nvSpPr>
        <p:spPr>
          <a:xfrm>
            <a:off x="475488" y="1938528"/>
            <a:ext cx="201168" cy="201168"/>
          </a:xfrm>
          <a:prstGeom prst="rect">
            <a:avLst/>
          </a:prstGeom>
          <a:noFill/>
          <a:ln/>
        </p:spPr>
        <p:txBody>
          <a:bodyPr wrap="square" rtlCol="0" anchor="ctr"/>
          <a:lstStyle/>
          <a:p>
            <a:pPr marL="0" indent="0" algn="ctr">
              <a:buNone/>
            </a:pPr>
            <a:r>
              <a:rPr lang="en-US" sz="900" b="1" dirty="0">
                <a:solidFill>
                  <a:srgbClr val="0D1B2A"/>
                </a:solidFill>
              </a:rPr>
              <a:t>✓</a:t>
            </a:r>
            <a:endParaRPr lang="en-US" sz="900" dirty="0"/>
          </a:p>
        </p:txBody>
      </p:sp>
      <p:sp>
        <p:nvSpPr>
          <p:cNvPr id="13" name="Text 11"/>
          <p:cNvSpPr/>
          <p:nvPr/>
        </p:nvSpPr>
        <p:spPr>
          <a:xfrm>
            <a:off x="777240" y="1883664"/>
            <a:ext cx="7863840" cy="320040"/>
          </a:xfrm>
          <a:prstGeom prst="rect">
            <a:avLst/>
          </a:prstGeom>
          <a:noFill/>
          <a:ln/>
        </p:spPr>
        <p:txBody>
          <a:bodyPr wrap="square" rtlCol="0" anchor="ctr"/>
          <a:lstStyle/>
          <a:p>
            <a:pPr marL="0" indent="0">
              <a:buNone/>
            </a:pPr>
            <a:r>
              <a:rPr lang="en-US" sz="1100" dirty="0">
                <a:solidFill>
                  <a:srgbClr val="FFFFFF"/>
                </a:solidFill>
              </a:rPr>
              <a:t>Custom Snort rules detect unauthorized Modbus FC03, FC06, and FC16 function codes at the packet level</a:t>
            </a:r>
            <a:endParaRPr lang="en-US" sz="1100" dirty="0"/>
          </a:p>
        </p:txBody>
      </p:sp>
      <p:sp>
        <p:nvSpPr>
          <p:cNvPr id="14" name="Shape 12"/>
          <p:cNvSpPr/>
          <p:nvPr/>
        </p:nvSpPr>
        <p:spPr>
          <a:xfrm>
            <a:off x="365760" y="2340864"/>
            <a:ext cx="8412480" cy="457200"/>
          </a:xfrm>
          <a:prstGeom prst="rect">
            <a:avLst/>
          </a:prstGeom>
          <a:solidFill>
            <a:srgbClr val="0A1628"/>
          </a:solidFill>
          <a:ln w="12700">
            <a:solidFill>
              <a:srgbClr val="1B4F72"/>
            </a:solidFill>
            <a:prstDash val="solid"/>
          </a:ln>
        </p:spPr>
        <p:txBody>
          <a:bodyPr/>
          <a:lstStyle/>
          <a:p>
            <a:endParaRPr lang="en-IN"/>
          </a:p>
        </p:txBody>
      </p:sp>
      <p:sp>
        <p:nvSpPr>
          <p:cNvPr id="15" name="Shape 13"/>
          <p:cNvSpPr/>
          <p:nvPr/>
        </p:nvSpPr>
        <p:spPr>
          <a:xfrm>
            <a:off x="475488" y="2468880"/>
            <a:ext cx="201168" cy="201168"/>
          </a:xfrm>
          <a:prstGeom prst="ellipse">
            <a:avLst/>
          </a:prstGeom>
          <a:solidFill>
            <a:srgbClr val="00B4D8"/>
          </a:solidFill>
          <a:ln w="12700">
            <a:solidFill>
              <a:srgbClr val="00B4D8"/>
            </a:solidFill>
            <a:prstDash val="solid"/>
          </a:ln>
        </p:spPr>
        <p:txBody>
          <a:bodyPr/>
          <a:lstStyle/>
          <a:p>
            <a:endParaRPr lang="en-IN"/>
          </a:p>
        </p:txBody>
      </p:sp>
      <p:sp>
        <p:nvSpPr>
          <p:cNvPr id="16" name="Text 14"/>
          <p:cNvSpPr/>
          <p:nvPr/>
        </p:nvSpPr>
        <p:spPr>
          <a:xfrm>
            <a:off x="475488" y="2468880"/>
            <a:ext cx="201168" cy="201168"/>
          </a:xfrm>
          <a:prstGeom prst="rect">
            <a:avLst/>
          </a:prstGeom>
          <a:noFill/>
          <a:ln/>
        </p:spPr>
        <p:txBody>
          <a:bodyPr wrap="square" rtlCol="0" anchor="ctr"/>
          <a:lstStyle/>
          <a:p>
            <a:pPr marL="0" indent="0" algn="ctr">
              <a:buNone/>
            </a:pPr>
            <a:r>
              <a:rPr lang="en-US" sz="900" b="1" dirty="0">
                <a:solidFill>
                  <a:srgbClr val="0D1B2A"/>
                </a:solidFill>
              </a:rPr>
              <a:t>✓</a:t>
            </a:r>
            <a:endParaRPr lang="en-US" sz="900" dirty="0"/>
          </a:p>
        </p:txBody>
      </p:sp>
      <p:sp>
        <p:nvSpPr>
          <p:cNvPr id="17" name="Text 15"/>
          <p:cNvSpPr/>
          <p:nvPr/>
        </p:nvSpPr>
        <p:spPr>
          <a:xfrm>
            <a:off x="777240" y="2414016"/>
            <a:ext cx="7863840" cy="320040"/>
          </a:xfrm>
          <a:prstGeom prst="rect">
            <a:avLst/>
          </a:prstGeom>
          <a:noFill/>
          <a:ln/>
        </p:spPr>
        <p:txBody>
          <a:bodyPr wrap="square" rtlCol="0" anchor="ctr"/>
          <a:lstStyle/>
          <a:p>
            <a:pPr marL="0" indent="0">
              <a:buNone/>
            </a:pPr>
            <a:r>
              <a:rPr lang="en-US" sz="1100" dirty="0">
                <a:solidFill>
                  <a:srgbClr val="FFFFFF"/>
                </a:solidFill>
              </a:rPr>
              <a:t>Wazuh hierarchical rule chain (100500–100530) classifies attacks by type and escalating severity</a:t>
            </a:r>
            <a:endParaRPr lang="en-US" sz="1100" dirty="0"/>
          </a:p>
        </p:txBody>
      </p:sp>
      <p:sp>
        <p:nvSpPr>
          <p:cNvPr id="18" name="Shape 16"/>
          <p:cNvSpPr/>
          <p:nvPr/>
        </p:nvSpPr>
        <p:spPr>
          <a:xfrm>
            <a:off x="365760" y="2871216"/>
            <a:ext cx="8412480" cy="457200"/>
          </a:xfrm>
          <a:prstGeom prst="rect">
            <a:avLst/>
          </a:prstGeom>
          <a:solidFill>
            <a:srgbClr val="0A1628"/>
          </a:solidFill>
          <a:ln w="12700">
            <a:solidFill>
              <a:srgbClr val="1B4F72"/>
            </a:solidFill>
            <a:prstDash val="solid"/>
          </a:ln>
        </p:spPr>
        <p:txBody>
          <a:bodyPr/>
          <a:lstStyle/>
          <a:p>
            <a:endParaRPr lang="en-IN"/>
          </a:p>
        </p:txBody>
      </p:sp>
      <p:sp>
        <p:nvSpPr>
          <p:cNvPr id="19" name="Shape 17"/>
          <p:cNvSpPr/>
          <p:nvPr/>
        </p:nvSpPr>
        <p:spPr>
          <a:xfrm>
            <a:off x="475488" y="2999232"/>
            <a:ext cx="201168" cy="201168"/>
          </a:xfrm>
          <a:prstGeom prst="ellipse">
            <a:avLst/>
          </a:prstGeom>
          <a:solidFill>
            <a:srgbClr val="00B4D8"/>
          </a:solidFill>
          <a:ln w="12700">
            <a:solidFill>
              <a:srgbClr val="00B4D8"/>
            </a:solidFill>
            <a:prstDash val="solid"/>
          </a:ln>
        </p:spPr>
        <p:txBody>
          <a:bodyPr/>
          <a:lstStyle/>
          <a:p>
            <a:endParaRPr lang="en-IN"/>
          </a:p>
        </p:txBody>
      </p:sp>
      <p:sp>
        <p:nvSpPr>
          <p:cNvPr id="20" name="Text 18"/>
          <p:cNvSpPr/>
          <p:nvPr/>
        </p:nvSpPr>
        <p:spPr>
          <a:xfrm>
            <a:off x="475488" y="2999232"/>
            <a:ext cx="201168" cy="201168"/>
          </a:xfrm>
          <a:prstGeom prst="rect">
            <a:avLst/>
          </a:prstGeom>
          <a:noFill/>
          <a:ln/>
        </p:spPr>
        <p:txBody>
          <a:bodyPr wrap="square" rtlCol="0" anchor="ctr"/>
          <a:lstStyle/>
          <a:p>
            <a:pPr marL="0" indent="0" algn="ctr">
              <a:buNone/>
            </a:pPr>
            <a:r>
              <a:rPr lang="en-US" sz="900" b="1" dirty="0">
                <a:solidFill>
                  <a:srgbClr val="0D1B2A"/>
                </a:solidFill>
              </a:rPr>
              <a:t>✓</a:t>
            </a:r>
            <a:endParaRPr lang="en-US" sz="900" dirty="0"/>
          </a:p>
        </p:txBody>
      </p:sp>
      <p:sp>
        <p:nvSpPr>
          <p:cNvPr id="21" name="Text 19"/>
          <p:cNvSpPr/>
          <p:nvPr/>
        </p:nvSpPr>
        <p:spPr>
          <a:xfrm>
            <a:off x="777240" y="2944368"/>
            <a:ext cx="7863840" cy="320040"/>
          </a:xfrm>
          <a:prstGeom prst="rect">
            <a:avLst/>
          </a:prstGeom>
          <a:noFill/>
          <a:ln/>
        </p:spPr>
        <p:txBody>
          <a:bodyPr wrap="square" rtlCol="0" anchor="ctr"/>
          <a:lstStyle/>
          <a:p>
            <a:pPr marL="0" indent="0">
              <a:buNone/>
            </a:pPr>
            <a:r>
              <a:rPr lang="en-US" sz="1100" dirty="0">
                <a:solidFill>
                  <a:srgbClr val="FFFFFF"/>
                </a:solidFill>
              </a:rPr>
              <a:t>MITRE ATT&amp;CK for ICS mapping provides threat context: T0831, T0814, T0846 — discovery to control disruption</a:t>
            </a:r>
            <a:endParaRPr lang="en-US" sz="1100" dirty="0"/>
          </a:p>
        </p:txBody>
      </p:sp>
      <p:sp>
        <p:nvSpPr>
          <p:cNvPr id="22" name="Shape 20"/>
          <p:cNvSpPr/>
          <p:nvPr/>
        </p:nvSpPr>
        <p:spPr>
          <a:xfrm>
            <a:off x="365760" y="3401568"/>
            <a:ext cx="8412480" cy="457200"/>
          </a:xfrm>
          <a:prstGeom prst="rect">
            <a:avLst/>
          </a:prstGeom>
          <a:solidFill>
            <a:srgbClr val="0A1628"/>
          </a:solidFill>
          <a:ln w="12700">
            <a:solidFill>
              <a:srgbClr val="1B4F72"/>
            </a:solidFill>
            <a:prstDash val="solid"/>
          </a:ln>
        </p:spPr>
        <p:txBody>
          <a:bodyPr/>
          <a:lstStyle/>
          <a:p>
            <a:endParaRPr lang="en-IN"/>
          </a:p>
        </p:txBody>
      </p:sp>
      <p:sp>
        <p:nvSpPr>
          <p:cNvPr id="23" name="Shape 21"/>
          <p:cNvSpPr/>
          <p:nvPr/>
        </p:nvSpPr>
        <p:spPr>
          <a:xfrm>
            <a:off x="475488" y="3529584"/>
            <a:ext cx="201168" cy="201168"/>
          </a:xfrm>
          <a:prstGeom prst="ellipse">
            <a:avLst/>
          </a:prstGeom>
          <a:solidFill>
            <a:srgbClr val="00B4D8"/>
          </a:solidFill>
          <a:ln w="12700">
            <a:solidFill>
              <a:srgbClr val="00B4D8"/>
            </a:solidFill>
            <a:prstDash val="solid"/>
          </a:ln>
        </p:spPr>
        <p:txBody>
          <a:bodyPr/>
          <a:lstStyle/>
          <a:p>
            <a:endParaRPr lang="en-IN"/>
          </a:p>
        </p:txBody>
      </p:sp>
      <p:sp>
        <p:nvSpPr>
          <p:cNvPr id="24" name="Text 22"/>
          <p:cNvSpPr/>
          <p:nvPr/>
        </p:nvSpPr>
        <p:spPr>
          <a:xfrm>
            <a:off x="475488" y="3529584"/>
            <a:ext cx="201168" cy="201168"/>
          </a:xfrm>
          <a:prstGeom prst="rect">
            <a:avLst/>
          </a:prstGeom>
          <a:noFill/>
          <a:ln/>
        </p:spPr>
        <p:txBody>
          <a:bodyPr wrap="square" rtlCol="0" anchor="ctr"/>
          <a:lstStyle/>
          <a:p>
            <a:pPr marL="0" indent="0" algn="ctr">
              <a:buNone/>
            </a:pPr>
            <a:r>
              <a:rPr lang="en-US" sz="900" b="1" dirty="0">
                <a:solidFill>
                  <a:srgbClr val="0D1B2A"/>
                </a:solidFill>
              </a:rPr>
              <a:t>✓</a:t>
            </a:r>
            <a:endParaRPr lang="en-US" sz="900" dirty="0"/>
          </a:p>
        </p:txBody>
      </p:sp>
      <p:sp>
        <p:nvSpPr>
          <p:cNvPr id="25" name="Text 23"/>
          <p:cNvSpPr/>
          <p:nvPr/>
        </p:nvSpPr>
        <p:spPr>
          <a:xfrm>
            <a:off x="777240" y="3474720"/>
            <a:ext cx="7863840" cy="320040"/>
          </a:xfrm>
          <a:prstGeom prst="rect">
            <a:avLst/>
          </a:prstGeom>
          <a:noFill/>
          <a:ln/>
        </p:spPr>
        <p:txBody>
          <a:bodyPr wrap="square" rtlCol="0" anchor="ctr"/>
          <a:lstStyle/>
          <a:p>
            <a:pPr marL="0" indent="0">
              <a:buNone/>
            </a:pPr>
            <a:r>
              <a:rPr lang="en-US" sz="1100" dirty="0">
                <a:solidFill>
                  <a:srgbClr val="FFFFFF"/>
                </a:solidFill>
              </a:rPr>
              <a:t>Frequency-based correlation (Rule 100530) detects Modbus flood / DoS at Level 13 — the highest severity</a:t>
            </a:r>
            <a:endParaRPr lang="en-US" sz="1100" dirty="0"/>
          </a:p>
        </p:txBody>
      </p:sp>
      <p:sp>
        <p:nvSpPr>
          <p:cNvPr id="26" name="Shape 24"/>
          <p:cNvSpPr/>
          <p:nvPr/>
        </p:nvSpPr>
        <p:spPr>
          <a:xfrm>
            <a:off x="365760" y="3931920"/>
            <a:ext cx="8412480" cy="457200"/>
          </a:xfrm>
          <a:prstGeom prst="rect">
            <a:avLst/>
          </a:prstGeom>
          <a:solidFill>
            <a:srgbClr val="0A2A1A"/>
          </a:solidFill>
          <a:ln w="12700">
            <a:solidFill>
              <a:srgbClr val="2DC653"/>
            </a:solidFill>
            <a:prstDash val="solid"/>
          </a:ln>
        </p:spPr>
        <p:txBody>
          <a:bodyPr/>
          <a:lstStyle/>
          <a:p>
            <a:endParaRPr lang="en-IN"/>
          </a:p>
        </p:txBody>
      </p:sp>
      <p:sp>
        <p:nvSpPr>
          <p:cNvPr id="27" name="Shape 25"/>
          <p:cNvSpPr/>
          <p:nvPr/>
        </p:nvSpPr>
        <p:spPr>
          <a:xfrm>
            <a:off x="475488" y="4059936"/>
            <a:ext cx="201168" cy="201168"/>
          </a:xfrm>
          <a:prstGeom prst="ellipse">
            <a:avLst/>
          </a:prstGeom>
          <a:solidFill>
            <a:srgbClr val="2DC653"/>
          </a:solidFill>
          <a:ln w="12700">
            <a:solidFill>
              <a:srgbClr val="2DC653"/>
            </a:solidFill>
            <a:prstDash val="solid"/>
          </a:ln>
        </p:spPr>
        <p:txBody>
          <a:bodyPr/>
          <a:lstStyle/>
          <a:p>
            <a:endParaRPr lang="en-IN"/>
          </a:p>
        </p:txBody>
      </p:sp>
      <p:sp>
        <p:nvSpPr>
          <p:cNvPr id="28" name="Text 26"/>
          <p:cNvSpPr/>
          <p:nvPr/>
        </p:nvSpPr>
        <p:spPr>
          <a:xfrm>
            <a:off x="475488" y="4059936"/>
            <a:ext cx="201168" cy="201168"/>
          </a:xfrm>
          <a:prstGeom prst="rect">
            <a:avLst/>
          </a:prstGeom>
          <a:noFill/>
          <a:ln/>
        </p:spPr>
        <p:txBody>
          <a:bodyPr wrap="square" rtlCol="0" anchor="ctr"/>
          <a:lstStyle/>
          <a:p>
            <a:pPr marL="0" indent="0" algn="ctr">
              <a:buNone/>
            </a:pPr>
            <a:r>
              <a:rPr lang="en-US" sz="900" b="1" dirty="0">
                <a:solidFill>
                  <a:srgbClr val="0D1B2A"/>
                </a:solidFill>
              </a:rPr>
              <a:t>✓</a:t>
            </a:r>
            <a:endParaRPr lang="en-US" sz="900" dirty="0"/>
          </a:p>
        </p:txBody>
      </p:sp>
      <p:sp>
        <p:nvSpPr>
          <p:cNvPr id="29" name="Text 27"/>
          <p:cNvSpPr/>
          <p:nvPr/>
        </p:nvSpPr>
        <p:spPr>
          <a:xfrm>
            <a:off x="777240" y="4005072"/>
            <a:ext cx="7863840" cy="320040"/>
          </a:xfrm>
          <a:prstGeom prst="rect">
            <a:avLst/>
          </a:prstGeom>
          <a:noFill/>
          <a:ln/>
        </p:spPr>
        <p:txBody>
          <a:bodyPr wrap="square" rtlCol="0" anchor="ctr"/>
          <a:lstStyle/>
          <a:p>
            <a:pPr marL="0" indent="0">
              <a:buNone/>
            </a:pPr>
            <a:r>
              <a:rPr lang="en-US" sz="1100" dirty="0">
                <a:solidFill>
                  <a:srgbClr val="2DC653"/>
                </a:solidFill>
              </a:rPr>
              <a:t>100% detection rate — all 4 attacks detected with 0 false negatives across every test run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3232</Words>
  <Application>Microsoft Office PowerPoint</Application>
  <PresentationFormat>On-screen Show (16:9)</PresentationFormat>
  <Paragraphs>230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NYMEGA ICS Cyber Range</dc:title>
  <dc:subject>PptxGenJS Presentation</dc:subject>
  <dc:creator>PptxGenJS</dc:creator>
  <cp:lastModifiedBy>Pabshetwar, Akash Rajkumar</cp:lastModifiedBy>
  <cp:revision>2</cp:revision>
  <dcterms:created xsi:type="dcterms:W3CDTF">2026-05-07T20:18:21Z</dcterms:created>
  <dcterms:modified xsi:type="dcterms:W3CDTF">2026-05-07T22:16:37Z</dcterms:modified>
</cp:coreProperties>
</file>